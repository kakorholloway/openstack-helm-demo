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dia/image10.svg" ContentType="image/svg+xml"/>
  <Override PartName="/ppt/media/image12.svg" ContentType="image/svg+xml"/>
  <Override PartName="/ppt/media/image15.svg" ContentType="image/svg+xml"/>
  <Override PartName="/ppt/media/image18.svg" ContentType="image/svg+xml"/>
  <Override PartName="/ppt/media/image4.svg" ContentType="image/svg+xml"/>
  <Override PartName="/ppt/media/image7.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34"/>
  </p:notesMasterIdLst>
  <p:sldIdLst>
    <p:sldId id="256" r:id="rId2"/>
    <p:sldId id="257" r:id="rId3"/>
    <p:sldId id="260" r:id="rId4"/>
    <p:sldId id="261" r:id="rId5"/>
    <p:sldId id="259" r:id="rId6"/>
    <p:sldId id="262" r:id="rId7"/>
    <p:sldId id="258" r:id="rId8"/>
    <p:sldId id="296" r:id="rId9"/>
    <p:sldId id="302" r:id="rId10"/>
    <p:sldId id="263" r:id="rId11"/>
    <p:sldId id="287" r:id="rId12"/>
    <p:sldId id="303" r:id="rId13"/>
    <p:sldId id="266" r:id="rId14"/>
    <p:sldId id="289" r:id="rId15"/>
    <p:sldId id="290" r:id="rId16"/>
    <p:sldId id="297" r:id="rId17"/>
    <p:sldId id="298" r:id="rId18"/>
    <p:sldId id="295" r:id="rId19"/>
    <p:sldId id="301" r:id="rId20"/>
    <p:sldId id="300" r:id="rId21"/>
    <p:sldId id="265" r:id="rId22"/>
    <p:sldId id="267" r:id="rId23"/>
    <p:sldId id="268" r:id="rId24"/>
    <p:sldId id="270" r:id="rId25"/>
    <p:sldId id="285" r:id="rId26"/>
    <p:sldId id="286" r:id="rId27"/>
    <p:sldId id="273" r:id="rId28"/>
    <p:sldId id="275" r:id="rId29"/>
    <p:sldId id="282" r:id="rId30"/>
    <p:sldId id="283" r:id="rId31"/>
    <p:sldId id="271" r:id="rId32"/>
    <p:sldId id="284" r:id="rId3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79005" autoAdjust="0"/>
  </p:normalViewPr>
  <p:slideViewPr>
    <p:cSldViewPr snapToGrid="0">
      <p:cViewPr varScale="1">
        <p:scale>
          <a:sx n="85" d="100"/>
          <a:sy n="85" d="100"/>
        </p:scale>
        <p:origin x="906" y="9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notesMaster" Target="notesMasters/notesMaster1.xml"/><Relationship Id="rId35" Type="http://schemas.openxmlformats.org/officeDocument/2006/relationships/presProps" Target="presProps.xml"/><Relationship Id="rId36" Type="http://schemas.openxmlformats.org/officeDocument/2006/relationships/viewProps" Target="viewProps.xml"/><Relationship Id="rId37" Type="http://schemas.openxmlformats.org/officeDocument/2006/relationships/theme" Target="theme/theme1.xml"/><Relationship Id="rId38"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CDF9DB7-D1BC-44E2-9FD2-48EFD2319554}" type="datetimeFigureOut">
              <a:rPr lang="fr-FR" smtClean="0"/>
              <a:t>24/10/2026</a:t>
            </a:fld>
            <a:endParaRPr lang="fr-FR"/>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543A8A4-83A2-4A67-BE70-8C088946390D}" type="slidenum">
              <a:rPr lang="fr-FR" smtClean="0"/>
              <a:t>‹N°›</a:t>
            </a:fld>
            <a:endParaRPr lang="fr-FR"/>
          </a:p>
        </p:txBody>
      </p:sp>
    </p:spTree>
    <p:extLst>
      <p:ext uri="{BB962C8B-B14F-4D97-AF65-F5344CB8AC3E}">
        <p14:creationId xmlns:p14="http://schemas.microsoft.com/office/powerpoint/2010/main" val="23578446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[Accroche] OpenStack a 16 ans : c'est un projet mûr, pas une mode. Petit voyage dans le temps.</a:t>
            </a:r>
          </a:p>
          <a:p>
            <a:endParaRPr/>
          </a:p>
          <a:p>
            <a:r>
              <a:t>JUILLET 2010 – NASA + Rackspace</a:t>
            </a:r>
          </a:p>
          <a:p>
            <a:r>
              <a:t>• La NASA (centre Ames, projet « Nebula ») voulait un cloud interne pour ses données scientifiques. Elle a d'abord essayé Eucalyptus, mais ça ne tenait pas la charge et le modèle était « open core » : une partie du code restait fermée. Ils ont donc réécrit leur propre contrôleur de VM en Python, qui deviendra Nova.</a:t>
            </a:r>
          </a:p>
          <a:p>
            <a:r>
              <a:t>• Rackspace, n°2 de l'hébergement face à AWS, voulait ouvrir le code de son stockage objet (Cloud Files), qui deviendra Swift.</a:t>
            </a:r>
          </a:p>
          <a:p>
            <a:r>
              <a:t>• Les deux mettent leur code en commun sous licence Apache 2.0 et l'annoncent à l'OSCON en juillet 2010. Le pari : qu'un standard ouvert fasse contrepoids à AWS.</a:t>
            </a:r>
          </a:p>
          <a:p>
            <a:endParaRPr/>
          </a:p>
          <a:p>
            <a:r>
              <a:t>OCTOBRE 2010 – « Austin »</a:t>
            </a:r>
          </a:p>
          <a:p>
            <a:r>
              <a:t>• Première version, avec seulement 2 briques : Nova (calcul) et Swift (stockage objet).</a:t>
            </a:r>
          </a:p>
          <a:p>
            <a:r>
              <a:t>• Les versions portaient des noms de villes proches du lieu du sommet de conception, dans l'ordre alphabétique : Austin, Bexar, Cactus, Diablo, Essex, Folsom, Grizzly, Havana…</a:t>
            </a:r>
          </a:p>
          <a:p>
            <a:endParaRPr/>
          </a:p>
          <a:p>
            <a:r>
              <a:t>2012 – Création de l'OpenStack Foundation (L'ANECDOTE)</a:t>
            </a:r>
          </a:p>
          <a:p>
            <a:r>
              <a:t>• Au début, OpenStack « appartient » à Rackspace : la marque et le copyright sont détenus par une filiale (OpenStack LLC), et Rackspace contrôle la gouvernance. Début 2011, Rackspace rachète même Anso Labs, la société qui avait écrit Nova pour la NASA.</a:t>
            </a:r>
          </a:p>
          <a:p>
            <a:r>
              <a:t>• Les autres acteurs grincent des dents. Red Hat refuse d'abord d'y participer : selon lui, Rackspace a trop de contrôle. Mark Collier (Rackspace) le reconnaît lui-même : « rien que le risque d'abus rendait les gens nerveux ». Tout le monde a en tête Oracle, qui avait repris OpenOffice et Hudson à la suite du rachat de Sun, provoquant les forks LibreOffice et Jenkins.</a:t>
            </a:r>
          </a:p>
          <a:p>
            <a:r>
              <a:t>• Octobre 2011 : Rackspace annonce qu'il cède la marque à une fondation indépendante et neutre.</a:t>
            </a:r>
          </a:p>
          <a:p>
            <a:r>
              <a:t>• Avril 2012, le coup de théâtre : Citrix quitte OpenStack et donne CloudStack à la fondation Apache. Un concurrent direct apparaît. Dans les jours qui suivent, Red Hat et IBM annoncent qu'ils rejoignent la future fondation comme membres fondateurs Platinum.</a:t>
            </a:r>
          </a:p>
          <a:p>
            <a:r>
              <a:t>• Septembre 2012 : la fondation est officiellement lancée, avec plus de 10 M$ de financement, environ 5 600 membres individuels et 180 entreprises. Les membres Platinum sont AT&amp;T, Canonical, HP, IBM, Nebula, Rackspace, Red Hat et SUSE. Jonathan Bryce en est le directeur exécutif.</a:t>
            </a:r>
          </a:p>
          <a:p>
            <a:r>
              <a:t>• Ironie de l'histoire : la NASA, cofondatrice, se retire peu après et bascule une partie de ses besoins… sur AWS.</a:t>
            </a:r>
          </a:p>
          <a:p>
            <a:r>
              <a:t>→ Message clé : un projet libre ne survit durablement que s'il ne dépend pas d'un seul éditeur. C'est exactement la raison d'être d'une fondation.</a:t>
            </a:r>
          </a:p>
          <a:p>
            <a:endParaRPr/>
          </a:p>
          <a:p>
            <a:r>
              <a:t>2013 – Havana</a:t>
            </a:r>
          </a:p>
          <a:p>
            <a:r>
              <a:t>• Pour moi, c'est la première version vraiment exploitable en production : Quantum est renommé Neutron (réseau), et Heat (orchestration) et Ceilometer (métrologie) font leur entrée.</a:t>
            </a:r>
          </a:p>
          <a:p>
            <a:endParaRPr/>
          </a:p>
          <a:p>
            <a:r>
              <a:t>2021 – OpenInfra Foundation</a:t>
            </a:r>
          </a:p>
          <a:p>
            <a:r>
              <a:t>• OpenStack ne suffit plus : la fondation héberge aussi Kata Containers, Zuul, StarlingX, Airship… Elle change de nom pour refléter qu'elle porte toute « l'infrastructure ouverte », pas un seul projet.</a:t>
            </a:r>
          </a:p>
          <a:p>
            <a:endParaRPr/>
          </a:p>
          <a:p>
            <a:r>
              <a:t>2022 – Plus de 40 millions de cœurs en production</a:t>
            </a:r>
          </a:p>
          <a:p>
            <a:r>
              <a:t>• Chiffre issu de l'enquête utilisateurs (User Survey) de la fondation. Parmi les gros utilisateurs : Walmart, China Mobile, OVHcloud, le CERN…</a:t>
            </a:r>
          </a:p>
          <a:p>
            <a:endParaRPr/>
          </a:p>
          <a:p>
            <a:r>
              <a:t>2023 – Nommage par année</a:t>
            </a:r>
          </a:p>
          <a:p>
            <a:r>
              <a:t>• Depuis 2023.1 « Antelope », les versions sont numérotées AAAA.1 / AAAA.2 (une tous les 6 mois, au printemps et à l'automne). Le nom de code est conservé, choisi par un vote de la communauté.</a:t>
            </a:r>
          </a:p>
          <a:p>
            <a:r>
              <a:t>• Depuis cette version, on peut aussi sauter une version sur deux lors des mises à jour (versions « SLURP » : en pratique, une mise à jour par an).</a:t>
            </a:r>
          </a:p>
          <a:p>
            <a:endParaRPr/>
          </a:p>
          <a:p>
            <a:r>
              <a:t>2025 – Rejoint la Linux Foundation</a:t>
            </a:r>
          </a:p>
          <a:p>
            <a:r>
              <a:t>• Intention annoncée en mars 2025, opération finalisée à l'été. La boucle est bouclée : OpenStack rejoint la même maison que Linux et Kubernetes (via la CNCF). Ça facilite les ponts entre les deux mondes… et c'est justement le sujet du talk (OpenStack-Helm = OpenStack sur Kubernetes).</a:t>
            </a:r>
          </a:p>
          <a:p>
            <a:endParaRPr/>
          </a:p>
          <a:p>
            <a:r>
              <a:t>AVRIL 2026 – 2026.1 « Gazpacho »</a:t>
            </a:r>
          </a:p>
          <a:p>
            <a:r>
              <a:t>• C'est la version qui tourne dans mon lab, et on la verra en démo.</a:t>
            </a:r>
          </a:p>
          <a:p>
            <a:endParaRPr/>
          </a:p>
          <a:p>
            <a:r>
              <a:t>[Transition] Maintenant qu'on sait d'où ça vient, voyons pourquoi l'adopter.</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a:t>Blizzard Entertainment : Gère l'</a:t>
            </a:r>
            <a:r>
              <a:rPr lang="fr-FR" dirty="0" err="1"/>
              <a:t>autoscaling</a:t>
            </a:r>
            <a:r>
              <a:rPr lang="fr-FR" dirty="0"/>
              <a:t> automatique de ses serveurs mondiaux pour absorber les pics de joueurs sur ses titres phares comme Overwatch.• </a:t>
            </a:r>
          </a:p>
          <a:p>
            <a:r>
              <a:rPr lang="fr-FR" dirty="0"/>
              <a:t>Ubisoft : Orchestre une infrastructure internationale dédiée au développement de jeux et à l'hébergement de ses services connectés.• </a:t>
            </a:r>
          </a:p>
          <a:p>
            <a:r>
              <a:rPr lang="fr-FR" dirty="0"/>
              <a:t>Walmart : Opère plus d'un million de cœurs de calcul pour s'affranchir techniquement et économiquement de son rival cloud direct Amazon (AWS).• </a:t>
            </a:r>
          </a:p>
          <a:p>
            <a:r>
              <a:rPr lang="fr-FR" dirty="0"/>
              <a:t>Le CERN : Traite et stocke les pétaoctets de données scientifiques générés en temps réel par le Grand collisionneur de hadrons (LHC).• </a:t>
            </a:r>
          </a:p>
          <a:p>
            <a:r>
              <a:rPr lang="fr-FR" dirty="0"/>
              <a:t>Orange &amp; AT&amp;T : Virtualisent leurs cœurs de réseau 5G nationaux pour transformer des composants matériels en infrastructures logicielles agiles.• </a:t>
            </a:r>
          </a:p>
          <a:p>
            <a:r>
              <a:rPr lang="fr-FR" dirty="0"/>
              <a:t>Ministère de l'Intérieur : Sécurise les infrastructures critiques de l'État au sein d'un cloud privé souverain et indépendant.</a:t>
            </a:r>
          </a:p>
          <a:p>
            <a:endParaRPr lang="fr-FR" dirty="0"/>
          </a:p>
        </p:txBody>
      </p:sp>
      <p:sp>
        <p:nvSpPr>
          <p:cNvPr id="4" name="Espace réservé du numéro de diapositive 3"/>
          <p:cNvSpPr>
            <a:spLocks noGrp="1"/>
          </p:cNvSpPr>
          <p:nvPr>
            <p:ph type="sldNum" sz="quarter" idx="5"/>
          </p:nvPr>
        </p:nvSpPr>
        <p:spPr/>
        <p:txBody>
          <a:bodyPr/>
          <a:lstStyle/>
          <a:p>
            <a:fld id="{6543A8A4-83A2-4A67-BE70-8C088946390D}" type="slidenum">
              <a:rPr lang="fr-FR" smtClean="0"/>
              <a:t>10</a:t>
            </a:fld>
            <a:endParaRPr lang="fr-FR"/>
          </a:p>
        </p:txBody>
      </p:sp>
    </p:spTree>
    <p:extLst>
      <p:ext uri="{BB962C8B-B14F-4D97-AF65-F5344CB8AC3E}">
        <p14:creationId xmlns:p14="http://schemas.microsoft.com/office/powerpoint/2010/main" val="336505644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sitive de titre">
    <p:bg>
      <p:bgPr>
        <a:solidFill>
          <a:schemeClr val="bg2"/>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915128" y="1788454"/>
            <a:ext cx="8361229" cy="2098226"/>
          </a:xfrm>
        </p:spPr>
        <p:txBody>
          <a:bodyPr anchor="b">
            <a:noAutofit/>
          </a:bodyPr>
          <a:lstStyle>
            <a:lvl1pPr algn="ctr">
              <a:defRPr sz="7200" cap="all" baseline="0">
                <a:solidFill>
                  <a:schemeClr val="tx2"/>
                </a:solidFill>
              </a:defRPr>
            </a:lvl1pPr>
          </a:lstStyle>
          <a:p>
            <a:r>
              <a:rPr lang="fr-FR"/>
              <a:t>Modifiez le style du titre</a:t>
            </a:r>
            <a:endParaRPr lang="en-US" dirty="0"/>
          </a:p>
        </p:txBody>
      </p:sp>
      <p:sp>
        <p:nvSpPr>
          <p:cNvPr id="3" name="Subtitle 2"/>
          <p:cNvSpPr>
            <a:spLocks noGrp="1"/>
          </p:cNvSpPr>
          <p:nvPr>
            <p:ph type="subTitle" idx="1"/>
          </p:nvPr>
        </p:nvSpPr>
        <p:spPr>
          <a:xfrm>
            <a:off x="2679906" y="3956279"/>
            <a:ext cx="6831673" cy="1086237"/>
          </a:xfrm>
        </p:spPr>
        <p:txBody>
          <a:bodyPr>
            <a:normAutofit/>
          </a:bodyPr>
          <a:lstStyle>
            <a:lvl1pPr marL="0" indent="0" algn="ctr">
              <a:lnSpc>
                <a:spcPct val="112000"/>
              </a:lnSpc>
              <a:spcBef>
                <a:spcPts val="0"/>
              </a:spcBef>
              <a:spcAft>
                <a:spcPts val="0"/>
              </a:spcAft>
              <a:buNone/>
              <a:defRPr sz="23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endParaRPr lang="en-US" dirty="0"/>
          </a:p>
        </p:txBody>
      </p:sp>
      <p:sp>
        <p:nvSpPr>
          <p:cNvPr id="4" name="Date Placeholder 3"/>
          <p:cNvSpPr>
            <a:spLocks noGrp="1"/>
          </p:cNvSpPr>
          <p:nvPr>
            <p:ph type="dt" sz="half" idx="10"/>
          </p:nvPr>
        </p:nvSpPr>
        <p:spPr>
          <a:xfrm>
            <a:off x="752858" y="6453386"/>
            <a:ext cx="1607944" cy="404614"/>
          </a:xfrm>
        </p:spPr>
        <p:txBody>
          <a:bodyPr/>
          <a:lstStyle>
            <a:lvl1pPr>
              <a:defRPr baseline="0">
                <a:solidFill>
                  <a:schemeClr val="tx2"/>
                </a:solidFill>
              </a:defRPr>
            </a:lvl1pPr>
          </a:lstStyle>
          <a:p>
            <a:fld id="{5E5E9ED9-4F3A-478F-84D0-D3DAAA6FC5FC}" type="datetimeFigureOut">
              <a:rPr lang="fr-FR" smtClean="0"/>
              <a:t>24/10/2026</a:t>
            </a:fld>
            <a:endParaRPr lang="fr-FR"/>
          </a:p>
        </p:txBody>
      </p:sp>
      <p:sp>
        <p:nvSpPr>
          <p:cNvPr id="5" name="Footer Placeholder 4"/>
          <p:cNvSpPr>
            <a:spLocks noGrp="1"/>
          </p:cNvSpPr>
          <p:nvPr>
            <p:ph type="ftr" sz="quarter" idx="11"/>
          </p:nvPr>
        </p:nvSpPr>
        <p:spPr>
          <a:xfrm>
            <a:off x="2584054" y="6453386"/>
            <a:ext cx="7023377" cy="404614"/>
          </a:xfrm>
        </p:spPr>
        <p:txBody>
          <a:bodyPr/>
          <a:lstStyle>
            <a:lvl1pPr algn="ctr">
              <a:defRPr baseline="0">
                <a:solidFill>
                  <a:schemeClr val="tx2"/>
                </a:solidFill>
              </a:defRPr>
            </a:lvl1pPr>
          </a:lstStyle>
          <a:p>
            <a:endParaRPr lang="fr-FR"/>
          </a:p>
        </p:txBody>
      </p:sp>
      <p:sp>
        <p:nvSpPr>
          <p:cNvPr id="6" name="Slide Number Placeholder 5"/>
          <p:cNvSpPr>
            <a:spLocks noGrp="1"/>
          </p:cNvSpPr>
          <p:nvPr>
            <p:ph type="sldNum" sz="quarter" idx="12"/>
          </p:nvPr>
        </p:nvSpPr>
        <p:spPr>
          <a:xfrm>
            <a:off x="9830683" y="6453386"/>
            <a:ext cx="1596292" cy="404614"/>
          </a:xfrm>
        </p:spPr>
        <p:txBody>
          <a:bodyPr/>
          <a:lstStyle>
            <a:lvl1pPr>
              <a:defRPr baseline="0">
                <a:solidFill>
                  <a:schemeClr val="tx2"/>
                </a:solidFill>
              </a:defRPr>
            </a:lvl1pPr>
          </a:lstStyle>
          <a:p>
            <a:fld id="{066E2A86-D188-40A7-8392-180EC9B342EA}" type="slidenum">
              <a:rPr lang="fr-FR" smtClean="0"/>
              <a:t>‹N°›</a:t>
            </a:fld>
            <a:endParaRPr lang="fr-FR"/>
          </a:p>
        </p:txBody>
      </p:sp>
      <p:grpSp>
        <p:nvGrpSpPr>
          <p:cNvPr id="7" name="Group 6"/>
          <p:cNvGrpSpPr/>
          <p:nvPr/>
        </p:nvGrpSpPr>
        <p:grpSpPr>
          <a:xfrm>
            <a:off x="752858" y="744469"/>
            <a:ext cx="10674117" cy="5349671"/>
            <a:chOff x="752858" y="744469"/>
            <a:chExt cx="10674117" cy="5349671"/>
          </a:xfrm>
        </p:grpSpPr>
        <p:sp>
          <p:nvSpPr>
            <p:cNvPr id="11" name="Freeform 6"/>
            <p:cNvSpPr/>
            <p:nvPr/>
          </p:nvSpPr>
          <p:spPr bwMode="auto">
            <a:xfrm>
              <a:off x="8151962" y="1685652"/>
              <a:ext cx="3275013" cy="4408488"/>
            </a:xfrm>
            <a:custGeom>
              <a:avLst/>
              <a:gdLst/>
              <a:ahLst/>
              <a:cxnLst/>
              <a:rect l="l" t="t" r="r" b="b"/>
              <a:pathLst>
                <a:path w="10000" h="10000">
                  <a:moveTo>
                    <a:pt x="8761" y="0"/>
                  </a:moveTo>
                  <a:lnTo>
                    <a:pt x="10000" y="0"/>
                  </a:lnTo>
                  <a:lnTo>
                    <a:pt x="10000" y="10000"/>
                  </a:lnTo>
                  <a:lnTo>
                    <a:pt x="0" y="10000"/>
                  </a:lnTo>
                  <a:lnTo>
                    <a:pt x="0" y="9126"/>
                  </a:lnTo>
                  <a:lnTo>
                    <a:pt x="8761" y="9127"/>
                  </a:lnTo>
                  <a:lnTo>
                    <a:pt x="8761" y="0"/>
                  </a:lnTo>
                  <a:close/>
                </a:path>
              </a:pathLst>
            </a:custGeom>
            <a:solidFill>
              <a:schemeClr val="tx2"/>
            </a:solidFill>
            <a:ln w="0">
              <a:noFill/>
              <a:prstDash val="solid"/>
              <a:round/>
              <a:headEnd/>
              <a:tailEnd/>
            </a:ln>
          </p:spPr>
        </p:sp>
        <p:sp>
          <p:nvSpPr>
            <p:cNvPr id="14" name="Freeform 6"/>
            <p:cNvSpPr/>
            <p:nvPr/>
          </p:nvSpPr>
          <p:spPr bwMode="auto">
            <a:xfrm flipH="1" flipV="1">
              <a:off x="752858" y="744469"/>
              <a:ext cx="3275668" cy="4408488"/>
            </a:xfrm>
            <a:custGeom>
              <a:avLst/>
              <a:gdLst/>
              <a:ahLst/>
              <a:cxnLst/>
              <a:rect l="l" t="t" r="r" b="b"/>
              <a:pathLst>
                <a:path w="10002" h="10000">
                  <a:moveTo>
                    <a:pt x="8763" y="0"/>
                  </a:moveTo>
                  <a:lnTo>
                    <a:pt x="10002" y="0"/>
                  </a:lnTo>
                  <a:lnTo>
                    <a:pt x="10002" y="10000"/>
                  </a:lnTo>
                  <a:lnTo>
                    <a:pt x="2" y="10000"/>
                  </a:lnTo>
                  <a:cubicBezTo>
                    <a:pt x="-2" y="9698"/>
                    <a:pt x="4" y="9427"/>
                    <a:pt x="0" y="9125"/>
                  </a:cubicBezTo>
                  <a:lnTo>
                    <a:pt x="8763" y="9128"/>
                  </a:lnTo>
                  <a:lnTo>
                    <a:pt x="8763" y="0"/>
                  </a:lnTo>
                  <a:close/>
                </a:path>
              </a:pathLst>
            </a:custGeom>
            <a:solidFill>
              <a:schemeClr val="tx2"/>
            </a:solidFill>
            <a:ln w="0">
              <a:noFill/>
              <a:prstDash val="solid"/>
              <a:round/>
              <a:headEnd/>
              <a:tailEnd/>
            </a:ln>
          </p:spPr>
        </p:sp>
      </p:grpSp>
    </p:spTree>
    <p:extLst>
      <p:ext uri="{BB962C8B-B14F-4D97-AF65-F5344CB8AC3E}">
        <p14:creationId xmlns:p14="http://schemas.microsoft.com/office/powerpoint/2010/main" val="105784903"/>
      </p:ext>
    </p:extLst>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Content Placeholder 2"/>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5E5E9ED9-4F3A-478F-84D0-D3DAAA6FC5FC}" type="datetimeFigureOut">
              <a:rPr lang="fr-FR" smtClean="0"/>
              <a:t>24/10/2026</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066E2A86-D188-40A7-8392-180EC9B342EA}" type="slidenum">
              <a:rPr lang="fr-FR" smtClean="0"/>
              <a:t>‹N°›</a:t>
            </a:fld>
            <a:endParaRPr lang="fr-FR"/>
          </a:p>
        </p:txBody>
      </p:sp>
    </p:spTree>
    <p:extLst>
      <p:ext uri="{BB962C8B-B14F-4D97-AF65-F5344CB8AC3E}">
        <p14:creationId xmlns:p14="http://schemas.microsoft.com/office/powerpoint/2010/main" val="262723418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Titre de section">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765025" y="1301360"/>
            <a:ext cx="9612971" cy="2852737"/>
          </a:xfrm>
        </p:spPr>
        <p:txBody>
          <a:bodyPr anchor="b">
            <a:normAutofit/>
          </a:bodyPr>
          <a:lstStyle>
            <a:lvl1pPr algn="r">
              <a:defRPr sz="7200" cap="all" baseline="0">
                <a:solidFill>
                  <a:schemeClr val="tx2"/>
                </a:solidFill>
              </a:defRPr>
            </a:lvl1pPr>
          </a:lstStyle>
          <a:p>
            <a:r>
              <a:rPr lang="fr-FR"/>
              <a:t>Modifiez le style du titre</a:t>
            </a:r>
            <a:endParaRPr lang="en-US" dirty="0"/>
          </a:p>
        </p:txBody>
      </p:sp>
      <p:sp>
        <p:nvSpPr>
          <p:cNvPr id="3" name="Text Placeholder 2"/>
          <p:cNvSpPr>
            <a:spLocks noGrp="1"/>
          </p:cNvSpPr>
          <p:nvPr>
            <p:ph type="body" idx="1"/>
          </p:nvPr>
        </p:nvSpPr>
        <p:spPr>
          <a:xfrm>
            <a:off x="765025" y="4216328"/>
            <a:ext cx="9612971" cy="1143324"/>
          </a:xfrm>
        </p:spPr>
        <p:txBody>
          <a:bodyPr/>
          <a:lstStyle>
            <a:lvl1pPr marL="0" indent="0" algn="r">
              <a:lnSpc>
                <a:spcPct val="112000"/>
              </a:lnSpc>
              <a:spcBef>
                <a:spcPts val="0"/>
              </a:spcBef>
              <a:spcAft>
                <a:spcPts val="0"/>
              </a:spcAft>
              <a:buNone/>
              <a:defRPr sz="2400">
                <a:solidFill>
                  <a:schemeClr val="tx2"/>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fr-FR"/>
              <a:t>Cliquez pour modifier les styles du texte du masque</a:t>
            </a:r>
          </a:p>
        </p:txBody>
      </p:sp>
      <p:sp>
        <p:nvSpPr>
          <p:cNvPr id="4" name="Date Placeholder 3"/>
          <p:cNvSpPr>
            <a:spLocks noGrp="1"/>
          </p:cNvSpPr>
          <p:nvPr>
            <p:ph type="dt" sz="half" idx="10"/>
          </p:nvPr>
        </p:nvSpPr>
        <p:spPr>
          <a:xfrm>
            <a:off x="738908" y="6453386"/>
            <a:ext cx="1622409" cy="404614"/>
          </a:xfrm>
        </p:spPr>
        <p:txBody>
          <a:bodyPr/>
          <a:lstStyle>
            <a:lvl1pPr>
              <a:defRPr>
                <a:solidFill>
                  <a:schemeClr val="tx2"/>
                </a:solidFill>
              </a:defRPr>
            </a:lvl1pPr>
          </a:lstStyle>
          <a:p>
            <a:fld id="{5E5E9ED9-4F3A-478F-84D0-D3DAAA6FC5FC}" type="datetimeFigureOut">
              <a:rPr lang="fr-FR" smtClean="0"/>
              <a:t>24/10/2026</a:t>
            </a:fld>
            <a:endParaRPr lang="fr-FR"/>
          </a:p>
        </p:txBody>
      </p:sp>
      <p:sp>
        <p:nvSpPr>
          <p:cNvPr id="5" name="Footer Placeholder 4"/>
          <p:cNvSpPr>
            <a:spLocks noGrp="1"/>
          </p:cNvSpPr>
          <p:nvPr>
            <p:ph type="ftr" sz="quarter" idx="11"/>
          </p:nvPr>
        </p:nvSpPr>
        <p:spPr>
          <a:xfrm>
            <a:off x="2584312" y="6453386"/>
            <a:ext cx="7023377" cy="404614"/>
          </a:xfrm>
        </p:spPr>
        <p:txBody>
          <a:bodyPr/>
          <a:lstStyle>
            <a:lvl1pPr algn="ctr">
              <a:defRPr>
                <a:solidFill>
                  <a:schemeClr val="tx2"/>
                </a:solidFill>
              </a:defRPr>
            </a:lvl1pPr>
          </a:lstStyle>
          <a:p>
            <a:endParaRPr lang="fr-FR"/>
          </a:p>
        </p:txBody>
      </p:sp>
      <p:sp>
        <p:nvSpPr>
          <p:cNvPr id="6" name="Slide Number Placeholder 5"/>
          <p:cNvSpPr>
            <a:spLocks noGrp="1"/>
          </p:cNvSpPr>
          <p:nvPr>
            <p:ph type="sldNum" sz="quarter" idx="12"/>
          </p:nvPr>
        </p:nvSpPr>
        <p:spPr>
          <a:xfrm>
            <a:off x="9830683" y="6453386"/>
            <a:ext cx="1596292" cy="404614"/>
          </a:xfrm>
        </p:spPr>
        <p:txBody>
          <a:bodyPr/>
          <a:lstStyle>
            <a:lvl1pPr>
              <a:defRPr>
                <a:solidFill>
                  <a:schemeClr val="tx2"/>
                </a:solidFill>
              </a:defRPr>
            </a:lvl1pPr>
          </a:lstStyle>
          <a:p>
            <a:fld id="{066E2A86-D188-40A7-8392-180EC9B342EA}" type="slidenum">
              <a:rPr lang="fr-FR" smtClean="0"/>
              <a:t>‹N°›</a:t>
            </a:fld>
            <a:endParaRPr lang="fr-FR"/>
          </a:p>
        </p:txBody>
      </p:sp>
      <p:sp>
        <p:nvSpPr>
          <p:cNvPr id="7" name="Freeform 6" title="Crop Mark"/>
          <p:cNvSpPr/>
          <p:nvPr/>
        </p:nvSpPr>
        <p:spPr bwMode="auto">
          <a:xfrm>
            <a:off x="8151962" y="1685652"/>
            <a:ext cx="3275013" cy="4408488"/>
          </a:xfrm>
          <a:custGeom>
            <a:avLst/>
            <a:gdLst/>
            <a:ahLst/>
            <a:cxnLst/>
            <a:rect l="0" t="0" r="r" b="b"/>
            <a:pathLst>
              <a:path w="4125" h="5554">
                <a:moveTo>
                  <a:pt x="3614" y="0"/>
                </a:moveTo>
                <a:lnTo>
                  <a:pt x="4125" y="0"/>
                </a:lnTo>
                <a:lnTo>
                  <a:pt x="4125" y="5554"/>
                </a:lnTo>
                <a:lnTo>
                  <a:pt x="0" y="5554"/>
                </a:lnTo>
                <a:lnTo>
                  <a:pt x="0" y="5074"/>
                </a:lnTo>
                <a:lnTo>
                  <a:pt x="3614" y="5074"/>
                </a:lnTo>
                <a:lnTo>
                  <a:pt x="3614" y="0"/>
                </a:lnTo>
                <a:close/>
              </a:path>
            </a:pathLst>
          </a:custGeom>
          <a:solidFill>
            <a:schemeClr val="tx2"/>
          </a:solidFill>
          <a:ln w="0">
            <a:noFill/>
            <a:prstDash val="solid"/>
            <a:round/>
            <a:headEnd/>
            <a:tailEnd/>
          </a:ln>
        </p:spPr>
      </p:sp>
    </p:spTree>
    <p:extLst>
      <p:ext uri="{BB962C8B-B14F-4D97-AF65-F5344CB8AC3E}">
        <p14:creationId xmlns:p14="http://schemas.microsoft.com/office/powerpoint/2010/main" val="82206761"/>
      </p:ext>
    </p:extLst>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tx2"/>
                </a:solidFill>
              </a:defRPr>
            </a:lvl1pPr>
          </a:lstStyle>
          <a:p>
            <a:r>
              <a:rPr lang="fr-FR"/>
              <a:t>Modifiez le style du titre</a:t>
            </a:r>
            <a:endParaRPr lang="en-US" dirty="0"/>
          </a:p>
        </p:txBody>
      </p:sp>
      <p:sp>
        <p:nvSpPr>
          <p:cNvPr id="3" name="Content Placeholder 2"/>
          <p:cNvSpPr>
            <a:spLocks noGrp="1"/>
          </p:cNvSpPr>
          <p:nvPr>
            <p:ph sz="half" idx="1"/>
          </p:nvPr>
        </p:nvSpPr>
        <p:spPr>
          <a:xfrm>
            <a:off x="1371600" y="2285999"/>
            <a:ext cx="4447786" cy="3581401"/>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Content Placeholder 3"/>
          <p:cNvSpPr>
            <a:spLocks noGrp="1"/>
          </p:cNvSpPr>
          <p:nvPr>
            <p:ph sz="half" idx="2"/>
          </p:nvPr>
        </p:nvSpPr>
        <p:spPr>
          <a:xfrm>
            <a:off x="6525403" y="2285999"/>
            <a:ext cx="4447786" cy="3581401"/>
          </a:xfrm>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5" name="Date Placeholder 4"/>
          <p:cNvSpPr>
            <a:spLocks noGrp="1"/>
          </p:cNvSpPr>
          <p:nvPr>
            <p:ph type="dt" sz="half" idx="10"/>
          </p:nvPr>
        </p:nvSpPr>
        <p:spPr/>
        <p:txBody>
          <a:bodyPr/>
          <a:lstStyle/>
          <a:p>
            <a:fld id="{5E5E9ED9-4F3A-478F-84D0-D3DAAA6FC5FC}" type="datetimeFigureOut">
              <a:rPr lang="fr-FR" smtClean="0"/>
              <a:t>24/10/2026</a:t>
            </a:fld>
            <a:endParaRPr lang="fr-FR"/>
          </a:p>
        </p:txBody>
      </p:sp>
      <p:sp>
        <p:nvSpPr>
          <p:cNvPr id="6" name="Footer Placeholder 5"/>
          <p:cNvSpPr>
            <a:spLocks noGrp="1"/>
          </p:cNvSpPr>
          <p:nvPr>
            <p:ph type="ftr" sz="quarter" idx="11"/>
          </p:nvPr>
        </p:nvSpPr>
        <p:spPr/>
        <p:txBody>
          <a:bodyPr/>
          <a:lstStyle/>
          <a:p>
            <a:endParaRPr lang="fr-FR"/>
          </a:p>
        </p:txBody>
      </p:sp>
      <p:sp>
        <p:nvSpPr>
          <p:cNvPr id="7" name="Slide Number Placeholder 6"/>
          <p:cNvSpPr>
            <a:spLocks noGrp="1"/>
          </p:cNvSpPr>
          <p:nvPr>
            <p:ph type="sldNum" sz="quarter" idx="12"/>
          </p:nvPr>
        </p:nvSpPr>
        <p:spPr/>
        <p:txBody>
          <a:bodyPr/>
          <a:lstStyle/>
          <a:p>
            <a:fld id="{066E2A86-D188-40A7-8392-180EC9B342EA}" type="slidenum">
              <a:rPr lang="fr-FR" smtClean="0"/>
              <a:t>‹N°›</a:t>
            </a:fld>
            <a:endParaRPr lang="fr-FR"/>
          </a:p>
        </p:txBody>
      </p:sp>
    </p:spTree>
    <p:extLst>
      <p:ext uri="{BB962C8B-B14F-4D97-AF65-F5344CB8AC3E}">
        <p14:creationId xmlns:p14="http://schemas.microsoft.com/office/powerpoint/2010/main" val="94905172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le 1"/>
          <p:cNvSpPr>
            <a:spLocks noGrp="1"/>
          </p:cNvSpPr>
          <p:nvPr>
            <p:ph type="title"/>
          </p:nvPr>
        </p:nvSpPr>
        <p:spPr>
          <a:xfrm>
            <a:off x="1371600" y="685800"/>
            <a:ext cx="9601200" cy="1485900"/>
          </a:xfrm>
        </p:spPr>
        <p:txBody>
          <a:bodyPr/>
          <a:lstStyle>
            <a:lvl1pPr>
              <a:defRPr>
                <a:solidFill>
                  <a:schemeClr val="tx2"/>
                </a:solidFill>
              </a:defRPr>
            </a:lvl1pPr>
          </a:lstStyle>
          <a:p>
            <a:r>
              <a:rPr lang="fr-FR"/>
              <a:t>Modifiez le style du titre</a:t>
            </a:r>
            <a:endParaRPr lang="en-US" dirty="0"/>
          </a:p>
        </p:txBody>
      </p:sp>
      <p:sp>
        <p:nvSpPr>
          <p:cNvPr id="3" name="Text Placeholder 2"/>
          <p:cNvSpPr>
            <a:spLocks noGrp="1"/>
          </p:cNvSpPr>
          <p:nvPr>
            <p:ph type="body" idx="1"/>
          </p:nvPr>
        </p:nvSpPr>
        <p:spPr>
          <a:xfrm>
            <a:off x="1371600" y="2340864"/>
            <a:ext cx="4443984" cy="823912"/>
          </a:xfrm>
        </p:spPr>
        <p:txBody>
          <a:bodyPr anchor="b">
            <a:noAutofit/>
          </a:bodyPr>
          <a:lstStyle>
            <a:lvl1pPr marL="0" indent="0">
              <a:lnSpc>
                <a:spcPct val="84000"/>
              </a:lnSpc>
              <a:spcBef>
                <a:spcPts val="0"/>
              </a:spcBef>
              <a:spcAft>
                <a:spcPts val="0"/>
              </a:spcAft>
              <a:buNone/>
              <a:defRPr sz="3000" b="0"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Content Placeholder 3"/>
          <p:cNvSpPr>
            <a:spLocks noGrp="1"/>
          </p:cNvSpPr>
          <p:nvPr>
            <p:ph sz="half" idx="2"/>
          </p:nvPr>
        </p:nvSpPr>
        <p:spPr>
          <a:xfrm>
            <a:off x="1371600" y="3305207"/>
            <a:ext cx="4443984" cy="2562193"/>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5" name="Text Placeholder 4"/>
          <p:cNvSpPr>
            <a:spLocks noGrp="1"/>
          </p:cNvSpPr>
          <p:nvPr>
            <p:ph type="body" sz="quarter" idx="3"/>
          </p:nvPr>
        </p:nvSpPr>
        <p:spPr>
          <a:xfrm>
            <a:off x="6525014" y="2340864"/>
            <a:ext cx="4443984" cy="823912"/>
          </a:xfrm>
        </p:spPr>
        <p:txBody>
          <a:bodyPr anchor="b">
            <a:noAutofit/>
          </a:bodyPr>
          <a:lstStyle>
            <a:lvl1pPr marL="0" indent="0">
              <a:lnSpc>
                <a:spcPct val="84000"/>
              </a:lnSpc>
              <a:spcBef>
                <a:spcPts val="0"/>
              </a:spcBef>
              <a:spcAft>
                <a:spcPts val="0"/>
              </a:spcAft>
              <a:buNone/>
              <a:defRPr sz="3000" b="0"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Content Placeholder 5"/>
          <p:cNvSpPr>
            <a:spLocks noGrp="1"/>
          </p:cNvSpPr>
          <p:nvPr>
            <p:ph sz="quarter" idx="4"/>
          </p:nvPr>
        </p:nvSpPr>
        <p:spPr>
          <a:xfrm>
            <a:off x="6525014" y="3305207"/>
            <a:ext cx="4443984" cy="2562193"/>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7" name="Date Placeholder 6"/>
          <p:cNvSpPr>
            <a:spLocks noGrp="1"/>
          </p:cNvSpPr>
          <p:nvPr>
            <p:ph type="dt" sz="half" idx="10"/>
          </p:nvPr>
        </p:nvSpPr>
        <p:spPr/>
        <p:txBody>
          <a:bodyPr/>
          <a:lstStyle/>
          <a:p>
            <a:fld id="{5E5E9ED9-4F3A-478F-84D0-D3DAAA6FC5FC}" type="datetimeFigureOut">
              <a:rPr lang="fr-FR" smtClean="0"/>
              <a:t>24/10/2026</a:t>
            </a:fld>
            <a:endParaRPr lang="fr-FR"/>
          </a:p>
        </p:txBody>
      </p:sp>
      <p:sp>
        <p:nvSpPr>
          <p:cNvPr id="8" name="Footer Placeholder 7"/>
          <p:cNvSpPr>
            <a:spLocks noGrp="1"/>
          </p:cNvSpPr>
          <p:nvPr>
            <p:ph type="ftr" sz="quarter" idx="11"/>
          </p:nvPr>
        </p:nvSpPr>
        <p:spPr/>
        <p:txBody>
          <a:bodyPr/>
          <a:lstStyle/>
          <a:p>
            <a:endParaRPr lang="fr-FR"/>
          </a:p>
        </p:txBody>
      </p:sp>
      <p:sp>
        <p:nvSpPr>
          <p:cNvPr id="9" name="Slide Number Placeholder 8"/>
          <p:cNvSpPr>
            <a:spLocks noGrp="1"/>
          </p:cNvSpPr>
          <p:nvPr>
            <p:ph type="sldNum" sz="quarter" idx="12"/>
          </p:nvPr>
        </p:nvSpPr>
        <p:spPr/>
        <p:txBody>
          <a:bodyPr/>
          <a:lstStyle/>
          <a:p>
            <a:fld id="{066E2A86-D188-40A7-8392-180EC9B342EA}" type="slidenum">
              <a:rPr lang="fr-FR" smtClean="0"/>
              <a:t>‹N°›</a:t>
            </a:fld>
            <a:endParaRPr lang="fr-FR"/>
          </a:p>
        </p:txBody>
      </p:sp>
    </p:spTree>
    <p:extLst>
      <p:ext uri="{BB962C8B-B14F-4D97-AF65-F5344CB8AC3E}">
        <p14:creationId xmlns:p14="http://schemas.microsoft.com/office/powerpoint/2010/main" val="349451724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Date Placeholder 2"/>
          <p:cNvSpPr>
            <a:spLocks noGrp="1"/>
          </p:cNvSpPr>
          <p:nvPr>
            <p:ph type="dt" sz="half" idx="10"/>
          </p:nvPr>
        </p:nvSpPr>
        <p:spPr/>
        <p:txBody>
          <a:bodyPr/>
          <a:lstStyle/>
          <a:p>
            <a:fld id="{5E5E9ED9-4F3A-478F-84D0-D3DAAA6FC5FC}" type="datetimeFigureOut">
              <a:rPr lang="fr-FR" smtClean="0"/>
              <a:t>24/10/2026</a:t>
            </a:fld>
            <a:endParaRPr lang="fr-FR"/>
          </a:p>
        </p:txBody>
      </p:sp>
      <p:sp>
        <p:nvSpPr>
          <p:cNvPr id="4" name="Footer Placeholder 3"/>
          <p:cNvSpPr>
            <a:spLocks noGrp="1"/>
          </p:cNvSpPr>
          <p:nvPr>
            <p:ph type="ftr" sz="quarter" idx="11"/>
          </p:nvPr>
        </p:nvSpPr>
        <p:spPr/>
        <p:txBody>
          <a:bodyPr/>
          <a:lstStyle/>
          <a:p>
            <a:endParaRPr lang="fr-FR"/>
          </a:p>
        </p:txBody>
      </p:sp>
      <p:sp>
        <p:nvSpPr>
          <p:cNvPr id="5" name="Slide Number Placeholder 4"/>
          <p:cNvSpPr>
            <a:spLocks noGrp="1"/>
          </p:cNvSpPr>
          <p:nvPr>
            <p:ph type="sldNum" sz="quarter" idx="12"/>
          </p:nvPr>
        </p:nvSpPr>
        <p:spPr/>
        <p:txBody>
          <a:bodyPr/>
          <a:lstStyle/>
          <a:p>
            <a:fld id="{066E2A86-D188-40A7-8392-180EC9B342EA}" type="slidenum">
              <a:rPr lang="fr-FR" smtClean="0"/>
              <a:t>‹N°›</a:t>
            </a:fld>
            <a:endParaRPr lang="fr-FR"/>
          </a:p>
        </p:txBody>
      </p:sp>
    </p:spTree>
    <p:extLst>
      <p:ext uri="{BB962C8B-B14F-4D97-AF65-F5344CB8AC3E}">
        <p14:creationId xmlns:p14="http://schemas.microsoft.com/office/powerpoint/2010/main" val="140406814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E5E9ED9-4F3A-478F-84D0-D3DAAA6FC5FC}" type="datetimeFigureOut">
              <a:rPr lang="fr-FR" smtClean="0"/>
              <a:t>24/10/2026</a:t>
            </a:fld>
            <a:endParaRPr lang="fr-FR"/>
          </a:p>
        </p:txBody>
      </p:sp>
      <p:sp>
        <p:nvSpPr>
          <p:cNvPr id="3" name="Footer Placeholder 2"/>
          <p:cNvSpPr>
            <a:spLocks noGrp="1"/>
          </p:cNvSpPr>
          <p:nvPr>
            <p:ph type="ftr" sz="quarter" idx="11"/>
          </p:nvPr>
        </p:nvSpPr>
        <p:spPr/>
        <p:txBody>
          <a:bodyPr/>
          <a:lstStyle/>
          <a:p>
            <a:endParaRPr lang="fr-FR"/>
          </a:p>
        </p:txBody>
      </p:sp>
      <p:sp>
        <p:nvSpPr>
          <p:cNvPr id="4" name="Slide Number Placeholder 3"/>
          <p:cNvSpPr>
            <a:spLocks noGrp="1"/>
          </p:cNvSpPr>
          <p:nvPr>
            <p:ph type="sldNum" sz="quarter" idx="12"/>
          </p:nvPr>
        </p:nvSpPr>
        <p:spPr/>
        <p:txBody>
          <a:bodyPr/>
          <a:lstStyle/>
          <a:p>
            <a:fld id="{066E2A86-D188-40A7-8392-180EC9B342EA}" type="slidenum">
              <a:rPr lang="fr-FR" smtClean="0"/>
              <a:t>‹N°›</a:t>
            </a:fld>
            <a:endParaRPr lang="fr-FR"/>
          </a:p>
        </p:txBody>
      </p:sp>
    </p:spTree>
    <p:extLst>
      <p:ext uri="{BB962C8B-B14F-4D97-AF65-F5344CB8AC3E}">
        <p14:creationId xmlns:p14="http://schemas.microsoft.com/office/powerpoint/2010/main" val="238695924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u avec légende">
    <p:spTree>
      <p:nvGrpSpPr>
        <p:cNvPr id="1" name=""/>
        <p:cNvGrpSpPr/>
        <p:nvPr/>
      </p:nvGrpSpPr>
      <p:grpSpPr>
        <a:xfrm>
          <a:off x="0" y="0"/>
          <a:ext cx="0" cy="0"/>
          <a:chOff x="0" y="0"/>
          <a:chExt cx="0" cy="0"/>
        </a:xfrm>
      </p:grpSpPr>
      <p:sp>
        <p:nvSpPr>
          <p:cNvPr id="8" name="Rectangle 7" title="Background Shape"/>
          <p:cNvSpPr/>
          <p:nvPr/>
        </p:nvSpPr>
        <p:spPr>
          <a:xfrm>
            <a:off x="0" y="376"/>
            <a:ext cx="5303520" cy="685762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723900" y="685800"/>
            <a:ext cx="3855720" cy="2157884"/>
          </a:xfrm>
        </p:spPr>
        <p:txBody>
          <a:bodyPr anchor="t">
            <a:noAutofit/>
          </a:bodyPr>
          <a:lstStyle>
            <a:lvl1pPr>
              <a:lnSpc>
                <a:spcPct val="84000"/>
              </a:lnSpc>
              <a:defRPr sz="4800" baseline="0">
                <a:solidFill>
                  <a:schemeClr val="tx2"/>
                </a:solidFill>
              </a:defRPr>
            </a:lvl1pPr>
          </a:lstStyle>
          <a:p>
            <a:r>
              <a:rPr lang="fr-FR"/>
              <a:t>Modifiez le style du titre</a:t>
            </a:r>
            <a:endParaRPr lang="en-US" dirty="0"/>
          </a:p>
        </p:txBody>
      </p:sp>
      <p:sp>
        <p:nvSpPr>
          <p:cNvPr id="3" name="Content Placeholder 2"/>
          <p:cNvSpPr>
            <a:spLocks noGrp="1"/>
          </p:cNvSpPr>
          <p:nvPr>
            <p:ph idx="1"/>
          </p:nvPr>
        </p:nvSpPr>
        <p:spPr>
          <a:xfrm>
            <a:off x="6256020" y="685801"/>
            <a:ext cx="5212080" cy="5175250"/>
          </a:xfrm>
        </p:spPr>
        <p:txBody>
          <a:bodyPr/>
          <a:lstStyle>
            <a:lvl1pPr>
              <a:defRPr sz="2000"/>
            </a:lvl1pPr>
            <a:lvl2pPr>
              <a:defRPr sz="2000"/>
            </a:lvl2pPr>
            <a:lvl3pPr>
              <a:defRPr sz="1800"/>
            </a:lvl3pPr>
            <a:lvl4pPr>
              <a:defRPr sz="1800"/>
            </a:lvl4pPr>
            <a:lvl5pPr>
              <a:defRPr sz="1600"/>
            </a:lvl5pPr>
            <a:lvl6pPr>
              <a:defRPr sz="1600"/>
            </a:lvl6pPr>
            <a:lvl7pPr>
              <a:defRPr sz="1600"/>
            </a:lvl7pPr>
            <a:lvl8pPr>
              <a:defRPr sz="1600"/>
            </a:lvl8pPr>
            <a:lvl9pPr>
              <a:defRPr sz="16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Text Placeholder 3"/>
          <p:cNvSpPr>
            <a:spLocks noGrp="1"/>
          </p:cNvSpPr>
          <p:nvPr>
            <p:ph type="body" sz="half" idx="2"/>
          </p:nvPr>
        </p:nvSpPr>
        <p:spPr>
          <a:xfrm>
            <a:off x="723900" y="2856344"/>
            <a:ext cx="3855720" cy="3011056"/>
          </a:xfrm>
        </p:spPr>
        <p:txBody>
          <a:bodyPr/>
          <a:lstStyle>
            <a:lvl1pPr marL="0" indent="0">
              <a:lnSpc>
                <a:spcPct val="113000"/>
              </a:lnSpc>
              <a:spcBef>
                <a:spcPts val="0"/>
              </a:spcBef>
              <a:spcAft>
                <a:spcPts val="1500"/>
              </a:spcAft>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Date Placeholder 4"/>
          <p:cNvSpPr>
            <a:spLocks noGrp="1"/>
          </p:cNvSpPr>
          <p:nvPr>
            <p:ph type="dt" sz="half" idx="10"/>
          </p:nvPr>
        </p:nvSpPr>
        <p:spPr>
          <a:xfrm>
            <a:off x="723900" y="6453386"/>
            <a:ext cx="1204572" cy="404614"/>
          </a:xfrm>
        </p:spPr>
        <p:txBody>
          <a:bodyPr/>
          <a:lstStyle>
            <a:lvl1pPr>
              <a:defRPr>
                <a:solidFill>
                  <a:schemeClr val="tx2"/>
                </a:solidFill>
              </a:defRPr>
            </a:lvl1pPr>
          </a:lstStyle>
          <a:p>
            <a:fld id="{5E5E9ED9-4F3A-478F-84D0-D3DAAA6FC5FC}" type="datetimeFigureOut">
              <a:rPr lang="fr-FR" smtClean="0"/>
              <a:t>24/10/2026</a:t>
            </a:fld>
            <a:endParaRPr lang="fr-FR"/>
          </a:p>
        </p:txBody>
      </p:sp>
      <p:sp>
        <p:nvSpPr>
          <p:cNvPr id="6" name="Footer Placeholder 5"/>
          <p:cNvSpPr>
            <a:spLocks noGrp="1"/>
          </p:cNvSpPr>
          <p:nvPr>
            <p:ph type="ftr" sz="quarter" idx="11"/>
          </p:nvPr>
        </p:nvSpPr>
        <p:spPr>
          <a:xfrm>
            <a:off x="2205945" y="6453386"/>
            <a:ext cx="2373675" cy="404614"/>
          </a:xfrm>
        </p:spPr>
        <p:txBody>
          <a:bodyPr/>
          <a:lstStyle>
            <a:lvl1pPr>
              <a:defRPr>
                <a:solidFill>
                  <a:schemeClr val="tx2"/>
                </a:solidFill>
              </a:defRPr>
            </a:lvl1pPr>
          </a:lstStyle>
          <a:p>
            <a:endParaRPr lang="fr-FR"/>
          </a:p>
        </p:txBody>
      </p:sp>
      <p:sp>
        <p:nvSpPr>
          <p:cNvPr id="7" name="Slide Number Placeholder 6"/>
          <p:cNvSpPr>
            <a:spLocks noGrp="1"/>
          </p:cNvSpPr>
          <p:nvPr>
            <p:ph type="sldNum" sz="quarter" idx="12"/>
          </p:nvPr>
        </p:nvSpPr>
        <p:spPr>
          <a:xfrm>
            <a:off x="9883140" y="6453386"/>
            <a:ext cx="1596292" cy="404614"/>
          </a:xfrm>
        </p:spPr>
        <p:txBody>
          <a:bodyPr/>
          <a:lstStyle>
            <a:lvl1pPr>
              <a:defRPr>
                <a:solidFill>
                  <a:schemeClr val="tx2"/>
                </a:solidFill>
              </a:defRPr>
            </a:lvl1pPr>
          </a:lstStyle>
          <a:p>
            <a:fld id="{066E2A86-D188-40A7-8392-180EC9B342EA}" type="slidenum">
              <a:rPr lang="fr-FR" smtClean="0"/>
              <a:t>‹N°›</a:t>
            </a:fld>
            <a:endParaRPr lang="fr-FR"/>
          </a:p>
        </p:txBody>
      </p:sp>
      <p:sp>
        <p:nvSpPr>
          <p:cNvPr id="9" name="Rectangle 8" title="Divider Bar"/>
          <p:cNvSpPr/>
          <p:nvPr/>
        </p:nvSpPr>
        <p:spPr>
          <a:xfrm>
            <a:off x="5303520" y="376"/>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266200938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Image avec légende">
    <p:spTree>
      <p:nvGrpSpPr>
        <p:cNvPr id="1" name=""/>
        <p:cNvGrpSpPr/>
        <p:nvPr/>
      </p:nvGrpSpPr>
      <p:grpSpPr>
        <a:xfrm>
          <a:off x="0" y="0"/>
          <a:ext cx="0" cy="0"/>
          <a:chOff x="0" y="0"/>
          <a:chExt cx="0" cy="0"/>
        </a:xfrm>
      </p:grpSpPr>
      <p:sp>
        <p:nvSpPr>
          <p:cNvPr id="8" name="Rectangle 7" title="Background Shape"/>
          <p:cNvSpPr/>
          <p:nvPr/>
        </p:nvSpPr>
        <p:spPr>
          <a:xfrm>
            <a:off x="0" y="376"/>
            <a:ext cx="5303520" cy="685762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723900" y="685800"/>
            <a:ext cx="3855720" cy="2157884"/>
          </a:xfrm>
        </p:spPr>
        <p:txBody>
          <a:bodyPr anchor="t">
            <a:normAutofit/>
          </a:bodyPr>
          <a:lstStyle>
            <a:lvl1pPr>
              <a:lnSpc>
                <a:spcPct val="84000"/>
              </a:lnSpc>
              <a:defRPr sz="4800" baseline="0"/>
            </a:lvl1pPr>
          </a:lstStyle>
          <a:p>
            <a:r>
              <a:rPr lang="fr-FR"/>
              <a:t>Modifiez le style du titre</a:t>
            </a:r>
            <a:endParaRPr lang="en-US" dirty="0"/>
          </a:p>
        </p:txBody>
      </p:sp>
      <p:sp>
        <p:nvSpPr>
          <p:cNvPr id="3" name="Picture Placeholder 2"/>
          <p:cNvSpPr>
            <a:spLocks noGrp="1" noChangeAspect="1"/>
          </p:cNvSpPr>
          <p:nvPr>
            <p:ph type="pic" idx="1"/>
          </p:nvPr>
        </p:nvSpPr>
        <p:spPr>
          <a:xfrm>
            <a:off x="5532120" y="0"/>
            <a:ext cx="6659880" cy="6857999"/>
          </a:xfrm>
        </p:spPr>
        <p:txBody>
          <a:bodyPr anchor="t">
            <a:normAutofit/>
          </a:bodyPr>
          <a:lstStyle>
            <a:lvl1pPr marL="0" indent="0">
              <a:buNone/>
              <a:defRPr sz="2000"/>
            </a:lvl1pPr>
            <a:lvl2pPr marL="457200" indent="0">
              <a:buNone/>
              <a:defRPr sz="2000"/>
            </a:lvl2pPr>
            <a:lvl3pPr marL="914400" indent="0">
              <a:buNone/>
              <a:defRPr sz="20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r-FR"/>
              <a:t>Cliquez sur l'icône pour ajouter une image</a:t>
            </a:r>
            <a:endParaRPr lang="en-US" dirty="0"/>
          </a:p>
        </p:txBody>
      </p:sp>
      <p:sp>
        <p:nvSpPr>
          <p:cNvPr id="4" name="Text Placeholder 3"/>
          <p:cNvSpPr>
            <a:spLocks noGrp="1"/>
          </p:cNvSpPr>
          <p:nvPr>
            <p:ph type="body" sz="half" idx="2"/>
          </p:nvPr>
        </p:nvSpPr>
        <p:spPr>
          <a:xfrm>
            <a:off x="723900" y="2855968"/>
            <a:ext cx="3855720" cy="3011432"/>
          </a:xfrm>
        </p:spPr>
        <p:txBody>
          <a:bodyPr/>
          <a:lstStyle>
            <a:lvl1pPr marL="0" indent="0">
              <a:lnSpc>
                <a:spcPct val="113000"/>
              </a:lnSpc>
              <a:spcBef>
                <a:spcPts val="0"/>
              </a:spcBef>
              <a:spcAft>
                <a:spcPts val="1500"/>
              </a:spcAft>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Date Placeholder 4"/>
          <p:cNvSpPr>
            <a:spLocks noGrp="1"/>
          </p:cNvSpPr>
          <p:nvPr>
            <p:ph type="dt" sz="half" idx="10"/>
          </p:nvPr>
        </p:nvSpPr>
        <p:spPr>
          <a:xfrm>
            <a:off x="723900" y="6453386"/>
            <a:ext cx="1204572" cy="404614"/>
          </a:xfrm>
        </p:spPr>
        <p:txBody>
          <a:bodyPr/>
          <a:lstStyle>
            <a:lvl1pPr>
              <a:defRPr>
                <a:solidFill>
                  <a:schemeClr val="tx2"/>
                </a:solidFill>
              </a:defRPr>
            </a:lvl1pPr>
          </a:lstStyle>
          <a:p>
            <a:fld id="{5E5E9ED9-4F3A-478F-84D0-D3DAAA6FC5FC}" type="datetimeFigureOut">
              <a:rPr lang="fr-FR" smtClean="0"/>
              <a:t>24/10/2026</a:t>
            </a:fld>
            <a:endParaRPr lang="fr-FR"/>
          </a:p>
        </p:txBody>
      </p:sp>
      <p:sp>
        <p:nvSpPr>
          <p:cNvPr id="6" name="Footer Placeholder 5"/>
          <p:cNvSpPr>
            <a:spLocks noGrp="1"/>
          </p:cNvSpPr>
          <p:nvPr>
            <p:ph type="ftr" sz="quarter" idx="11"/>
          </p:nvPr>
        </p:nvSpPr>
        <p:spPr>
          <a:xfrm>
            <a:off x="2205945" y="6453386"/>
            <a:ext cx="2373675" cy="404614"/>
          </a:xfrm>
        </p:spPr>
        <p:txBody>
          <a:bodyPr/>
          <a:lstStyle>
            <a:lvl1pPr>
              <a:defRPr>
                <a:solidFill>
                  <a:schemeClr val="tx2"/>
                </a:solidFill>
              </a:defRPr>
            </a:lvl1pPr>
          </a:lstStyle>
          <a:p>
            <a:endParaRPr lang="fr-FR"/>
          </a:p>
        </p:txBody>
      </p:sp>
      <p:sp>
        <p:nvSpPr>
          <p:cNvPr id="7" name="Slide Number Placeholder 6"/>
          <p:cNvSpPr>
            <a:spLocks noGrp="1"/>
          </p:cNvSpPr>
          <p:nvPr>
            <p:ph type="sldNum" sz="quarter" idx="12"/>
          </p:nvPr>
        </p:nvSpPr>
        <p:spPr>
          <a:xfrm>
            <a:off x="9883140" y="6453386"/>
            <a:ext cx="1596292" cy="404614"/>
          </a:xfrm>
        </p:spPr>
        <p:txBody>
          <a:bodyPr/>
          <a:lstStyle>
            <a:lvl1pPr>
              <a:defRPr>
                <a:solidFill>
                  <a:schemeClr val="tx2"/>
                </a:solidFill>
              </a:defRPr>
            </a:lvl1pPr>
          </a:lstStyle>
          <a:p>
            <a:fld id="{066E2A86-D188-40A7-8392-180EC9B342EA}" type="slidenum">
              <a:rPr lang="fr-FR" smtClean="0"/>
              <a:t>‹N°›</a:t>
            </a:fld>
            <a:endParaRPr lang="fr-FR"/>
          </a:p>
        </p:txBody>
      </p:sp>
      <p:sp>
        <p:nvSpPr>
          <p:cNvPr id="9" name="Rectangle 8" title="Divider Bar"/>
          <p:cNvSpPr/>
          <p:nvPr/>
        </p:nvSpPr>
        <p:spPr>
          <a:xfrm>
            <a:off x="5303520" y="376"/>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248868338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Vertical Text Placeholder 2"/>
          <p:cNvSpPr>
            <a:spLocks noGrp="1"/>
          </p:cNvSpPr>
          <p:nvPr>
            <p:ph type="body" orient="vert" idx="1"/>
          </p:nvPr>
        </p:nvSpPr>
        <p:spPr>
          <a:xfrm>
            <a:off x="1371600" y="2295525"/>
            <a:ext cx="9601200" cy="3571875"/>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5E5E9ED9-4F3A-478F-84D0-D3DAAA6FC5FC}" type="datetimeFigureOut">
              <a:rPr lang="fr-FR" smtClean="0"/>
              <a:t>24/10/2026</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066E2A86-D188-40A7-8392-180EC9B342EA}" type="slidenum">
              <a:rPr lang="fr-FR" smtClean="0"/>
              <a:t>‹N°›</a:t>
            </a:fld>
            <a:endParaRPr lang="fr-FR"/>
          </a:p>
        </p:txBody>
      </p:sp>
    </p:spTree>
    <p:extLst>
      <p:ext uri="{BB962C8B-B14F-4D97-AF65-F5344CB8AC3E}">
        <p14:creationId xmlns:p14="http://schemas.microsoft.com/office/powerpoint/2010/main" val="266385596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596561" y="624156"/>
            <a:ext cx="1565766" cy="5243244"/>
          </a:xfrm>
        </p:spPr>
        <p:txBody>
          <a:bodyPr vert="eaVert"/>
          <a:lstStyle/>
          <a:p>
            <a:r>
              <a:rPr lang="fr-FR"/>
              <a:t>Modifiez le style du titre</a:t>
            </a:r>
            <a:endParaRPr lang="en-US" dirty="0"/>
          </a:p>
        </p:txBody>
      </p:sp>
      <p:sp>
        <p:nvSpPr>
          <p:cNvPr id="3" name="Vertical Text Placeholder 2"/>
          <p:cNvSpPr>
            <a:spLocks noGrp="1"/>
          </p:cNvSpPr>
          <p:nvPr>
            <p:ph type="body" orient="vert" idx="1"/>
          </p:nvPr>
        </p:nvSpPr>
        <p:spPr>
          <a:xfrm>
            <a:off x="1371600" y="624156"/>
            <a:ext cx="8179641" cy="5243244"/>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5E5E9ED9-4F3A-478F-84D0-D3DAAA6FC5FC}" type="datetimeFigureOut">
              <a:rPr lang="fr-FR" smtClean="0"/>
              <a:t>24/10/2026</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066E2A86-D188-40A7-8392-180EC9B342EA}" type="slidenum">
              <a:rPr lang="fr-FR" smtClean="0"/>
              <a:t>‹N°›</a:t>
            </a:fld>
            <a:endParaRPr lang="fr-FR"/>
          </a:p>
        </p:txBody>
      </p:sp>
    </p:spTree>
    <p:extLst>
      <p:ext uri="{BB962C8B-B14F-4D97-AF65-F5344CB8AC3E}">
        <p14:creationId xmlns:p14="http://schemas.microsoft.com/office/powerpoint/2010/main" val="2774377677"/>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371600" y="685800"/>
            <a:ext cx="9601200" cy="1485900"/>
          </a:xfrm>
          <a:prstGeom prst="rect">
            <a:avLst/>
          </a:prstGeom>
        </p:spPr>
        <p:txBody>
          <a:bodyPr vert="horz" lIns="91440" tIns="45720" rIns="91440" bIns="45720" rtlCol="0" anchor="t">
            <a:normAutofit/>
          </a:bodyPr>
          <a:lstStyle/>
          <a:p>
            <a:r>
              <a:rPr lang="fr-FR"/>
              <a:t>Modifiez le style du titre</a:t>
            </a:r>
            <a:endParaRPr lang="en-US" dirty="0"/>
          </a:p>
        </p:txBody>
      </p:sp>
      <p:sp>
        <p:nvSpPr>
          <p:cNvPr id="3" name="Text Placeholder 2"/>
          <p:cNvSpPr>
            <a:spLocks noGrp="1"/>
          </p:cNvSpPr>
          <p:nvPr>
            <p:ph type="body" idx="1"/>
          </p:nvPr>
        </p:nvSpPr>
        <p:spPr>
          <a:xfrm>
            <a:off x="1371600" y="2286000"/>
            <a:ext cx="9601200" cy="3581400"/>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2"/>
          </p:nvPr>
        </p:nvSpPr>
        <p:spPr>
          <a:xfrm>
            <a:off x="1390650" y="6453386"/>
            <a:ext cx="1204572" cy="404614"/>
          </a:xfrm>
          <a:prstGeom prst="rect">
            <a:avLst/>
          </a:prstGeom>
        </p:spPr>
        <p:txBody>
          <a:bodyPr vert="horz" lIns="91440" tIns="45720" rIns="91440" bIns="45720" rtlCol="0" anchor="ctr"/>
          <a:lstStyle>
            <a:lvl1pPr algn="l">
              <a:defRPr sz="1200" baseline="0">
                <a:solidFill>
                  <a:schemeClr val="tx2"/>
                </a:solidFill>
              </a:defRPr>
            </a:lvl1pPr>
          </a:lstStyle>
          <a:p>
            <a:fld id="{5E5E9ED9-4F3A-478F-84D0-D3DAAA6FC5FC}" type="datetimeFigureOut">
              <a:rPr lang="fr-FR" smtClean="0"/>
              <a:t>24/10/2026</a:t>
            </a:fld>
            <a:endParaRPr lang="fr-FR"/>
          </a:p>
        </p:txBody>
      </p:sp>
      <p:sp>
        <p:nvSpPr>
          <p:cNvPr id="5" name="Footer Placeholder 4"/>
          <p:cNvSpPr>
            <a:spLocks noGrp="1"/>
          </p:cNvSpPr>
          <p:nvPr>
            <p:ph type="ftr" sz="quarter" idx="3"/>
          </p:nvPr>
        </p:nvSpPr>
        <p:spPr>
          <a:xfrm>
            <a:off x="2893564" y="6453386"/>
            <a:ext cx="6280830" cy="404614"/>
          </a:xfrm>
          <a:prstGeom prst="rect">
            <a:avLst/>
          </a:prstGeom>
        </p:spPr>
        <p:txBody>
          <a:bodyPr vert="horz" lIns="91440" tIns="45720" rIns="91440" bIns="45720" rtlCol="0" anchor="ctr"/>
          <a:lstStyle>
            <a:lvl1pPr algn="l">
              <a:defRPr sz="1200" baseline="0">
                <a:solidFill>
                  <a:schemeClr val="tx2"/>
                </a:solidFill>
              </a:defRPr>
            </a:lvl1pPr>
          </a:lstStyle>
          <a:p>
            <a:endParaRPr lang="fr-FR"/>
          </a:p>
        </p:txBody>
      </p:sp>
      <p:sp>
        <p:nvSpPr>
          <p:cNvPr id="6" name="Slide Number Placeholder 5"/>
          <p:cNvSpPr>
            <a:spLocks noGrp="1"/>
          </p:cNvSpPr>
          <p:nvPr>
            <p:ph type="sldNum" sz="quarter" idx="4"/>
          </p:nvPr>
        </p:nvSpPr>
        <p:spPr>
          <a:xfrm>
            <a:off x="9472736" y="6453386"/>
            <a:ext cx="1596292" cy="404614"/>
          </a:xfrm>
          <a:prstGeom prst="rect">
            <a:avLst/>
          </a:prstGeom>
        </p:spPr>
        <p:txBody>
          <a:bodyPr vert="horz" lIns="91440" tIns="45720" rIns="91440" bIns="45720" rtlCol="0" anchor="ctr"/>
          <a:lstStyle>
            <a:lvl1pPr algn="r">
              <a:defRPr sz="1200" baseline="0">
                <a:solidFill>
                  <a:schemeClr val="tx2"/>
                </a:solidFill>
              </a:defRPr>
            </a:lvl1pPr>
          </a:lstStyle>
          <a:p>
            <a:fld id="{066E2A86-D188-40A7-8392-180EC9B342EA}" type="slidenum">
              <a:rPr lang="fr-FR" smtClean="0"/>
              <a:t>‹N°›</a:t>
            </a:fld>
            <a:endParaRPr lang="fr-FR"/>
          </a:p>
        </p:txBody>
      </p:sp>
      <p:sp>
        <p:nvSpPr>
          <p:cNvPr id="9" name="Rectangle 8" title="Side bar"/>
          <p:cNvSpPr/>
          <p:nvPr/>
        </p:nvSpPr>
        <p:spPr>
          <a:xfrm>
            <a:off x="478095" y="376"/>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326114950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89000"/>
        </a:lnSpc>
        <a:spcBef>
          <a:spcPct val="0"/>
        </a:spcBef>
        <a:buNone/>
        <a:defRPr sz="4400" kern="1200" baseline="0">
          <a:solidFill>
            <a:schemeClr val="tx2"/>
          </a:solidFill>
          <a:latin typeface="+mj-lt"/>
          <a:ea typeface="+mj-ea"/>
          <a:cs typeface="+mj-cs"/>
        </a:defRPr>
      </a:lvl1pPr>
    </p:titleStyle>
    <p:bodyStyle>
      <a:lvl1pPr marL="384048" indent="-384048" algn="l" defTabSz="914400" rtl="0" eaLnBrk="1" latinLnBrk="0" hangingPunct="1">
        <a:lnSpc>
          <a:spcPct val="94000"/>
        </a:lnSpc>
        <a:spcBef>
          <a:spcPts val="1000"/>
        </a:spcBef>
        <a:spcAft>
          <a:spcPts val="200"/>
        </a:spcAft>
        <a:buFont typeface="Franklin Gothic Book" panose="020B0503020102020204" pitchFamily="34" charset="0"/>
        <a:buChar char="■"/>
        <a:defRPr sz="2000" kern="1200" baseline="0">
          <a:solidFill>
            <a:schemeClr val="tx2"/>
          </a:solidFill>
          <a:latin typeface="+mn-lt"/>
          <a:ea typeface="+mn-ea"/>
          <a:cs typeface="+mn-cs"/>
        </a:defRPr>
      </a:lvl1pPr>
      <a:lvl2pPr marL="914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2000" i="1" kern="1200" baseline="0">
          <a:solidFill>
            <a:schemeClr val="tx2"/>
          </a:solidFill>
          <a:latin typeface="+mn-lt"/>
          <a:ea typeface="+mn-ea"/>
          <a:cs typeface="+mn-cs"/>
        </a:defRPr>
      </a:lvl2pPr>
      <a:lvl3pPr marL="1371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kern="1200" baseline="0">
          <a:solidFill>
            <a:schemeClr val="tx2"/>
          </a:solidFill>
          <a:latin typeface="+mn-lt"/>
          <a:ea typeface="+mn-ea"/>
          <a:cs typeface="+mn-cs"/>
        </a:defRPr>
      </a:lvl3pPr>
      <a:lvl4pPr marL="1828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i="1" kern="1200" baseline="0">
          <a:solidFill>
            <a:schemeClr val="tx2"/>
          </a:solidFill>
          <a:latin typeface="+mn-lt"/>
          <a:ea typeface="+mn-ea"/>
          <a:cs typeface="+mn-cs"/>
        </a:defRPr>
      </a:lvl4pPr>
      <a:lvl5pPr marL="22860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kern="1200" baseline="0">
          <a:solidFill>
            <a:schemeClr val="tx2"/>
          </a:solidFill>
          <a:latin typeface="+mn-lt"/>
          <a:ea typeface="+mn-ea"/>
          <a:cs typeface="+mn-cs"/>
        </a:defRPr>
      </a:lvl5pPr>
      <a:lvl6pPr marL="27432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i="1" kern="1200" baseline="0">
          <a:solidFill>
            <a:schemeClr val="tx2"/>
          </a:solidFill>
          <a:latin typeface="+mn-lt"/>
          <a:ea typeface="+mn-ea"/>
          <a:cs typeface="+mn-cs"/>
        </a:defRPr>
      </a:lvl6pPr>
      <a:lvl7pPr marL="3200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7pPr>
      <a:lvl8pPr marL="3657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i="1" kern="1200" baseline="0">
          <a:solidFill>
            <a:schemeClr val="tx2"/>
          </a:solidFill>
          <a:latin typeface="+mn-lt"/>
          <a:ea typeface="+mn-ea"/>
          <a:cs typeface="+mn-cs"/>
        </a:defRPr>
      </a:lvl8pPr>
      <a:lvl9pPr marL="4114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3" orient="horz" pos="1368">
          <p15:clr>
            <a:srgbClr val="F26B43"/>
          </p15:clr>
        </p15:guide>
        <p15:guide id="4" orient="horz" pos="1440">
          <p15:clr>
            <a:srgbClr val="F26B43"/>
          </p15:clr>
        </p15:guide>
        <p15:guide id="6" orient="horz" pos="3696">
          <p15:clr>
            <a:srgbClr val="F26B43"/>
          </p15:clr>
        </p15:guide>
        <p15:guide id="7" orient="horz" pos="432">
          <p15:clr>
            <a:srgbClr val="F26B43"/>
          </p15:clr>
        </p15:guide>
        <p15:guide id="8" orient="horz" pos="1512">
          <p15:clr>
            <a:srgbClr val="F26B43"/>
          </p15:clr>
        </p15:guide>
        <p15:guide id="9" pos="6912">
          <p15:clr>
            <a:srgbClr val="F26B43"/>
          </p15:clr>
        </p15:guide>
        <p15:guide id="10" pos="936">
          <p15:clr>
            <a:srgbClr val="F26B43"/>
          </p15:clr>
        </p15:guide>
        <p15:guide id="11" pos="864">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sv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6.png"/><Relationship Id="rId3" Type="http://schemas.openxmlformats.org/officeDocument/2006/relationships/image" Target="../media/image7.sv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8.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9.png"/><Relationship Id="rId4" Type="http://schemas.openxmlformats.org/officeDocument/2006/relationships/image" Target="../media/image10.svg"/><Relationship Id="rId5" Type="http://schemas.openxmlformats.org/officeDocument/2006/relationships/image" Target="../media/image11.png"/><Relationship Id="rId6" Type="http://schemas.openxmlformats.org/officeDocument/2006/relationships/image" Target="../media/image12.svg"/><Relationship Id="rId7" Type="http://schemas.openxmlformats.org/officeDocument/2006/relationships/image" Target="../media/image13.png"/><Relationship Id="rId8" Type="http://schemas.openxmlformats.org/officeDocument/2006/relationships/image" Target="../media/image14.png"/><Relationship Id="rId9" Type="http://schemas.openxmlformats.org/officeDocument/2006/relationships/image" Target="../media/image15.svg"/><Relationship Id="rId10" Type="http://schemas.openxmlformats.org/officeDocument/2006/relationships/image" Target="../media/image16.png"/><Relationship Id="rId11" Type="http://schemas.openxmlformats.org/officeDocument/2006/relationships/image" Target="../media/image17.png"/><Relationship Id="rId12" Type="http://schemas.openxmlformats.org/officeDocument/2006/relationships/image" Target="../media/image18.svg"/><Relationship Id="rId13" Type="http://schemas.openxmlformats.org/officeDocument/2006/relationships/image" Target="../media/image19.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0.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2.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3.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4.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5.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6.png"/><Relationship Id="rId3" Type="http://schemas.openxmlformats.org/officeDocument/2006/relationships/image" Target="../media/image25.png"/><Relationship Id="rId4" Type="http://schemas.openxmlformats.org/officeDocument/2006/relationships/image" Target="../media/image27.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8.png"/><Relationship Id="rId3" Type="http://schemas.openxmlformats.org/officeDocument/2006/relationships/image" Target="../media/image29.png"/><Relationship Id="rId4" Type="http://schemas.openxmlformats.org/officeDocument/2006/relationships/image" Target="../media/image30.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8.png"/><Relationship Id="rId3" Type="http://schemas.openxmlformats.org/officeDocument/2006/relationships/image" Target="../media/image29.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2837CAE-9A87-8B54-408F-56976D1BAA8B}"/>
              </a:ext>
            </a:extLst>
          </p:cNvPr>
          <p:cNvSpPr>
            <a:spLocks noGrp="1"/>
          </p:cNvSpPr>
          <p:nvPr>
            <p:ph type="ctrTitle"/>
          </p:nvPr>
        </p:nvSpPr>
        <p:spPr/>
        <p:txBody>
          <a:bodyPr/>
          <a:lstStyle/>
          <a:p>
            <a:r>
              <a:rPr lang="fr-FR" dirty="0"/>
              <a:t>OpenStack-Helm </a:t>
            </a:r>
            <a:r>
              <a:rPr lang="fr-FR" sz="3200" dirty="0"/>
              <a:t>déployez votre plateforme de cloud privé sur Kubernetes</a:t>
            </a:r>
          </a:p>
        </p:txBody>
      </p:sp>
      <p:sp>
        <p:nvSpPr>
          <p:cNvPr id="3" name="Sous-titre 2">
            <a:extLst>
              <a:ext uri="{FF2B5EF4-FFF2-40B4-BE49-F238E27FC236}">
                <a16:creationId xmlns:a16="http://schemas.microsoft.com/office/drawing/2014/main" id="{7EC30F38-8D9E-8AD4-6339-98C35B92DDA7}"/>
              </a:ext>
            </a:extLst>
          </p:cNvPr>
          <p:cNvSpPr>
            <a:spLocks noGrp="1"/>
          </p:cNvSpPr>
          <p:nvPr>
            <p:ph type="subTitle" idx="1"/>
          </p:nvPr>
        </p:nvSpPr>
        <p:spPr/>
        <p:txBody>
          <a:bodyPr/>
          <a:lstStyle/>
          <a:p>
            <a:endParaRPr lang="fr-FR" dirty="0"/>
          </a:p>
        </p:txBody>
      </p:sp>
      <p:pic>
        <p:nvPicPr>
          <p:cNvPr id="5" name="Image 4">
            <a:extLst>
              <a:ext uri="{FF2B5EF4-FFF2-40B4-BE49-F238E27FC236}">
                <a16:creationId xmlns:a16="http://schemas.microsoft.com/office/drawing/2014/main" id="{211CBBC0-BF62-B358-74A9-46D4A59E1F3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511579" y="84842"/>
            <a:ext cx="1480546" cy="1480546"/>
          </a:xfrm>
          <a:prstGeom prst="rect">
            <a:avLst/>
          </a:prstGeom>
        </p:spPr>
      </p:pic>
      <p:pic>
        <p:nvPicPr>
          <p:cNvPr id="9" name="Image 8">
            <a:extLst>
              <a:ext uri="{FF2B5EF4-FFF2-40B4-BE49-F238E27FC236}">
                <a16:creationId xmlns:a16="http://schemas.microsoft.com/office/drawing/2014/main" id="{4A999DAE-CF48-EAE1-99B2-B3C2B70D2EB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346616" y="-342129"/>
            <a:ext cx="2334488" cy="2334488"/>
          </a:xfrm>
          <a:prstGeom prst="rect">
            <a:avLst/>
          </a:prstGeom>
        </p:spPr>
      </p:pic>
      <p:pic>
        <p:nvPicPr>
          <p:cNvPr id="11" name="Graphique 10">
            <a:extLst>
              <a:ext uri="{FF2B5EF4-FFF2-40B4-BE49-F238E27FC236}">
                <a16:creationId xmlns:a16="http://schemas.microsoft.com/office/drawing/2014/main" id="{BA575BF1-E3A1-4627-069B-A2C18306FA52}"/>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167716" y="47289"/>
            <a:ext cx="1486159" cy="1442993"/>
          </a:xfrm>
          <a:prstGeom prst="rect">
            <a:avLst/>
          </a:prstGeom>
        </p:spPr>
      </p:pic>
    </p:spTree>
    <p:extLst>
      <p:ext uri="{BB962C8B-B14F-4D97-AF65-F5344CB8AC3E}">
        <p14:creationId xmlns:p14="http://schemas.microsoft.com/office/powerpoint/2010/main" val="339877057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556AA37-B5BF-AE43-0DDA-C0564D44FE90}"/>
              </a:ext>
            </a:extLst>
          </p:cNvPr>
          <p:cNvSpPr>
            <a:spLocks noGrp="1"/>
          </p:cNvSpPr>
          <p:nvPr>
            <p:ph type="title"/>
          </p:nvPr>
        </p:nvSpPr>
        <p:spPr/>
        <p:txBody>
          <a:bodyPr/>
          <a:lstStyle/>
          <a:p>
            <a:r>
              <a:rPr lang="fr-FR" dirty="0"/>
              <a:t>Qui je suis, pourquoi je vous parle de tout ça</a:t>
            </a:r>
          </a:p>
        </p:txBody>
      </p:sp>
      <p:sp>
        <p:nvSpPr>
          <p:cNvPr id="3" name="Espace réservé du contenu 2">
            <a:extLst>
              <a:ext uri="{FF2B5EF4-FFF2-40B4-BE49-F238E27FC236}">
                <a16:creationId xmlns:a16="http://schemas.microsoft.com/office/drawing/2014/main" id="{363560E5-1D21-1CD0-868F-F4A7CB408C59}"/>
              </a:ext>
            </a:extLst>
          </p:cNvPr>
          <p:cNvSpPr>
            <a:spLocks noGrp="1"/>
          </p:cNvSpPr>
          <p:nvPr>
            <p:ph idx="1"/>
          </p:nvPr>
        </p:nvSpPr>
        <p:spPr>
          <a:xfrm>
            <a:off x="1371600" y="2286000"/>
            <a:ext cx="7772400" cy="3581400"/>
          </a:xfrm>
        </p:spPr>
        <p:txBody>
          <a:bodyPr/>
          <a:lstStyle/>
          <a:p>
            <a:r>
              <a:rPr lang="fr-FR" dirty="0"/>
              <a:t>Benjamin Belaud </a:t>
            </a:r>
          </a:p>
          <a:p>
            <a:r>
              <a:rPr lang="fr-FR" dirty="0"/>
              <a:t>Administrateur Système Cloud depuis 8 ans et formateur sur les technologies « DevOps »</a:t>
            </a:r>
          </a:p>
          <a:p>
            <a:r>
              <a:rPr lang="fr-FR" dirty="0"/>
              <a:t>Expérience sur les clouds publics Azure, GCP, OVH</a:t>
            </a:r>
          </a:p>
          <a:p>
            <a:r>
              <a:rPr lang="fr-FR" dirty="0"/>
              <a:t>Expérience sur le cloud privé OpenStack et utilisation dans le cadre de ma formation</a:t>
            </a:r>
          </a:p>
          <a:p>
            <a:r>
              <a:rPr lang="fr-FR" dirty="0"/>
              <a:t>Expérience sur les technologies Kubernetes (OKD, OpenShift, et Rancher)</a:t>
            </a:r>
          </a:p>
          <a:p>
            <a:endParaRPr lang="fr-FR" dirty="0"/>
          </a:p>
        </p:txBody>
      </p:sp>
      <p:pic>
        <p:nvPicPr>
          <p:cNvPr id="5" name="Image 4">
            <a:extLst>
              <a:ext uri="{FF2B5EF4-FFF2-40B4-BE49-F238E27FC236}">
                <a16:creationId xmlns:a16="http://schemas.microsoft.com/office/drawing/2014/main" id="{78AC4CEC-E2C6-E41E-7DAC-CC150DD0C83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5400000">
            <a:off x="8967262" y="2017349"/>
            <a:ext cx="3253424" cy="2430917"/>
          </a:xfrm>
          <a:prstGeom prst="rect">
            <a:avLst/>
          </a:prstGeom>
        </p:spPr>
      </p:pic>
    </p:spTree>
    <p:extLst>
      <p:ext uri="{BB962C8B-B14F-4D97-AF65-F5344CB8AC3E}">
        <p14:creationId xmlns:p14="http://schemas.microsoft.com/office/powerpoint/2010/main" val="48802498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re 5">
            <a:extLst>
              <a:ext uri="{FF2B5EF4-FFF2-40B4-BE49-F238E27FC236}">
                <a16:creationId xmlns:a16="http://schemas.microsoft.com/office/drawing/2014/main" id="{147F5558-25D4-5738-1071-7EA602E20CFA}"/>
              </a:ext>
            </a:extLst>
          </p:cNvPr>
          <p:cNvSpPr>
            <a:spLocks noGrp="1"/>
          </p:cNvSpPr>
          <p:nvPr>
            <p:ph type="title"/>
          </p:nvPr>
        </p:nvSpPr>
        <p:spPr/>
        <p:txBody>
          <a:bodyPr>
            <a:normAutofit fontScale="90000"/>
          </a:bodyPr>
          <a:lstStyle/>
          <a:p>
            <a:r>
              <a:rPr lang="fr-FR" dirty="0"/>
              <a:t>Pourquoi s’infliger un cluster OpenStack ? </a:t>
            </a:r>
          </a:p>
        </p:txBody>
      </p:sp>
      <p:sp>
        <p:nvSpPr>
          <p:cNvPr id="7" name="Espace réservé du texte 6">
            <a:extLst>
              <a:ext uri="{FF2B5EF4-FFF2-40B4-BE49-F238E27FC236}">
                <a16:creationId xmlns:a16="http://schemas.microsoft.com/office/drawing/2014/main" id="{79D95668-B1A5-7ABE-D4B4-E6ECFA460679}"/>
              </a:ext>
            </a:extLst>
          </p:cNvPr>
          <p:cNvSpPr>
            <a:spLocks noGrp="1"/>
          </p:cNvSpPr>
          <p:nvPr>
            <p:ph type="body" idx="1"/>
          </p:nvPr>
        </p:nvSpPr>
        <p:spPr/>
        <p:txBody>
          <a:bodyPr/>
          <a:lstStyle/>
          <a:p>
            <a:r>
              <a:rPr lang="fr-FR" dirty="0"/>
              <a:t>Un peu d’historique</a:t>
            </a:r>
          </a:p>
        </p:txBody>
      </p:sp>
    </p:spTree>
    <p:extLst>
      <p:ext uri="{BB962C8B-B14F-4D97-AF65-F5344CB8AC3E}">
        <p14:creationId xmlns:p14="http://schemas.microsoft.com/office/powerpoint/2010/main" val="74426099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a:extLst>
              <a:ext uri="{FF2B5EF4-FFF2-40B4-BE49-F238E27FC236}">
                <a16:creationId xmlns:a16="http://schemas.microsoft.com/office/drawing/2014/main" id="{6ABBD30A-D08D-BDB5-3DC8-D38FA8097FB0}"/>
              </a:ext>
            </a:extLst>
          </p:cNvPr>
          <p:cNvSpPr>
            <a:spLocks noGrp="1"/>
          </p:cNvSpPr>
          <p:nvPr>
            <p:ph type="title"/>
          </p:nvPr>
        </p:nvSpPr>
        <p:spPr/>
        <p:txBody>
          <a:bodyPr/>
          <a:lstStyle/>
          <a:p>
            <a:r>
              <a:rPr lang="fr-FR" dirty="0"/>
              <a:t>L’origine du mal</a:t>
            </a:r>
          </a:p>
        </p:txBody>
      </p:sp>
      <p:sp>
        <p:nvSpPr>
          <p:cNvPr id="5" name="Espace réservé du contenu 4">
            <a:extLst>
              <a:ext uri="{FF2B5EF4-FFF2-40B4-BE49-F238E27FC236}">
                <a16:creationId xmlns:a16="http://schemas.microsoft.com/office/drawing/2014/main" id="{57FD6EB6-4C7D-1FCC-AFD4-38B786F1E53F}"/>
              </a:ext>
            </a:extLst>
          </p:cNvPr>
          <p:cNvSpPr>
            <a:spLocks noGrp="1"/>
          </p:cNvSpPr>
          <p:nvPr>
            <p:ph idx="1"/>
          </p:nvPr>
        </p:nvSpPr>
        <p:spPr/>
        <p:txBody>
          <a:bodyPr/>
          <a:lstStyle/>
          <a:p>
            <a:r>
              <a:rPr lang="fr-FR" dirty="0"/>
              <a:t>Je dois donner des cours sur OpenShift</a:t>
            </a:r>
          </a:p>
          <a:p>
            <a:r>
              <a:rPr lang="fr-FR" dirty="0"/>
              <a:t>Je manque de place et je ne veux pas payer un rein</a:t>
            </a:r>
          </a:p>
          <a:p>
            <a:r>
              <a:rPr lang="fr-FR" dirty="0"/>
              <a:t>Je veux pouvoir tout casser et refaire à la volée pour prévenir les comportements de mes étudiants</a:t>
            </a:r>
          </a:p>
          <a:p>
            <a:r>
              <a:rPr lang="fr-FR" dirty="0"/>
              <a:t>OpenShift permet d’être installé rapidement via OpenShift-Installer qui préconise des environnements Cloud </a:t>
            </a:r>
          </a:p>
        </p:txBody>
      </p:sp>
      <p:pic>
        <p:nvPicPr>
          <p:cNvPr id="7" name="Graphique 6">
            <a:extLst>
              <a:ext uri="{FF2B5EF4-FFF2-40B4-BE49-F238E27FC236}">
                <a16:creationId xmlns:a16="http://schemas.microsoft.com/office/drawing/2014/main" id="{E7D65363-3DAC-8CAD-8EB9-798D3CE094F9}"/>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8783638" y="-102393"/>
            <a:ext cx="3485186" cy="4662487"/>
          </a:xfrm>
          <a:prstGeom prst="rect">
            <a:avLst/>
          </a:prstGeom>
        </p:spPr>
      </p:pic>
    </p:spTree>
    <p:extLst>
      <p:ext uri="{BB962C8B-B14F-4D97-AF65-F5344CB8AC3E}">
        <p14:creationId xmlns:p14="http://schemas.microsoft.com/office/powerpoint/2010/main" val="298459794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806E434-AAE0-01EE-34E8-34ED6113DCF4}"/>
              </a:ext>
            </a:extLst>
          </p:cNvPr>
          <p:cNvSpPr>
            <a:spLocks noGrp="1"/>
          </p:cNvSpPr>
          <p:nvPr>
            <p:ph type="title"/>
          </p:nvPr>
        </p:nvSpPr>
        <p:spPr>
          <a:xfrm>
            <a:off x="1280160" y="2103120"/>
            <a:ext cx="5394960" cy="2377440"/>
          </a:xfrm>
        </p:spPr>
        <p:txBody>
          <a:bodyPr/>
          <a:lstStyle/>
          <a:p>
            <a:r>
              <a:rPr lang="fr-FR" dirty="0"/>
              <a:t>La galère de l’installation</a:t>
            </a:r>
          </a:p>
        </p:txBody>
      </p:sp>
      <p:pic>
        <p:nvPicPr>
          <p:cNvPr id="5" name="Espace réservé du contenu 4">
            <a:extLst>
              <a:ext uri="{FF2B5EF4-FFF2-40B4-BE49-F238E27FC236}">
                <a16:creationId xmlns:a16="http://schemas.microsoft.com/office/drawing/2014/main" id="{0599C52E-11C8-A975-8837-AB2C3B1D226F}"/>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rot="5400000">
            <a:off x="6192244" y="858274"/>
            <a:ext cx="6858000" cy="5141452"/>
          </a:xfrm>
        </p:spPr>
      </p:pic>
    </p:spTree>
    <p:extLst>
      <p:ext uri="{BB962C8B-B14F-4D97-AF65-F5344CB8AC3E}">
        <p14:creationId xmlns:p14="http://schemas.microsoft.com/office/powerpoint/2010/main" val="339292132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r>
              <a:rPr lang="fr-FR" dirty="0"/>
              <a:t>Et donc pourquoi OpenStack ?</a:t>
            </a:r>
          </a:p>
        </p:txBody>
      </p:sp>
      <p:sp>
        <p:nvSpPr>
          <p:cNvPr id="3" name="Texte 3"/>
          <p:cNvSpPr txBox="1"/>
          <p:nvPr/>
        </p:nvSpPr>
        <p:spPr>
          <a:xfrm>
            <a:off x="1371600" y="2011680"/>
            <a:ext cx="9921240" cy="3840480"/>
          </a:xfrm>
          <a:prstGeom prst="rect">
            <a:avLst/>
          </a:prstGeom>
          <a:noFill/>
        </p:spPr>
        <p:txBody>
          <a:bodyPr wrap="square" lIns="0" tIns="0" rIns="0" bIns="0" rtlCol="0" anchor="t">
            <a:noAutofit/>
          </a:bodyPr>
          <a:lstStyle/>
          <a:p>
            <a:pPr marL="228600" indent="-228600" algn="l">
              <a:spcBef>
                <a:spcPts val="0"/>
              </a:spcBef>
              <a:spcAft>
                <a:spcPts val="1600"/>
              </a:spcAft>
              <a:buFont typeface="Arial"/>
              <a:buChar char="•"/>
            </a:pPr>
            <a:r>
              <a:rPr lang="fr-FR" sz="1800" b="1" dirty="0"/>
              <a:t>Compatible OpenShift : </a:t>
            </a:r>
            <a:r>
              <a:rPr lang="fr-FR" sz="1800" dirty="0"/>
              <a:t>l'installeur d'OpenShift sait déployer directement sur OpenStack</a:t>
            </a:r>
          </a:p>
          <a:p>
            <a:pPr marL="228600" indent="-228600" algn="l">
              <a:spcBef>
                <a:spcPts val="0"/>
              </a:spcBef>
              <a:spcAft>
                <a:spcPts val="1600"/>
              </a:spcAft>
              <a:buFont typeface="Arial"/>
              <a:buChar char="•"/>
            </a:pPr>
            <a:r>
              <a:rPr lang="fr-FR" sz="1800" b="1" dirty="0"/>
              <a:t>Une techno que je connais : </a:t>
            </a:r>
            <a:r>
              <a:rPr lang="fr-FR" sz="1800" dirty="0"/>
              <a:t>je connaissais déjà OpenStack et j'avais envie de « rester à jour »</a:t>
            </a:r>
          </a:p>
          <a:p>
            <a:pPr marL="228600" indent="-228600" algn="l">
              <a:spcBef>
                <a:spcPts val="0"/>
              </a:spcBef>
              <a:spcAft>
                <a:spcPts val="1600"/>
              </a:spcAft>
              <a:buFont typeface="Arial"/>
              <a:buChar char="•"/>
            </a:pPr>
            <a:r>
              <a:rPr lang="fr-FR" sz="1800" b="1" dirty="0"/>
              <a:t>Gratuit : </a:t>
            </a:r>
            <a:r>
              <a:rPr lang="fr-FR" sz="1800" dirty="0"/>
              <a:t>aucune licence à payer, tout est open source</a:t>
            </a:r>
          </a:p>
          <a:p>
            <a:pPr marL="228600" indent="-228600" algn="l">
              <a:spcBef>
                <a:spcPts val="0"/>
              </a:spcBef>
              <a:spcAft>
                <a:spcPts val="1600"/>
              </a:spcAft>
              <a:buFont typeface="Arial"/>
              <a:buChar char="•"/>
            </a:pPr>
            <a:r>
              <a:rPr lang="fr-FR" sz="1800" b="1" dirty="0"/>
              <a:t>Distribué : </a:t>
            </a:r>
            <a:r>
              <a:rPr lang="fr-FR" sz="1800" dirty="0"/>
              <a:t>la charge est répartie et optimisée sur les nœuds « Compute »</a:t>
            </a:r>
          </a:p>
          <a:p>
            <a:pPr marL="228600" indent="-228600" algn="l">
              <a:spcBef>
                <a:spcPts val="0"/>
              </a:spcBef>
              <a:spcAft>
                <a:spcPts val="1600"/>
              </a:spcAft>
              <a:buFont typeface="Arial"/>
              <a:buChar char="•"/>
            </a:pPr>
            <a:r>
              <a:rPr lang="fr-FR" sz="1800" b="1" dirty="0"/>
              <a:t>Tout casser, tout refaire : </a:t>
            </a:r>
            <a:r>
              <a:rPr lang="fr-FR" sz="1800" dirty="0"/>
              <a:t>détruire et reconstruire des environnements à volonté pour mes étudiants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r>
              <a:rPr lang="fr-FR" dirty="0"/>
              <a:t>OpenStack, c'est quoi ?</a:t>
            </a:r>
          </a:p>
        </p:txBody>
      </p:sp>
      <p:sp>
        <p:nvSpPr>
          <p:cNvPr id="3" name="Definition 3"/>
          <p:cNvSpPr/>
          <p:nvPr/>
        </p:nvSpPr>
        <p:spPr>
          <a:xfrm>
            <a:off x="1371600" y="1828800"/>
            <a:ext cx="9921240" cy="548640"/>
          </a:xfrm>
          <a:prstGeom prst="rect">
            <a:avLst/>
          </a:prstGeom>
          <a:noFill/>
          <a:ln>
            <a:noFill/>
          </a:ln>
        </p:spPr>
        <p:txBody>
          <a:bodyPr wrap="square" lIns="0" tIns="91440" rIns="91440" bIns="91440" rtlCol="0" anchor="ctr">
            <a:noAutofit/>
          </a:bodyPr>
          <a:lstStyle/>
          <a:p>
            <a:pPr marL="0" indent="0" algn="ctr">
              <a:spcBef>
                <a:spcPts val="0"/>
              </a:spcBef>
              <a:spcAft>
                <a:spcPts val="0"/>
              </a:spcAft>
              <a:buNone/>
            </a:pPr>
            <a:r>
              <a:rPr lang="fr-FR" sz="1400" b="1" dirty="0">
                <a:solidFill>
                  <a:schemeClr val="tx2"/>
                </a:solidFill>
              </a:rPr>
              <a:t>Une solution de cloud privé entièrement open source : </a:t>
            </a:r>
            <a:r>
              <a:rPr lang="fr-FR" sz="1400" dirty="0">
                <a:solidFill>
                  <a:schemeClr val="tx2"/>
                </a:solidFill>
              </a:rPr>
              <a:t>le pendant libre d'AWS, Azure ou GCP, que l'on héberge soi-même</a:t>
            </a:r>
          </a:p>
        </p:txBody>
      </p:sp>
      <p:sp>
        <p:nvSpPr>
          <p:cNvPr id="4" name="Frise 4"/>
          <p:cNvSpPr/>
          <p:nvPr/>
        </p:nvSpPr>
        <p:spPr>
          <a:xfrm>
            <a:off x="1371600" y="4270248"/>
            <a:ext cx="9921240" cy="54864"/>
          </a:xfrm>
          <a:prstGeom prst="rect">
            <a:avLst/>
          </a:prstGeom>
          <a:solidFill>
            <a:schemeClr val="accent1"/>
          </a:solidFill>
          <a:ln>
            <a:noFill/>
          </a:ln>
        </p:spPr>
        <p:txBody>
          <a:bodyPr wrap="square" lIns="73152" tIns="73152" rIns="73152" bIns="73152" rtlCol="0" anchor="t">
            <a:noAutofit/>
          </a:bodyPr>
          <a:lstStyle/>
          <a:p>
            <a:endParaRPr lang="fr-FR"/>
          </a:p>
        </p:txBody>
      </p:sp>
      <p:sp>
        <p:nvSpPr>
          <p:cNvPr id="5" name="Jalon 5"/>
          <p:cNvSpPr/>
          <p:nvPr/>
        </p:nvSpPr>
        <p:spPr>
          <a:xfrm>
            <a:off x="1767332" y="4142232"/>
            <a:ext cx="310896" cy="310896"/>
          </a:xfrm>
          <a:prstGeom prst="ellipse">
            <a:avLst/>
          </a:prstGeom>
          <a:solidFill>
            <a:schemeClr val="accent2"/>
          </a:solidFill>
          <a:ln w="19050">
            <a:solidFill>
              <a:schemeClr val="tx2"/>
            </a:solidFill>
          </a:ln>
        </p:spPr>
        <p:txBody>
          <a:bodyPr wrap="square" lIns="73152" tIns="73152" rIns="73152" bIns="73152" rtlCol="0" anchor="t">
            <a:noAutofit/>
          </a:bodyPr>
          <a:lstStyle/>
          <a:p>
            <a:endParaRPr lang="fr-FR"/>
          </a:p>
        </p:txBody>
      </p:sp>
      <p:sp>
        <p:nvSpPr>
          <p:cNvPr id="6" name="Tige 6"/>
          <p:cNvSpPr/>
          <p:nvPr/>
        </p:nvSpPr>
        <p:spPr>
          <a:xfrm>
            <a:off x="1913636" y="3794760"/>
            <a:ext cx="18288" cy="347472"/>
          </a:xfrm>
          <a:prstGeom prst="rect">
            <a:avLst/>
          </a:prstGeom>
          <a:solidFill>
            <a:schemeClr val="accent1"/>
          </a:solidFill>
          <a:ln>
            <a:noFill/>
          </a:ln>
        </p:spPr>
        <p:txBody>
          <a:bodyPr wrap="square" lIns="73152" tIns="73152" rIns="73152" bIns="73152" rtlCol="0" anchor="t">
            <a:noAutofit/>
          </a:bodyPr>
          <a:lstStyle/>
          <a:p>
            <a:endParaRPr lang="fr-FR"/>
          </a:p>
        </p:txBody>
      </p:sp>
      <p:sp>
        <p:nvSpPr>
          <p:cNvPr id="7" name="Texte 7"/>
          <p:cNvSpPr txBox="1"/>
          <p:nvPr/>
        </p:nvSpPr>
        <p:spPr>
          <a:xfrm>
            <a:off x="985520" y="2606040"/>
            <a:ext cx="1874520" cy="1188720"/>
          </a:xfrm>
          <a:prstGeom prst="rect">
            <a:avLst/>
          </a:prstGeom>
          <a:noFill/>
        </p:spPr>
        <p:txBody>
          <a:bodyPr wrap="square" lIns="0" tIns="0" rIns="0" bIns="0" rtlCol="0" anchor="b">
            <a:noAutofit/>
          </a:bodyPr>
          <a:lstStyle/>
          <a:p>
            <a:pPr marL="0" indent="0" algn="ctr">
              <a:spcBef>
                <a:spcPts val="0"/>
              </a:spcBef>
              <a:spcAft>
                <a:spcPts val="200"/>
              </a:spcAft>
              <a:buNone/>
            </a:pPr>
            <a:r>
              <a:rPr lang="fr-FR" sz="1500" b="1" dirty="0"/>
              <a:t>Juil. 2010</a:t>
            </a:r>
          </a:p>
          <a:p>
            <a:pPr marL="0" indent="0" algn="ctr">
              <a:spcBef>
                <a:spcPts val="0"/>
              </a:spcBef>
              <a:spcAft>
                <a:spcPts val="0"/>
              </a:spcAft>
              <a:buNone/>
            </a:pPr>
            <a:r>
              <a:rPr lang="fr-FR" sz="1100" dirty="0"/>
              <a:t>La NASA et Rackspace lancent le projet</a:t>
            </a:r>
          </a:p>
        </p:txBody>
      </p:sp>
      <p:sp>
        <p:nvSpPr>
          <p:cNvPr id="8" name="Jalon 8"/>
          <p:cNvSpPr/>
          <p:nvPr/>
        </p:nvSpPr>
        <p:spPr>
          <a:xfrm>
            <a:off x="2869692" y="4142232"/>
            <a:ext cx="310896" cy="310896"/>
          </a:xfrm>
          <a:prstGeom prst="ellipse">
            <a:avLst/>
          </a:prstGeom>
          <a:solidFill>
            <a:schemeClr val="accent2"/>
          </a:solidFill>
          <a:ln w="19050">
            <a:solidFill>
              <a:schemeClr val="tx2"/>
            </a:solidFill>
          </a:ln>
        </p:spPr>
        <p:txBody>
          <a:bodyPr wrap="square" lIns="73152" tIns="73152" rIns="73152" bIns="73152" rtlCol="0" anchor="t">
            <a:noAutofit/>
          </a:bodyPr>
          <a:lstStyle/>
          <a:p>
            <a:endParaRPr lang="fr-FR"/>
          </a:p>
        </p:txBody>
      </p:sp>
      <p:sp>
        <p:nvSpPr>
          <p:cNvPr id="9" name="Tige 9"/>
          <p:cNvSpPr/>
          <p:nvPr/>
        </p:nvSpPr>
        <p:spPr>
          <a:xfrm>
            <a:off x="3015996" y="4453128"/>
            <a:ext cx="18288" cy="347472"/>
          </a:xfrm>
          <a:prstGeom prst="rect">
            <a:avLst/>
          </a:prstGeom>
          <a:solidFill>
            <a:schemeClr val="accent1"/>
          </a:solidFill>
          <a:ln>
            <a:noFill/>
          </a:ln>
        </p:spPr>
        <p:txBody>
          <a:bodyPr wrap="square" lIns="73152" tIns="73152" rIns="73152" bIns="73152" rtlCol="0" anchor="t">
            <a:noAutofit/>
          </a:bodyPr>
          <a:lstStyle/>
          <a:p>
            <a:endParaRPr lang="fr-FR"/>
          </a:p>
        </p:txBody>
      </p:sp>
      <p:sp>
        <p:nvSpPr>
          <p:cNvPr id="10" name="Texte 10"/>
          <p:cNvSpPr txBox="1"/>
          <p:nvPr/>
        </p:nvSpPr>
        <p:spPr>
          <a:xfrm>
            <a:off x="2087880" y="4846320"/>
            <a:ext cx="1874520" cy="1188720"/>
          </a:xfrm>
          <a:prstGeom prst="rect">
            <a:avLst/>
          </a:prstGeom>
          <a:noFill/>
        </p:spPr>
        <p:txBody>
          <a:bodyPr wrap="square" lIns="0" tIns="0" rIns="0" bIns="0" rtlCol="0" anchor="t">
            <a:noAutofit/>
          </a:bodyPr>
          <a:lstStyle/>
          <a:p>
            <a:pPr marL="0" indent="0" algn="ctr">
              <a:spcBef>
                <a:spcPts val="0"/>
              </a:spcBef>
              <a:spcAft>
                <a:spcPts val="200"/>
              </a:spcAft>
              <a:buNone/>
            </a:pPr>
            <a:r>
              <a:rPr lang="fr-FR" sz="1500" b="1" dirty="0"/>
              <a:t>Oct. 2010</a:t>
            </a:r>
          </a:p>
          <a:p>
            <a:pPr marL="0" indent="0" algn="ctr">
              <a:spcBef>
                <a:spcPts val="0"/>
              </a:spcBef>
              <a:spcAft>
                <a:spcPts val="0"/>
              </a:spcAft>
              <a:buNone/>
            </a:pPr>
            <a:r>
              <a:rPr lang="fr-FR" sz="1100" dirty="0"/>
              <a:t>Première version, « Austin »</a:t>
            </a:r>
          </a:p>
        </p:txBody>
      </p:sp>
      <p:sp>
        <p:nvSpPr>
          <p:cNvPr id="11" name="Jalon 11"/>
          <p:cNvSpPr/>
          <p:nvPr/>
        </p:nvSpPr>
        <p:spPr>
          <a:xfrm>
            <a:off x="3972052" y="4142232"/>
            <a:ext cx="310896" cy="310896"/>
          </a:xfrm>
          <a:prstGeom prst="ellipse">
            <a:avLst/>
          </a:prstGeom>
          <a:solidFill>
            <a:schemeClr val="accent2"/>
          </a:solidFill>
          <a:ln w="19050">
            <a:solidFill>
              <a:schemeClr val="tx2"/>
            </a:solidFill>
          </a:ln>
        </p:spPr>
        <p:txBody>
          <a:bodyPr wrap="square" lIns="73152" tIns="73152" rIns="73152" bIns="73152" rtlCol="0" anchor="t">
            <a:noAutofit/>
          </a:bodyPr>
          <a:lstStyle/>
          <a:p>
            <a:endParaRPr lang="fr-FR"/>
          </a:p>
        </p:txBody>
      </p:sp>
      <p:sp>
        <p:nvSpPr>
          <p:cNvPr id="12" name="Tige 12"/>
          <p:cNvSpPr/>
          <p:nvPr/>
        </p:nvSpPr>
        <p:spPr>
          <a:xfrm>
            <a:off x="4118356" y="3794760"/>
            <a:ext cx="18288" cy="347472"/>
          </a:xfrm>
          <a:prstGeom prst="rect">
            <a:avLst/>
          </a:prstGeom>
          <a:solidFill>
            <a:schemeClr val="accent1"/>
          </a:solidFill>
          <a:ln>
            <a:noFill/>
          </a:ln>
        </p:spPr>
        <p:txBody>
          <a:bodyPr wrap="square" lIns="73152" tIns="73152" rIns="73152" bIns="73152" rtlCol="0" anchor="t">
            <a:noAutofit/>
          </a:bodyPr>
          <a:lstStyle/>
          <a:p>
            <a:endParaRPr lang="fr-FR"/>
          </a:p>
        </p:txBody>
      </p:sp>
      <p:sp>
        <p:nvSpPr>
          <p:cNvPr id="13" name="Texte 13"/>
          <p:cNvSpPr txBox="1"/>
          <p:nvPr/>
        </p:nvSpPr>
        <p:spPr>
          <a:xfrm>
            <a:off x="3190240" y="2606040"/>
            <a:ext cx="1874520" cy="1188720"/>
          </a:xfrm>
          <a:prstGeom prst="rect">
            <a:avLst/>
          </a:prstGeom>
          <a:noFill/>
        </p:spPr>
        <p:txBody>
          <a:bodyPr wrap="square" lIns="0" tIns="0" rIns="0" bIns="0" rtlCol="0" anchor="b">
            <a:noAutofit/>
          </a:bodyPr>
          <a:lstStyle/>
          <a:p>
            <a:pPr marL="0" indent="0" algn="ctr">
              <a:spcBef>
                <a:spcPts val="0"/>
              </a:spcBef>
              <a:spcAft>
                <a:spcPts val="200"/>
              </a:spcAft>
              <a:buNone/>
            </a:pPr>
            <a:r>
              <a:rPr lang="fr-FR" sz="1500" b="1" dirty="0"/>
              <a:t>2012</a:t>
            </a:r>
          </a:p>
          <a:p>
            <a:pPr marL="0" indent="0" algn="ctr">
              <a:spcBef>
                <a:spcPts val="0"/>
              </a:spcBef>
              <a:spcAft>
                <a:spcPts val="0"/>
              </a:spcAft>
              <a:buNone/>
            </a:pPr>
            <a:r>
              <a:rPr lang="fr-FR" sz="1100" dirty="0"/>
              <a:t>Création de l'OpenStack Foundation</a:t>
            </a:r>
          </a:p>
        </p:txBody>
      </p:sp>
      <p:sp>
        <p:nvSpPr>
          <p:cNvPr id="14" name="Jalon 14"/>
          <p:cNvSpPr/>
          <p:nvPr/>
        </p:nvSpPr>
        <p:spPr>
          <a:xfrm>
            <a:off x="5074412" y="4142232"/>
            <a:ext cx="310896" cy="310896"/>
          </a:xfrm>
          <a:prstGeom prst="ellipse">
            <a:avLst/>
          </a:prstGeom>
          <a:solidFill>
            <a:schemeClr val="accent2"/>
          </a:solidFill>
          <a:ln w="19050">
            <a:solidFill>
              <a:schemeClr val="tx2"/>
            </a:solidFill>
          </a:ln>
        </p:spPr>
        <p:txBody>
          <a:bodyPr wrap="square" lIns="73152" tIns="73152" rIns="73152" bIns="73152" rtlCol="0" anchor="t">
            <a:noAutofit/>
          </a:bodyPr>
          <a:lstStyle/>
          <a:p>
            <a:endParaRPr lang="fr-FR"/>
          </a:p>
        </p:txBody>
      </p:sp>
      <p:sp>
        <p:nvSpPr>
          <p:cNvPr id="15" name="Tige 15"/>
          <p:cNvSpPr/>
          <p:nvPr/>
        </p:nvSpPr>
        <p:spPr>
          <a:xfrm>
            <a:off x="5220716" y="4453128"/>
            <a:ext cx="18288" cy="347472"/>
          </a:xfrm>
          <a:prstGeom prst="rect">
            <a:avLst/>
          </a:prstGeom>
          <a:solidFill>
            <a:schemeClr val="accent1"/>
          </a:solidFill>
          <a:ln>
            <a:noFill/>
          </a:ln>
        </p:spPr>
        <p:txBody>
          <a:bodyPr wrap="square" lIns="73152" tIns="73152" rIns="73152" bIns="73152" rtlCol="0" anchor="t">
            <a:noAutofit/>
          </a:bodyPr>
          <a:lstStyle/>
          <a:p>
            <a:endParaRPr lang="fr-FR"/>
          </a:p>
        </p:txBody>
      </p:sp>
      <p:sp>
        <p:nvSpPr>
          <p:cNvPr id="16" name="Texte 16"/>
          <p:cNvSpPr txBox="1"/>
          <p:nvPr/>
        </p:nvSpPr>
        <p:spPr>
          <a:xfrm>
            <a:off x="4292600" y="4846320"/>
            <a:ext cx="1874520" cy="1188720"/>
          </a:xfrm>
          <a:prstGeom prst="rect">
            <a:avLst/>
          </a:prstGeom>
          <a:noFill/>
        </p:spPr>
        <p:txBody>
          <a:bodyPr wrap="square" lIns="0" tIns="0" rIns="0" bIns="0" rtlCol="0" anchor="t">
            <a:noAutofit/>
          </a:bodyPr>
          <a:lstStyle/>
          <a:p>
            <a:pPr marL="0" indent="0" algn="ctr">
              <a:spcBef>
                <a:spcPts val="0"/>
              </a:spcBef>
              <a:spcAft>
                <a:spcPts val="200"/>
              </a:spcAft>
              <a:buNone/>
            </a:pPr>
            <a:r>
              <a:rPr lang="fr-FR" sz="1500" b="1" dirty="0"/>
              <a:t>2013</a:t>
            </a:r>
          </a:p>
          <a:p>
            <a:pPr marL="0" indent="0" algn="ctr">
              <a:spcBef>
                <a:spcPts val="0"/>
              </a:spcBef>
              <a:spcAft>
                <a:spcPts val="0"/>
              </a:spcAft>
              <a:buNone/>
            </a:pPr>
            <a:r>
              <a:rPr lang="fr-FR" sz="1100" dirty="0"/>
              <a:t>Havana, première version vraiment exploitable</a:t>
            </a:r>
          </a:p>
        </p:txBody>
      </p:sp>
      <p:sp>
        <p:nvSpPr>
          <p:cNvPr id="17" name="Jalon 17"/>
          <p:cNvSpPr/>
          <p:nvPr/>
        </p:nvSpPr>
        <p:spPr>
          <a:xfrm>
            <a:off x="6176772" y="4142232"/>
            <a:ext cx="310896" cy="310896"/>
          </a:xfrm>
          <a:prstGeom prst="ellipse">
            <a:avLst/>
          </a:prstGeom>
          <a:solidFill>
            <a:schemeClr val="accent2"/>
          </a:solidFill>
          <a:ln w="19050">
            <a:solidFill>
              <a:schemeClr val="tx2"/>
            </a:solidFill>
          </a:ln>
        </p:spPr>
        <p:txBody>
          <a:bodyPr wrap="square" lIns="73152" tIns="73152" rIns="73152" bIns="73152" rtlCol="0" anchor="t">
            <a:noAutofit/>
          </a:bodyPr>
          <a:lstStyle/>
          <a:p>
            <a:endParaRPr lang="fr-FR"/>
          </a:p>
        </p:txBody>
      </p:sp>
      <p:sp>
        <p:nvSpPr>
          <p:cNvPr id="18" name="Tige 18"/>
          <p:cNvSpPr/>
          <p:nvPr/>
        </p:nvSpPr>
        <p:spPr>
          <a:xfrm>
            <a:off x="6323076" y="3794760"/>
            <a:ext cx="18288" cy="347472"/>
          </a:xfrm>
          <a:prstGeom prst="rect">
            <a:avLst/>
          </a:prstGeom>
          <a:solidFill>
            <a:schemeClr val="accent1"/>
          </a:solidFill>
          <a:ln>
            <a:noFill/>
          </a:ln>
        </p:spPr>
        <p:txBody>
          <a:bodyPr wrap="square" lIns="73152" tIns="73152" rIns="73152" bIns="73152" rtlCol="0" anchor="t">
            <a:noAutofit/>
          </a:bodyPr>
          <a:lstStyle/>
          <a:p>
            <a:endParaRPr lang="fr-FR"/>
          </a:p>
        </p:txBody>
      </p:sp>
      <p:sp>
        <p:nvSpPr>
          <p:cNvPr id="19" name="Texte 19"/>
          <p:cNvSpPr txBox="1"/>
          <p:nvPr/>
        </p:nvSpPr>
        <p:spPr>
          <a:xfrm>
            <a:off x="5394960" y="2606040"/>
            <a:ext cx="1874520" cy="1188720"/>
          </a:xfrm>
          <a:prstGeom prst="rect">
            <a:avLst/>
          </a:prstGeom>
          <a:noFill/>
        </p:spPr>
        <p:txBody>
          <a:bodyPr wrap="square" lIns="0" tIns="0" rIns="0" bIns="0" rtlCol="0" anchor="b">
            <a:noAutofit/>
          </a:bodyPr>
          <a:lstStyle/>
          <a:p>
            <a:pPr marL="0" indent="0" algn="ctr">
              <a:spcBef>
                <a:spcPts val="0"/>
              </a:spcBef>
              <a:spcAft>
                <a:spcPts val="200"/>
              </a:spcAft>
              <a:buNone/>
            </a:pPr>
            <a:r>
              <a:rPr lang="fr-FR" sz="1500" b="1" dirty="0"/>
              <a:t>2021</a:t>
            </a:r>
          </a:p>
          <a:p>
            <a:pPr marL="0" indent="0" algn="ctr">
              <a:spcBef>
                <a:spcPts val="0"/>
              </a:spcBef>
              <a:spcAft>
                <a:spcPts val="0"/>
              </a:spcAft>
              <a:buNone/>
            </a:pPr>
            <a:r>
              <a:rPr lang="fr-FR" sz="1100" dirty="0"/>
              <a:t>La fondation devient l'OpenInfra Foundation</a:t>
            </a:r>
          </a:p>
        </p:txBody>
      </p:sp>
      <p:sp>
        <p:nvSpPr>
          <p:cNvPr id="20" name="Jalon 20"/>
          <p:cNvSpPr/>
          <p:nvPr/>
        </p:nvSpPr>
        <p:spPr>
          <a:xfrm>
            <a:off x="7279132" y="4142232"/>
            <a:ext cx="310896" cy="310896"/>
          </a:xfrm>
          <a:prstGeom prst="ellipse">
            <a:avLst/>
          </a:prstGeom>
          <a:solidFill>
            <a:schemeClr val="accent2"/>
          </a:solidFill>
          <a:ln w="19050">
            <a:solidFill>
              <a:schemeClr val="tx2"/>
            </a:solidFill>
          </a:ln>
        </p:spPr>
        <p:txBody>
          <a:bodyPr wrap="square" lIns="73152" tIns="73152" rIns="73152" bIns="73152" rtlCol="0" anchor="t">
            <a:noAutofit/>
          </a:bodyPr>
          <a:lstStyle/>
          <a:p>
            <a:endParaRPr lang="fr-FR"/>
          </a:p>
        </p:txBody>
      </p:sp>
      <p:sp>
        <p:nvSpPr>
          <p:cNvPr id="21" name="Tige 21"/>
          <p:cNvSpPr/>
          <p:nvPr/>
        </p:nvSpPr>
        <p:spPr>
          <a:xfrm>
            <a:off x="7425436" y="4453128"/>
            <a:ext cx="18288" cy="347472"/>
          </a:xfrm>
          <a:prstGeom prst="rect">
            <a:avLst/>
          </a:prstGeom>
          <a:solidFill>
            <a:schemeClr val="accent1"/>
          </a:solidFill>
          <a:ln>
            <a:noFill/>
          </a:ln>
        </p:spPr>
        <p:txBody>
          <a:bodyPr wrap="square" lIns="73152" tIns="73152" rIns="73152" bIns="73152" rtlCol="0" anchor="t">
            <a:noAutofit/>
          </a:bodyPr>
          <a:lstStyle/>
          <a:p>
            <a:endParaRPr lang="fr-FR"/>
          </a:p>
        </p:txBody>
      </p:sp>
      <p:sp>
        <p:nvSpPr>
          <p:cNvPr id="22" name="Texte 22"/>
          <p:cNvSpPr txBox="1"/>
          <p:nvPr/>
        </p:nvSpPr>
        <p:spPr>
          <a:xfrm>
            <a:off x="6497320" y="4846320"/>
            <a:ext cx="1874520" cy="1188720"/>
          </a:xfrm>
          <a:prstGeom prst="rect">
            <a:avLst/>
          </a:prstGeom>
          <a:noFill/>
        </p:spPr>
        <p:txBody>
          <a:bodyPr wrap="square" lIns="0" tIns="0" rIns="0" bIns="0" rtlCol="0" anchor="t">
            <a:noAutofit/>
          </a:bodyPr>
          <a:lstStyle/>
          <a:p>
            <a:pPr marL="0" indent="0" algn="ctr">
              <a:spcBef>
                <a:spcPts val="0"/>
              </a:spcBef>
              <a:spcAft>
                <a:spcPts val="200"/>
              </a:spcAft>
              <a:buNone/>
            </a:pPr>
            <a:r>
              <a:rPr lang="fr-FR" sz="1500" b="1" dirty="0"/>
              <a:t>2022</a:t>
            </a:r>
          </a:p>
          <a:p>
            <a:pPr marL="0" indent="0" algn="ctr">
              <a:spcBef>
                <a:spcPts val="0"/>
              </a:spcBef>
              <a:spcAft>
                <a:spcPts val="0"/>
              </a:spcAft>
              <a:buNone/>
            </a:pPr>
            <a:r>
              <a:rPr lang="fr-FR" sz="1100" dirty="0"/>
              <a:t>Plus de 40 millions de cœurs en production</a:t>
            </a:r>
          </a:p>
        </p:txBody>
      </p:sp>
      <p:sp>
        <p:nvSpPr>
          <p:cNvPr id="23" name="Jalon 23"/>
          <p:cNvSpPr/>
          <p:nvPr/>
        </p:nvSpPr>
        <p:spPr>
          <a:xfrm>
            <a:off x="8381492" y="4142232"/>
            <a:ext cx="310896" cy="310896"/>
          </a:xfrm>
          <a:prstGeom prst="ellipse">
            <a:avLst/>
          </a:prstGeom>
          <a:solidFill>
            <a:schemeClr val="accent2"/>
          </a:solidFill>
          <a:ln w="19050">
            <a:solidFill>
              <a:schemeClr val="tx2"/>
            </a:solidFill>
          </a:ln>
        </p:spPr>
        <p:txBody>
          <a:bodyPr wrap="square" lIns="73152" tIns="73152" rIns="73152" bIns="73152" rtlCol="0" anchor="t">
            <a:noAutofit/>
          </a:bodyPr>
          <a:lstStyle/>
          <a:p>
            <a:endParaRPr lang="fr-FR"/>
          </a:p>
        </p:txBody>
      </p:sp>
      <p:sp>
        <p:nvSpPr>
          <p:cNvPr id="24" name="Tige 24"/>
          <p:cNvSpPr/>
          <p:nvPr/>
        </p:nvSpPr>
        <p:spPr>
          <a:xfrm>
            <a:off x="8527796" y="3794760"/>
            <a:ext cx="18288" cy="347472"/>
          </a:xfrm>
          <a:prstGeom prst="rect">
            <a:avLst/>
          </a:prstGeom>
          <a:solidFill>
            <a:schemeClr val="accent1"/>
          </a:solidFill>
          <a:ln>
            <a:noFill/>
          </a:ln>
        </p:spPr>
        <p:txBody>
          <a:bodyPr wrap="square" lIns="73152" tIns="73152" rIns="73152" bIns="73152" rtlCol="0" anchor="t">
            <a:noAutofit/>
          </a:bodyPr>
          <a:lstStyle/>
          <a:p>
            <a:endParaRPr lang="fr-FR"/>
          </a:p>
        </p:txBody>
      </p:sp>
      <p:sp>
        <p:nvSpPr>
          <p:cNvPr id="25" name="Texte 25"/>
          <p:cNvSpPr txBox="1"/>
          <p:nvPr/>
        </p:nvSpPr>
        <p:spPr>
          <a:xfrm>
            <a:off x="7599680" y="2606040"/>
            <a:ext cx="1874520" cy="1188720"/>
          </a:xfrm>
          <a:prstGeom prst="rect">
            <a:avLst/>
          </a:prstGeom>
          <a:noFill/>
        </p:spPr>
        <p:txBody>
          <a:bodyPr wrap="square" lIns="0" tIns="0" rIns="0" bIns="0" rtlCol="0" anchor="b">
            <a:noAutofit/>
          </a:bodyPr>
          <a:lstStyle/>
          <a:p>
            <a:pPr marL="0" indent="0" algn="ctr">
              <a:spcBef>
                <a:spcPts val="0"/>
              </a:spcBef>
              <a:spcAft>
                <a:spcPts val="200"/>
              </a:spcAft>
              <a:buNone/>
            </a:pPr>
            <a:r>
              <a:rPr lang="fr-FR" sz="1500" b="1" dirty="0"/>
              <a:t>2023</a:t>
            </a:r>
          </a:p>
          <a:p>
            <a:pPr marL="0" indent="0" algn="ctr">
              <a:spcBef>
                <a:spcPts val="0"/>
              </a:spcBef>
              <a:spcAft>
                <a:spcPts val="0"/>
              </a:spcAft>
              <a:buNone/>
            </a:pPr>
            <a:r>
              <a:rPr lang="fr-FR" sz="1100" dirty="0"/>
              <a:t>Versions nommées par année (2023.1 « Antelope »), une tous les 6 mois</a:t>
            </a:r>
          </a:p>
        </p:txBody>
      </p:sp>
      <p:sp>
        <p:nvSpPr>
          <p:cNvPr id="26" name="Jalon 26"/>
          <p:cNvSpPr/>
          <p:nvPr/>
        </p:nvSpPr>
        <p:spPr>
          <a:xfrm>
            <a:off x="9483852" y="4142232"/>
            <a:ext cx="310896" cy="310896"/>
          </a:xfrm>
          <a:prstGeom prst="ellipse">
            <a:avLst/>
          </a:prstGeom>
          <a:solidFill>
            <a:schemeClr val="accent2"/>
          </a:solidFill>
          <a:ln w="19050">
            <a:solidFill>
              <a:schemeClr val="tx2"/>
            </a:solidFill>
          </a:ln>
        </p:spPr>
        <p:txBody>
          <a:bodyPr wrap="square" lIns="73152" tIns="73152" rIns="73152" bIns="73152" rtlCol="0" anchor="t">
            <a:noAutofit/>
          </a:bodyPr>
          <a:lstStyle/>
          <a:p>
            <a:endParaRPr lang="fr-FR"/>
          </a:p>
        </p:txBody>
      </p:sp>
      <p:sp>
        <p:nvSpPr>
          <p:cNvPr id="27" name="Tige 27"/>
          <p:cNvSpPr/>
          <p:nvPr/>
        </p:nvSpPr>
        <p:spPr>
          <a:xfrm>
            <a:off x="9630156" y="4453128"/>
            <a:ext cx="18288" cy="347472"/>
          </a:xfrm>
          <a:prstGeom prst="rect">
            <a:avLst/>
          </a:prstGeom>
          <a:solidFill>
            <a:schemeClr val="accent1"/>
          </a:solidFill>
          <a:ln>
            <a:noFill/>
          </a:ln>
        </p:spPr>
        <p:txBody>
          <a:bodyPr wrap="square" lIns="73152" tIns="73152" rIns="73152" bIns="73152" rtlCol="0" anchor="t">
            <a:noAutofit/>
          </a:bodyPr>
          <a:lstStyle/>
          <a:p>
            <a:endParaRPr lang="fr-FR"/>
          </a:p>
        </p:txBody>
      </p:sp>
      <p:sp>
        <p:nvSpPr>
          <p:cNvPr id="28" name="Texte 28"/>
          <p:cNvSpPr txBox="1"/>
          <p:nvPr/>
        </p:nvSpPr>
        <p:spPr>
          <a:xfrm>
            <a:off x="8702040" y="4846320"/>
            <a:ext cx="1874520" cy="1188720"/>
          </a:xfrm>
          <a:prstGeom prst="rect">
            <a:avLst/>
          </a:prstGeom>
          <a:noFill/>
        </p:spPr>
        <p:txBody>
          <a:bodyPr wrap="square" lIns="0" tIns="0" rIns="0" bIns="0" rtlCol="0" anchor="t">
            <a:noAutofit/>
          </a:bodyPr>
          <a:lstStyle/>
          <a:p>
            <a:pPr marL="0" indent="0" algn="ctr">
              <a:spcBef>
                <a:spcPts val="0"/>
              </a:spcBef>
              <a:spcAft>
                <a:spcPts val="200"/>
              </a:spcAft>
              <a:buNone/>
            </a:pPr>
            <a:r>
              <a:rPr lang="fr-FR" sz="1500" b="1" dirty="0"/>
              <a:t>2025</a:t>
            </a:r>
          </a:p>
          <a:p>
            <a:pPr marL="0" indent="0" algn="ctr">
              <a:spcBef>
                <a:spcPts val="0"/>
              </a:spcBef>
              <a:spcAft>
                <a:spcPts val="0"/>
              </a:spcAft>
              <a:buNone/>
            </a:pPr>
            <a:r>
              <a:rPr lang="fr-FR" sz="1100" dirty="0"/>
              <a:t>L'OpenInfra Foundation rejoint la Linux Foundation</a:t>
            </a:r>
          </a:p>
        </p:txBody>
      </p:sp>
      <p:sp>
        <p:nvSpPr>
          <p:cNvPr id="29" name="Jalon 29"/>
          <p:cNvSpPr/>
          <p:nvPr/>
        </p:nvSpPr>
        <p:spPr>
          <a:xfrm>
            <a:off x="10586212" y="4142232"/>
            <a:ext cx="310896" cy="310896"/>
          </a:xfrm>
          <a:prstGeom prst="ellipse">
            <a:avLst/>
          </a:prstGeom>
          <a:solidFill>
            <a:schemeClr val="accent6"/>
          </a:solidFill>
          <a:ln w="19050">
            <a:solidFill>
              <a:schemeClr val="tx2"/>
            </a:solidFill>
          </a:ln>
        </p:spPr>
        <p:txBody>
          <a:bodyPr wrap="square" lIns="73152" tIns="73152" rIns="73152" bIns="73152" rtlCol="0" anchor="t">
            <a:noAutofit/>
          </a:bodyPr>
          <a:lstStyle/>
          <a:p>
            <a:endParaRPr lang="fr-FR"/>
          </a:p>
        </p:txBody>
      </p:sp>
      <p:sp>
        <p:nvSpPr>
          <p:cNvPr id="30" name="Tige 30"/>
          <p:cNvSpPr/>
          <p:nvPr/>
        </p:nvSpPr>
        <p:spPr>
          <a:xfrm>
            <a:off x="10732516" y="3794760"/>
            <a:ext cx="18288" cy="347472"/>
          </a:xfrm>
          <a:prstGeom prst="rect">
            <a:avLst/>
          </a:prstGeom>
          <a:solidFill>
            <a:schemeClr val="accent1"/>
          </a:solidFill>
          <a:ln>
            <a:noFill/>
          </a:ln>
        </p:spPr>
        <p:txBody>
          <a:bodyPr wrap="square" lIns="73152" tIns="73152" rIns="73152" bIns="73152" rtlCol="0" anchor="t">
            <a:noAutofit/>
          </a:bodyPr>
          <a:lstStyle/>
          <a:p>
            <a:endParaRPr lang="fr-FR"/>
          </a:p>
        </p:txBody>
      </p:sp>
      <p:sp>
        <p:nvSpPr>
          <p:cNvPr id="31" name="Texte 31"/>
          <p:cNvSpPr txBox="1"/>
          <p:nvPr/>
        </p:nvSpPr>
        <p:spPr>
          <a:xfrm>
            <a:off x="9804400" y="2606040"/>
            <a:ext cx="1874520" cy="1188720"/>
          </a:xfrm>
          <a:prstGeom prst="rect">
            <a:avLst/>
          </a:prstGeom>
          <a:noFill/>
        </p:spPr>
        <p:txBody>
          <a:bodyPr wrap="square" lIns="0" tIns="0" rIns="0" bIns="0" rtlCol="0" anchor="b">
            <a:noAutofit/>
          </a:bodyPr>
          <a:lstStyle/>
          <a:p>
            <a:pPr marL="0" indent="0" algn="ctr">
              <a:spcBef>
                <a:spcPts val="0"/>
              </a:spcBef>
              <a:spcAft>
                <a:spcPts val="200"/>
              </a:spcAft>
              <a:buNone/>
            </a:pPr>
            <a:r>
              <a:rPr lang="fr-FR" sz="1500" b="1" dirty="0"/>
              <a:t>Avr. 2026</a:t>
            </a:r>
          </a:p>
          <a:p>
            <a:pPr marL="0" indent="0" algn="ctr">
              <a:spcBef>
                <a:spcPts val="0"/>
              </a:spcBef>
              <a:spcAft>
                <a:spcPts val="0"/>
              </a:spcAft>
              <a:buNone/>
            </a:pPr>
            <a:r>
              <a:rPr lang="fr-FR" sz="1100" dirty="0"/>
              <a:t>2026.1 « Gazpacho » : la version de mon lab</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r>
              <a:rPr lang="fr-FR" dirty="0"/>
              <a:t>Pourquoi l'adopter ?</a:t>
            </a:r>
          </a:p>
        </p:txBody>
      </p:sp>
      <p:sp>
        <p:nvSpPr>
          <p:cNvPr id="3" name="Texte 3"/>
          <p:cNvSpPr txBox="1"/>
          <p:nvPr/>
        </p:nvSpPr>
        <p:spPr>
          <a:xfrm>
            <a:off x="1371600" y="1965960"/>
            <a:ext cx="6035040" cy="548640"/>
          </a:xfrm>
          <a:prstGeom prst="rect">
            <a:avLst/>
          </a:prstGeom>
          <a:noFill/>
        </p:spPr>
        <p:txBody>
          <a:bodyPr wrap="square" lIns="0" tIns="0" rIns="0" bIns="0" rtlCol="0" anchor="ctr">
            <a:noAutofit/>
          </a:bodyPr>
          <a:lstStyle/>
          <a:p>
            <a:pPr marL="228600" indent="-228600" algn="l">
              <a:spcBef>
                <a:spcPts val="0"/>
              </a:spcBef>
              <a:spcAft>
                <a:spcPts val="0"/>
              </a:spcAft>
              <a:buFont typeface="Arial"/>
              <a:buChar char="•"/>
            </a:pPr>
            <a:r>
              <a:rPr lang="fr-FR" sz="1500" b="1" dirty="0">
                <a:solidFill>
                  <a:schemeClr val="tx2"/>
                </a:solidFill>
              </a:rPr>
              <a:t>Tout est API : </a:t>
            </a:r>
            <a:r>
              <a:rPr lang="fr-FR" sz="1400" dirty="0"/>
              <a:t>l'infrastructure se pilote en code (IaC) avec Terraform / OpenTofu, Ansible…</a:t>
            </a:r>
          </a:p>
        </p:txBody>
      </p:sp>
      <p:sp>
        <p:nvSpPr>
          <p:cNvPr id="4" name="Texte 4"/>
          <p:cNvSpPr txBox="1"/>
          <p:nvPr/>
        </p:nvSpPr>
        <p:spPr>
          <a:xfrm>
            <a:off x="1371600" y="2514600"/>
            <a:ext cx="6035040" cy="548640"/>
          </a:xfrm>
          <a:prstGeom prst="rect">
            <a:avLst/>
          </a:prstGeom>
          <a:noFill/>
        </p:spPr>
        <p:txBody>
          <a:bodyPr wrap="square" lIns="0" tIns="0" rIns="0" bIns="0" rtlCol="0" anchor="ctr">
            <a:noAutofit/>
          </a:bodyPr>
          <a:lstStyle/>
          <a:p>
            <a:pPr marL="228600" indent="-228600" algn="l">
              <a:spcBef>
                <a:spcPts val="0"/>
              </a:spcBef>
              <a:spcAft>
                <a:spcPts val="0"/>
              </a:spcAft>
              <a:buFont typeface="Arial"/>
              <a:buChar char="•"/>
            </a:pPr>
            <a:r>
              <a:rPr lang="fr-FR" sz="1500" b="1" dirty="0">
                <a:solidFill>
                  <a:schemeClr val="tx2"/>
                </a:solidFill>
              </a:rPr>
              <a:t>Open source et gratuit : </a:t>
            </a:r>
            <a:r>
              <a:rPr lang="fr-FR" sz="1400" dirty="0"/>
              <a:t>aucune licence, un code que l'on peut lire et modifier</a:t>
            </a:r>
          </a:p>
        </p:txBody>
      </p:sp>
      <p:sp>
        <p:nvSpPr>
          <p:cNvPr id="5" name="Texte 5"/>
          <p:cNvSpPr txBox="1"/>
          <p:nvPr/>
        </p:nvSpPr>
        <p:spPr>
          <a:xfrm>
            <a:off x="1371600" y="3063240"/>
            <a:ext cx="6035040" cy="548640"/>
          </a:xfrm>
          <a:prstGeom prst="rect">
            <a:avLst/>
          </a:prstGeom>
          <a:noFill/>
        </p:spPr>
        <p:txBody>
          <a:bodyPr wrap="square" lIns="0" tIns="0" rIns="0" bIns="0" rtlCol="0" anchor="ctr">
            <a:noAutofit/>
          </a:bodyPr>
          <a:lstStyle/>
          <a:p>
            <a:pPr marL="228600" indent="-228600" algn="l">
              <a:spcBef>
                <a:spcPts val="0"/>
              </a:spcBef>
              <a:spcAft>
                <a:spcPts val="0"/>
              </a:spcAft>
              <a:buFont typeface="Arial"/>
              <a:buChar char="•"/>
            </a:pPr>
            <a:r>
              <a:rPr lang="fr-FR" sz="1500" b="1" dirty="0">
                <a:solidFill>
                  <a:schemeClr val="tx2"/>
                </a:solidFill>
              </a:rPr>
              <a:t>Du support si besoin : </a:t>
            </a:r>
            <a:r>
              <a:rPr lang="fr-FR" sz="1400" dirty="0"/>
              <a:t>Red Hat (RHOSP), Canonical… et le soutien de Cisco, Dell, HP</a:t>
            </a:r>
          </a:p>
        </p:txBody>
      </p:sp>
      <p:sp>
        <p:nvSpPr>
          <p:cNvPr id="6" name="Texte 6"/>
          <p:cNvSpPr txBox="1"/>
          <p:nvPr/>
        </p:nvSpPr>
        <p:spPr>
          <a:xfrm>
            <a:off x="1371600" y="3611880"/>
            <a:ext cx="6035040" cy="548640"/>
          </a:xfrm>
          <a:prstGeom prst="rect">
            <a:avLst/>
          </a:prstGeom>
          <a:noFill/>
        </p:spPr>
        <p:txBody>
          <a:bodyPr wrap="square" lIns="0" tIns="0" rIns="0" bIns="0" rtlCol="0" anchor="ctr">
            <a:noAutofit/>
          </a:bodyPr>
          <a:lstStyle/>
          <a:p>
            <a:pPr marL="228600" indent="-228600" algn="l">
              <a:spcBef>
                <a:spcPts val="0"/>
              </a:spcBef>
              <a:spcAft>
                <a:spcPts val="0"/>
              </a:spcAft>
              <a:buFont typeface="Arial"/>
              <a:buChar char="•"/>
            </a:pPr>
            <a:r>
              <a:rPr lang="fr-FR" sz="1500" b="1" dirty="0">
                <a:solidFill>
                  <a:schemeClr val="tx2"/>
                </a:solidFill>
              </a:rPr>
              <a:t>Souveraineté : </a:t>
            </a:r>
            <a:r>
              <a:rPr lang="fr-FR" sz="1400" dirty="0"/>
              <a:t>on garde la maîtrise de ses environnements et de ses données</a:t>
            </a:r>
          </a:p>
        </p:txBody>
      </p:sp>
      <p:sp>
        <p:nvSpPr>
          <p:cNvPr id="7" name="Texte 7"/>
          <p:cNvSpPr txBox="1"/>
          <p:nvPr/>
        </p:nvSpPr>
        <p:spPr>
          <a:xfrm>
            <a:off x="1371600" y="4160520"/>
            <a:ext cx="6035040" cy="548640"/>
          </a:xfrm>
          <a:prstGeom prst="rect">
            <a:avLst/>
          </a:prstGeom>
          <a:noFill/>
        </p:spPr>
        <p:txBody>
          <a:bodyPr wrap="square" lIns="0" tIns="0" rIns="0" bIns="0" rtlCol="0" anchor="ctr">
            <a:noAutofit/>
          </a:bodyPr>
          <a:lstStyle/>
          <a:p>
            <a:pPr marL="228600" indent="-228600" algn="l">
              <a:spcBef>
                <a:spcPts val="0"/>
              </a:spcBef>
              <a:spcAft>
                <a:spcPts val="0"/>
              </a:spcAft>
              <a:buFont typeface="Arial"/>
              <a:buChar char="•"/>
            </a:pPr>
            <a:r>
              <a:rPr lang="fr-FR" sz="1500" b="1" dirty="0">
                <a:solidFill>
                  <a:schemeClr val="tx2"/>
                </a:solidFill>
              </a:rPr>
              <a:t>Éprouvé à grande échelle : </a:t>
            </a:r>
            <a:r>
              <a:rPr lang="fr-FR" sz="1400" dirty="0"/>
              <a:t>OVHcloud fait tourner son cloud public dessus, le CERN aussi</a:t>
            </a:r>
          </a:p>
        </p:txBody>
      </p:sp>
      <p:sp>
        <p:nvSpPr>
          <p:cNvPr id="8" name="Texte 8"/>
          <p:cNvSpPr txBox="1"/>
          <p:nvPr/>
        </p:nvSpPr>
        <p:spPr>
          <a:xfrm>
            <a:off x="1371600" y="4709160"/>
            <a:ext cx="6035040" cy="548640"/>
          </a:xfrm>
          <a:prstGeom prst="rect">
            <a:avLst/>
          </a:prstGeom>
          <a:noFill/>
        </p:spPr>
        <p:txBody>
          <a:bodyPr wrap="square" lIns="0" tIns="0" rIns="0" bIns="0" rtlCol="0" anchor="ctr">
            <a:noAutofit/>
          </a:bodyPr>
          <a:lstStyle/>
          <a:p>
            <a:pPr marL="228600" indent="-228600" algn="l">
              <a:spcBef>
                <a:spcPts val="0"/>
              </a:spcBef>
              <a:spcAft>
                <a:spcPts val="0"/>
              </a:spcAft>
              <a:buFont typeface="Arial"/>
              <a:buChar char="•"/>
            </a:pPr>
            <a:r>
              <a:rPr lang="fr-FR" sz="1500" b="1" dirty="0">
                <a:solidFill>
                  <a:schemeClr val="tx2"/>
                </a:solidFill>
              </a:rPr>
              <a:t>Modulaire : </a:t>
            </a:r>
            <a:r>
              <a:rPr lang="fr-FR" sz="1400" dirty="0"/>
              <a:t>on n'installe que les services dont on a besoin</a:t>
            </a:r>
          </a:p>
        </p:txBody>
      </p:sp>
      <p:sp>
        <p:nvSpPr>
          <p:cNvPr id="9" name="Texte 9"/>
          <p:cNvSpPr txBox="1"/>
          <p:nvPr/>
        </p:nvSpPr>
        <p:spPr>
          <a:xfrm>
            <a:off x="1371600" y="5257800"/>
            <a:ext cx="6035040" cy="548640"/>
          </a:xfrm>
          <a:prstGeom prst="rect">
            <a:avLst/>
          </a:prstGeom>
          <a:noFill/>
        </p:spPr>
        <p:txBody>
          <a:bodyPr wrap="square" lIns="0" tIns="0" rIns="0" bIns="0" rtlCol="0" anchor="ctr">
            <a:noAutofit/>
          </a:bodyPr>
          <a:lstStyle/>
          <a:p>
            <a:pPr marL="228600" indent="-228600" algn="l">
              <a:spcBef>
                <a:spcPts val="0"/>
              </a:spcBef>
              <a:spcAft>
                <a:spcPts val="0"/>
              </a:spcAft>
              <a:buFont typeface="Arial"/>
              <a:buChar char="•"/>
            </a:pPr>
            <a:r>
              <a:rPr lang="fr-FR" sz="1500" b="1" dirty="0">
                <a:solidFill>
                  <a:schemeClr val="tx2"/>
                </a:solidFill>
              </a:rPr>
              <a:t>Pour comprendre le cloud : </a:t>
            </a:r>
            <a:r>
              <a:rPr lang="fr-FR" sz="1400" dirty="0"/>
              <a:t>toutes les briques d'un cloud public, visibles et manipulables</a:t>
            </a:r>
          </a:p>
        </p:txBody>
      </p:sp>
      <p:sp>
        <p:nvSpPr>
          <p:cNvPr id="10" name="Texte 10"/>
          <p:cNvSpPr txBox="1"/>
          <p:nvPr/>
        </p:nvSpPr>
        <p:spPr>
          <a:xfrm>
            <a:off x="7726680" y="1965960"/>
            <a:ext cx="3566160" cy="320040"/>
          </a:xfrm>
          <a:prstGeom prst="rect">
            <a:avLst/>
          </a:prstGeom>
          <a:noFill/>
        </p:spPr>
        <p:txBody>
          <a:bodyPr wrap="square" lIns="0" tIns="0" rIns="0" bIns="0" rtlCol="0" anchor="t">
            <a:noAutofit/>
          </a:bodyPr>
          <a:lstStyle/>
          <a:p>
            <a:pPr marL="0" indent="0" algn="l">
              <a:spcBef>
                <a:spcPts val="0"/>
              </a:spcBef>
              <a:spcAft>
                <a:spcPts val="0"/>
              </a:spcAft>
              <a:buNone/>
            </a:pPr>
            <a:r>
              <a:rPr lang="fr-FR" sz="1400" b="1" dirty="0"/>
              <a:t>Une VM, décrite en code</a:t>
            </a:r>
          </a:p>
        </p:txBody>
      </p:sp>
      <p:sp>
        <p:nvSpPr>
          <p:cNvPr id="11" name="Code 11"/>
          <p:cNvSpPr/>
          <p:nvPr/>
        </p:nvSpPr>
        <p:spPr>
          <a:xfrm>
            <a:off x="7726680" y="2331720"/>
            <a:ext cx="3566160" cy="1600200"/>
          </a:xfrm>
          <a:prstGeom prst="rect">
            <a:avLst/>
          </a:prstGeom>
          <a:solidFill>
            <a:schemeClr val="tx2"/>
          </a:solidFill>
          <a:ln>
            <a:noFill/>
          </a:ln>
        </p:spPr>
        <p:txBody>
          <a:bodyPr wrap="square" lIns="137160" tIns="137160" rIns="137160" bIns="137160" rtlCol="0" anchor="t">
            <a:noAutofit/>
          </a:bodyPr>
          <a:lstStyle/>
          <a:p>
            <a:pPr marL="0" indent="0" algn="l">
              <a:lnSpc>
                <a:spcPct val="100000"/>
              </a:lnSpc>
              <a:spcBef>
                <a:spcPts val="0"/>
              </a:spcBef>
              <a:spcAft>
                <a:spcPts val="0"/>
              </a:spcAft>
              <a:buNone/>
            </a:pPr>
            <a:r>
              <a:rPr lang="fr-FR" sz="1000" dirty="0">
                <a:solidFill>
                  <a:schemeClr val="bg2"/>
                </a:solidFill>
                <a:latin typeface="Courier New"/>
                <a:cs typeface="Courier New"/>
              </a:rPr>
              <a:t>resource "openstack_compute_instance_v2"</a:t>
            </a:r>
          </a:p>
          <a:p>
            <a:pPr marL="0" indent="0" algn="l">
              <a:lnSpc>
                <a:spcPct val="100000"/>
              </a:lnSpc>
              <a:spcBef>
                <a:spcPts val="0"/>
              </a:spcBef>
              <a:spcAft>
                <a:spcPts val="0"/>
              </a:spcAft>
              <a:buNone/>
            </a:pPr>
            <a:r>
              <a:rPr lang="fr-FR" sz="1000" dirty="0">
                <a:solidFill>
                  <a:schemeClr val="bg2"/>
                </a:solidFill>
                <a:latin typeface="Courier New"/>
                <a:cs typeface="Courier New"/>
              </a:rPr>
              <a:t>         "web" {</a:t>
            </a:r>
          </a:p>
          <a:p>
            <a:pPr marL="0" indent="0" algn="l">
              <a:lnSpc>
                <a:spcPct val="100000"/>
              </a:lnSpc>
              <a:spcBef>
                <a:spcPts val="0"/>
              </a:spcBef>
              <a:spcAft>
                <a:spcPts val="0"/>
              </a:spcAft>
              <a:buNone/>
            </a:pPr>
            <a:r>
              <a:rPr lang="fr-FR" sz="1000" dirty="0">
                <a:solidFill>
                  <a:schemeClr val="bg2"/>
                </a:solidFill>
                <a:latin typeface="Courier New"/>
                <a:cs typeface="Courier New"/>
              </a:rPr>
              <a:t>  name        = "web-01"</a:t>
            </a:r>
          </a:p>
          <a:p>
            <a:pPr marL="0" indent="0" algn="l">
              <a:lnSpc>
                <a:spcPct val="100000"/>
              </a:lnSpc>
              <a:spcBef>
                <a:spcPts val="0"/>
              </a:spcBef>
              <a:spcAft>
                <a:spcPts val="0"/>
              </a:spcAft>
              <a:buNone/>
            </a:pPr>
            <a:r>
              <a:rPr lang="fr-FR" sz="1000" dirty="0">
                <a:solidFill>
                  <a:schemeClr val="bg2"/>
                </a:solidFill>
                <a:latin typeface="Courier New"/>
                <a:cs typeface="Courier New"/>
              </a:rPr>
              <a:t>  image_name  = "ubuntu-24.04"</a:t>
            </a:r>
          </a:p>
          <a:p>
            <a:pPr marL="0" indent="0" algn="l">
              <a:lnSpc>
                <a:spcPct val="100000"/>
              </a:lnSpc>
              <a:spcBef>
                <a:spcPts val="0"/>
              </a:spcBef>
              <a:spcAft>
                <a:spcPts val="0"/>
              </a:spcAft>
              <a:buNone/>
            </a:pPr>
            <a:r>
              <a:rPr lang="fr-FR" sz="1000" dirty="0">
                <a:solidFill>
                  <a:schemeClr val="bg2"/>
                </a:solidFill>
                <a:latin typeface="Courier New"/>
                <a:cs typeface="Courier New"/>
              </a:rPr>
              <a:t>  flavor_name = "m1.small"</a:t>
            </a:r>
          </a:p>
          <a:p>
            <a:pPr marL="0" indent="0" algn="l">
              <a:lnSpc>
                <a:spcPct val="100000"/>
              </a:lnSpc>
              <a:spcBef>
                <a:spcPts val="0"/>
              </a:spcBef>
              <a:spcAft>
                <a:spcPts val="0"/>
              </a:spcAft>
              <a:buNone/>
            </a:pPr>
            <a:r>
              <a:rPr lang="fr-FR" sz="1000" dirty="0">
                <a:solidFill>
                  <a:schemeClr val="bg2"/>
                </a:solidFill>
                <a:latin typeface="Courier New"/>
                <a:cs typeface="Courier New"/>
              </a:rPr>
              <a:t>}</a:t>
            </a:r>
          </a:p>
        </p:txBody>
      </p:sp>
      <p:sp>
        <p:nvSpPr>
          <p:cNvPr id="12" name="Texte 12"/>
          <p:cNvSpPr txBox="1"/>
          <p:nvPr/>
        </p:nvSpPr>
        <p:spPr>
          <a:xfrm>
            <a:off x="7726680" y="4023360"/>
            <a:ext cx="3566160" cy="1188720"/>
          </a:xfrm>
          <a:prstGeom prst="rect">
            <a:avLst/>
          </a:prstGeom>
          <a:noFill/>
        </p:spPr>
        <p:txBody>
          <a:bodyPr wrap="square" lIns="0" tIns="0" rIns="0" bIns="0" rtlCol="0" anchor="t">
            <a:noAutofit/>
          </a:bodyPr>
          <a:lstStyle/>
          <a:p>
            <a:pPr marL="0" indent="0" algn="l">
              <a:spcBef>
                <a:spcPts val="0"/>
              </a:spcBef>
              <a:spcAft>
                <a:spcPts val="0"/>
              </a:spcAft>
              <a:buNone/>
            </a:pPr>
            <a:r>
              <a:rPr lang="fr-FR" sz="1200" b="1" dirty="0">
                <a:latin typeface="Courier New"/>
                <a:cs typeface="Courier New"/>
              </a:rPr>
              <a:t>terraform apply</a:t>
            </a:r>
            <a:r>
              <a:rPr lang="fr-FR" sz="1200" dirty="0"/>
              <a:t> crée la VM via l'API d'OpenStack. Le même code recrée tout l'environnement, à l'identique.</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r>
              <a:rPr lang="fr-FR" dirty="0"/>
              <a:t>Pourquoi ne pas l'adopter ?</a:t>
            </a:r>
          </a:p>
        </p:txBody>
      </p:sp>
      <p:sp>
        <p:nvSpPr>
          <p:cNvPr id="3" name="Texte 3"/>
          <p:cNvSpPr txBox="1"/>
          <p:nvPr/>
        </p:nvSpPr>
        <p:spPr>
          <a:xfrm>
            <a:off x="1371600" y="1874520"/>
            <a:ext cx="9921240" cy="365760"/>
          </a:xfrm>
          <a:prstGeom prst="rect">
            <a:avLst/>
          </a:prstGeom>
          <a:noFill/>
        </p:spPr>
        <p:txBody>
          <a:bodyPr wrap="square" lIns="0" tIns="0" rIns="0" bIns="0" rtlCol="0" anchor="t">
            <a:noAutofit/>
          </a:bodyPr>
          <a:lstStyle/>
          <a:p>
            <a:pPr marL="0" indent="0" algn="l">
              <a:spcBef>
                <a:spcPts val="0"/>
              </a:spcBef>
              <a:spcAft>
                <a:spcPts val="0"/>
              </a:spcAft>
              <a:buNone/>
            </a:pPr>
            <a:r>
              <a:rPr lang="fr-FR" sz="1500" i="1" dirty="0"/>
              <a:t>OpenStack est puissant, mais lourd. Pour beaucoup de besoins, Proxmox VE ou KubeVirt suffisent.</a:t>
            </a:r>
          </a:p>
        </p:txBody>
      </p:sp>
      <p:graphicFrame>
        <p:nvGraphicFramePr>
          <p:cNvPr id="4" name="Tableau 4"/>
          <p:cNvGraphicFramePr>
            <a:graphicFrameLocks noGrp="1"/>
          </p:cNvGraphicFramePr>
          <p:nvPr/>
        </p:nvGraphicFramePr>
        <p:xfrm>
          <a:off x="1371600" y="2331720"/>
          <a:ext cx="9921240" cy="3040000"/>
        </p:xfrm>
        <a:graphic>
          <a:graphicData uri="http://schemas.openxmlformats.org/drawingml/2006/table">
            <a:tbl>
              <a:tblPr firstRow="1" bandRow="1"/>
              <a:tblGrid>
                <a:gridCol w="1645920">
                  <a:extLst>
                    <a:ext uri="{9D8B030D-6E8A-4147-A177-3AD203B41FA5}">
                      <a16:colId xmlns:a16="http://schemas.microsoft.com/office/drawing/2014/main" val="20000"/>
                    </a:ext>
                  </a:extLst>
                </a:gridCol>
                <a:gridCol w="2758440">
                  <a:extLst>
                    <a:ext uri="{9D8B030D-6E8A-4147-A177-3AD203B41FA5}">
                      <a16:colId xmlns:a16="http://schemas.microsoft.com/office/drawing/2014/main" val="20001"/>
                    </a:ext>
                  </a:extLst>
                </a:gridCol>
                <a:gridCol w="2758440">
                  <a:extLst>
                    <a:ext uri="{9D8B030D-6E8A-4147-A177-3AD203B41FA5}">
                      <a16:colId xmlns:a16="http://schemas.microsoft.com/office/drawing/2014/main" val="20002"/>
                    </a:ext>
                  </a:extLst>
                </a:gridCol>
                <a:gridCol w="2758440">
                  <a:extLst>
                    <a:ext uri="{9D8B030D-6E8A-4147-A177-3AD203B41FA5}">
                      <a16:colId xmlns:a16="http://schemas.microsoft.com/office/drawing/2014/main" val="20003"/>
                    </a:ext>
                  </a:extLst>
                </a:gridCol>
              </a:tblGrid>
              <a:tr h="380000">
                <a:tc>
                  <a:txBody>
                    <a:bodyPr/>
                    <a:lstStyle/>
                    <a:p>
                      <a:pPr marL="0" indent="0" algn="l">
                        <a:spcBef>
                          <a:spcPts val="0"/>
                        </a:spcBef>
                        <a:spcAft>
                          <a:spcPts val="0"/>
                        </a:spcAft>
                        <a:buNone/>
                      </a:pPr>
                      <a:endParaRPr/>
                    </a:p>
                  </a:txBody>
                  <a:tcPr marT="36576" marB="36576" anchor="ctr">
                    <a:lnL w="0">
                      <a:noFill/>
                    </a:lnL>
                    <a:lnR w="0">
                      <a:noFill/>
                    </a:lnR>
                    <a:lnT w="0">
                      <a:noFill/>
                    </a:lnT>
                    <a:lnB w="6350">
                      <a:solidFill>
                        <a:schemeClr val="accent1"/>
                      </a:solidFill>
                    </a:lnB>
                    <a:solidFill>
                      <a:schemeClr val="tx2"/>
                    </a:solidFill>
                  </a:tcPr>
                </a:tc>
                <a:tc>
                  <a:txBody>
                    <a:bodyPr/>
                    <a:lstStyle/>
                    <a:p>
                      <a:pPr marL="0" indent="0" algn="l">
                        <a:spcBef>
                          <a:spcPts val="0"/>
                        </a:spcBef>
                        <a:spcAft>
                          <a:spcPts val="0"/>
                        </a:spcAft>
                        <a:buNone/>
                      </a:pPr>
                      <a:r>
                        <a:rPr lang="fr-FR" sz="1100" b="1" dirty="0">
                          <a:solidFill>
                            <a:schemeClr val="bg2"/>
                          </a:solidFill>
                        </a:rPr>
                        <a:t>OpenStack</a:t>
                      </a:r>
                    </a:p>
                  </a:txBody>
                  <a:tcPr marT="36576" marB="36576" anchor="ctr">
                    <a:lnL w="0">
                      <a:noFill/>
                    </a:lnL>
                    <a:lnR w="0">
                      <a:noFill/>
                    </a:lnR>
                    <a:lnT w="0">
                      <a:noFill/>
                    </a:lnT>
                    <a:lnB w="6350">
                      <a:solidFill>
                        <a:schemeClr val="accent1"/>
                      </a:solidFill>
                    </a:lnB>
                    <a:solidFill>
                      <a:schemeClr val="tx2"/>
                    </a:solidFill>
                  </a:tcPr>
                </a:tc>
                <a:tc>
                  <a:txBody>
                    <a:bodyPr/>
                    <a:lstStyle/>
                    <a:p>
                      <a:pPr marL="0" indent="0" algn="l">
                        <a:spcBef>
                          <a:spcPts val="0"/>
                        </a:spcBef>
                        <a:spcAft>
                          <a:spcPts val="0"/>
                        </a:spcAft>
                        <a:buNone/>
                      </a:pPr>
                      <a:r>
                        <a:rPr lang="fr-FR" sz="1100" b="1" dirty="0">
                          <a:solidFill>
                            <a:schemeClr val="bg2"/>
                          </a:solidFill>
                        </a:rPr>
                        <a:t>Proxmox VE</a:t>
                      </a:r>
                    </a:p>
                  </a:txBody>
                  <a:tcPr marT="36576" marB="36576" anchor="ctr">
                    <a:lnL w="0">
                      <a:noFill/>
                    </a:lnL>
                    <a:lnR w="0">
                      <a:noFill/>
                    </a:lnR>
                    <a:lnT w="0">
                      <a:noFill/>
                    </a:lnT>
                    <a:lnB w="6350">
                      <a:solidFill>
                        <a:schemeClr val="accent1"/>
                      </a:solidFill>
                    </a:lnB>
                    <a:solidFill>
                      <a:schemeClr val="tx2"/>
                    </a:solidFill>
                  </a:tcPr>
                </a:tc>
                <a:tc>
                  <a:txBody>
                    <a:bodyPr/>
                    <a:lstStyle/>
                    <a:p>
                      <a:pPr marL="0" indent="0" algn="l">
                        <a:spcBef>
                          <a:spcPts val="0"/>
                        </a:spcBef>
                        <a:spcAft>
                          <a:spcPts val="0"/>
                        </a:spcAft>
                        <a:buNone/>
                      </a:pPr>
                      <a:r>
                        <a:rPr lang="fr-FR" sz="1100" b="1" dirty="0">
                          <a:solidFill>
                            <a:schemeClr val="bg2"/>
                          </a:solidFill>
                        </a:rPr>
                        <a:t>KubeVirt</a:t>
                      </a:r>
                    </a:p>
                  </a:txBody>
                  <a:tcPr marT="36576" marB="36576" anchor="ctr">
                    <a:lnL w="0">
                      <a:noFill/>
                    </a:lnL>
                    <a:lnR w="0">
                      <a:noFill/>
                    </a:lnR>
                    <a:lnT w="0">
                      <a:noFill/>
                    </a:lnT>
                    <a:lnB w="6350">
                      <a:solidFill>
                        <a:schemeClr val="accent1"/>
                      </a:solidFill>
                    </a:lnB>
                    <a:solidFill>
                      <a:schemeClr val="tx2"/>
                    </a:solidFill>
                  </a:tcPr>
                </a:tc>
                <a:extLst>
                  <a:ext uri="{0D108BD9-81ED-4DB2-BD59-A6C34878D82A}">
                    <a16:rowId xmlns:a16="http://schemas.microsoft.com/office/drawing/2014/main" val="10000"/>
                  </a:ext>
                </a:extLst>
              </a:tr>
              <a:tr h="380000">
                <a:tc>
                  <a:txBody>
                    <a:bodyPr/>
                    <a:lstStyle/>
                    <a:p>
                      <a:pPr marL="0" indent="0" algn="l">
                        <a:spcBef>
                          <a:spcPts val="0"/>
                        </a:spcBef>
                        <a:spcAft>
                          <a:spcPts val="0"/>
                        </a:spcAft>
                        <a:buNone/>
                      </a:pPr>
                      <a:r>
                        <a:rPr lang="fr-FR" sz="1100" b="1" dirty="0">
                          <a:solidFill>
                            <a:schemeClr val="tx2"/>
                          </a:solidFill>
                        </a:rPr>
                        <a:t>Pensé pour</a:t>
                      </a:r>
                    </a:p>
                  </a:txBody>
                  <a:tcPr marT="36576" marB="36576" anchor="ctr">
                    <a:lnL w="0">
                      <a:noFill/>
                    </a:lnL>
                    <a:lnR w="0">
                      <a:noFill/>
                    </a:lnR>
                    <a:lnT w="6350" cap="flat" cmpd="sng" algn="ctr">
                      <a:solidFill>
                        <a:schemeClr val="accent1"/>
                      </a:solidFill>
                      <a:prstDash val="solid"/>
                      <a:round/>
                      <a:headEnd type="none" w="med" len="med"/>
                      <a:tailEnd type="none" w="med" len="med"/>
                    </a:lnT>
                    <a:lnB w="6350">
                      <a:solidFill>
                        <a:schemeClr val="accent1"/>
                      </a:solidFill>
                    </a:lnB>
                    <a:solidFill>
                      <a:srgbClr val="FFFFFF"/>
                    </a:solidFill>
                  </a:tcPr>
                </a:tc>
                <a:tc>
                  <a:txBody>
                    <a:bodyPr/>
                    <a:lstStyle/>
                    <a:p>
                      <a:pPr marL="0" indent="0" algn="l">
                        <a:spcBef>
                          <a:spcPts val="0"/>
                        </a:spcBef>
                        <a:spcAft>
                          <a:spcPts val="0"/>
                        </a:spcAft>
                        <a:buNone/>
                      </a:pPr>
                      <a:r>
                        <a:rPr lang="fr-FR" sz="1100" dirty="0">
                          <a:solidFill>
                            <a:schemeClr val="tx2"/>
                          </a:solidFill>
                        </a:rPr>
                        <a:t>un cloud en libre-service (projets, quotas)</a:t>
                      </a:r>
                    </a:p>
                  </a:txBody>
                  <a:tcPr marT="36576" marB="36576" anchor="ctr">
                    <a:lnL w="0">
                      <a:noFill/>
                    </a:lnL>
                    <a:lnR w="0">
                      <a:noFill/>
                    </a:lnR>
                    <a:lnT w="6350" cap="flat" cmpd="sng" algn="ctr">
                      <a:solidFill>
                        <a:schemeClr val="accent1"/>
                      </a:solidFill>
                      <a:prstDash val="solid"/>
                      <a:round/>
                      <a:headEnd type="none" w="med" len="med"/>
                      <a:tailEnd type="none" w="med" len="med"/>
                    </a:lnT>
                    <a:lnB w="6350">
                      <a:solidFill>
                        <a:schemeClr val="accent1"/>
                      </a:solidFill>
                    </a:lnB>
                    <a:solidFill>
                      <a:srgbClr val="FFFFFF"/>
                    </a:solidFill>
                  </a:tcPr>
                </a:tc>
                <a:tc>
                  <a:txBody>
                    <a:bodyPr/>
                    <a:lstStyle/>
                    <a:p>
                      <a:pPr marL="0" indent="0" algn="l">
                        <a:spcBef>
                          <a:spcPts val="0"/>
                        </a:spcBef>
                        <a:spcAft>
                          <a:spcPts val="0"/>
                        </a:spcAft>
                        <a:buNone/>
                      </a:pPr>
                      <a:r>
                        <a:rPr lang="fr-FR" sz="1100" dirty="0">
                          <a:solidFill>
                            <a:schemeClr val="tx2"/>
                          </a:solidFill>
                        </a:rPr>
                        <a:t>virtualiser des serveurs pour une équipe</a:t>
                      </a:r>
                    </a:p>
                  </a:txBody>
                  <a:tcPr marT="36576" marB="36576" anchor="ctr">
                    <a:lnL w="0">
                      <a:noFill/>
                    </a:lnL>
                    <a:lnR w="0">
                      <a:noFill/>
                    </a:lnR>
                    <a:lnT w="6350" cap="flat" cmpd="sng" algn="ctr">
                      <a:solidFill>
                        <a:schemeClr val="accent1"/>
                      </a:solidFill>
                      <a:prstDash val="solid"/>
                      <a:round/>
                      <a:headEnd type="none" w="med" len="med"/>
                      <a:tailEnd type="none" w="med" len="med"/>
                    </a:lnT>
                    <a:lnB w="6350">
                      <a:solidFill>
                        <a:schemeClr val="accent1"/>
                      </a:solidFill>
                    </a:lnB>
                    <a:solidFill>
                      <a:srgbClr val="FFFFFF"/>
                    </a:solidFill>
                  </a:tcPr>
                </a:tc>
                <a:tc>
                  <a:txBody>
                    <a:bodyPr/>
                    <a:lstStyle/>
                    <a:p>
                      <a:pPr marL="0" indent="0" algn="l">
                        <a:spcBef>
                          <a:spcPts val="0"/>
                        </a:spcBef>
                        <a:spcAft>
                          <a:spcPts val="0"/>
                        </a:spcAft>
                        <a:buNone/>
                      </a:pPr>
                      <a:r>
                        <a:rPr lang="fr-FR" sz="1100" dirty="0">
                          <a:solidFill>
                            <a:schemeClr val="tx2"/>
                          </a:solidFill>
                        </a:rPr>
                        <a:t>des VMs à côté des conteneurs</a:t>
                      </a:r>
                    </a:p>
                  </a:txBody>
                  <a:tcPr marT="36576" marB="36576" anchor="ctr">
                    <a:lnL w="0">
                      <a:noFill/>
                    </a:lnL>
                    <a:lnR w="0">
                      <a:noFill/>
                    </a:lnR>
                    <a:lnT w="6350" cap="flat" cmpd="sng" algn="ctr">
                      <a:solidFill>
                        <a:schemeClr val="accent1"/>
                      </a:solidFill>
                      <a:prstDash val="solid"/>
                      <a:round/>
                      <a:headEnd type="none" w="med" len="med"/>
                      <a:tailEnd type="none" w="med" len="med"/>
                    </a:lnT>
                    <a:lnB w="6350">
                      <a:solidFill>
                        <a:schemeClr val="accent1"/>
                      </a:solidFill>
                    </a:lnB>
                    <a:solidFill>
                      <a:srgbClr val="FFFFFF"/>
                    </a:solidFill>
                  </a:tcPr>
                </a:tc>
                <a:extLst>
                  <a:ext uri="{0D108BD9-81ED-4DB2-BD59-A6C34878D82A}">
                    <a16:rowId xmlns:a16="http://schemas.microsoft.com/office/drawing/2014/main" val="10001"/>
                  </a:ext>
                </a:extLst>
              </a:tr>
              <a:tr h="380000">
                <a:tc>
                  <a:txBody>
                    <a:bodyPr/>
                    <a:lstStyle/>
                    <a:p>
                      <a:pPr marL="0" indent="0" algn="l">
                        <a:spcBef>
                          <a:spcPts val="0"/>
                        </a:spcBef>
                        <a:spcAft>
                          <a:spcPts val="0"/>
                        </a:spcAft>
                        <a:buNone/>
                      </a:pPr>
                      <a:r>
                        <a:rPr lang="fr-FR" sz="1100" b="1" dirty="0">
                          <a:solidFill>
                            <a:schemeClr val="tx2"/>
                          </a:solidFill>
                        </a:rPr>
                        <a:t>Installation</a:t>
                      </a:r>
                    </a:p>
                  </a:txBody>
                  <a:tcPr marT="36576" marB="36576" anchor="ctr">
                    <a:lnL w="0">
                      <a:noFill/>
                    </a:lnL>
                    <a:lnR w="0">
                      <a:noFill/>
                    </a:lnR>
                    <a:lnT w="6350" cap="flat" cmpd="sng" algn="ctr">
                      <a:solidFill>
                        <a:schemeClr val="accent1"/>
                      </a:solidFill>
                      <a:prstDash val="solid"/>
                      <a:round/>
                      <a:headEnd type="none" w="med" len="med"/>
                      <a:tailEnd type="none" w="med" len="med"/>
                    </a:lnT>
                    <a:lnB w="6350">
                      <a:solidFill>
                        <a:schemeClr val="accent1"/>
                      </a:solidFill>
                    </a:lnB>
                    <a:solidFill>
                      <a:schemeClr val="bg2"/>
                    </a:solidFill>
                  </a:tcPr>
                </a:tc>
                <a:tc>
                  <a:txBody>
                    <a:bodyPr/>
                    <a:lstStyle/>
                    <a:p>
                      <a:pPr marL="0" indent="0" algn="l">
                        <a:spcBef>
                          <a:spcPts val="0"/>
                        </a:spcBef>
                        <a:spcAft>
                          <a:spcPts val="0"/>
                        </a:spcAft>
                        <a:buNone/>
                      </a:pPr>
                      <a:r>
                        <a:rPr lang="fr-FR" sz="1100" dirty="0">
                          <a:solidFill>
                            <a:schemeClr val="tx2"/>
                          </a:solidFill>
                        </a:rPr>
                        <a:t>des dizaines de services à assembler</a:t>
                      </a:r>
                    </a:p>
                  </a:txBody>
                  <a:tcPr marT="36576" marB="36576" anchor="ctr">
                    <a:lnL w="0">
                      <a:noFill/>
                    </a:lnL>
                    <a:lnR w="0">
                      <a:noFill/>
                    </a:lnR>
                    <a:lnT w="6350" cap="flat" cmpd="sng" algn="ctr">
                      <a:solidFill>
                        <a:schemeClr val="accent1"/>
                      </a:solidFill>
                      <a:prstDash val="solid"/>
                      <a:round/>
                      <a:headEnd type="none" w="med" len="med"/>
                      <a:tailEnd type="none" w="med" len="med"/>
                    </a:lnT>
                    <a:lnB w="6350">
                      <a:solidFill>
                        <a:schemeClr val="accent1"/>
                      </a:solidFill>
                    </a:lnB>
                    <a:solidFill>
                      <a:schemeClr val="bg2"/>
                    </a:solidFill>
                  </a:tcPr>
                </a:tc>
                <a:tc>
                  <a:txBody>
                    <a:bodyPr/>
                    <a:lstStyle/>
                    <a:p>
                      <a:pPr marL="0" indent="0" algn="l">
                        <a:spcBef>
                          <a:spcPts val="0"/>
                        </a:spcBef>
                        <a:spcAft>
                          <a:spcPts val="0"/>
                        </a:spcAft>
                        <a:buNone/>
                      </a:pPr>
                      <a:r>
                        <a:rPr lang="fr-FR" sz="1100" dirty="0">
                          <a:solidFill>
                            <a:schemeClr val="tx2"/>
                          </a:solidFill>
                        </a:rPr>
                        <a:t>une ISO Debian, prête en une heure</a:t>
                      </a:r>
                    </a:p>
                  </a:txBody>
                  <a:tcPr marT="36576" marB="36576" anchor="ctr">
                    <a:lnL w="0">
                      <a:noFill/>
                    </a:lnL>
                    <a:lnR w="0">
                      <a:noFill/>
                    </a:lnR>
                    <a:lnT w="6350" cap="flat" cmpd="sng" algn="ctr">
                      <a:solidFill>
                        <a:schemeClr val="accent1"/>
                      </a:solidFill>
                      <a:prstDash val="solid"/>
                      <a:round/>
                      <a:headEnd type="none" w="med" len="med"/>
                      <a:tailEnd type="none" w="med" len="med"/>
                    </a:lnT>
                    <a:lnB w="6350">
                      <a:solidFill>
                        <a:schemeClr val="accent1"/>
                      </a:solidFill>
                    </a:lnB>
                    <a:solidFill>
                      <a:schemeClr val="bg2"/>
                    </a:solidFill>
                  </a:tcPr>
                </a:tc>
                <a:tc>
                  <a:txBody>
                    <a:bodyPr/>
                    <a:lstStyle/>
                    <a:p>
                      <a:pPr marL="0" indent="0" algn="l">
                        <a:spcBef>
                          <a:spcPts val="0"/>
                        </a:spcBef>
                        <a:spcAft>
                          <a:spcPts val="0"/>
                        </a:spcAft>
                        <a:buNone/>
                      </a:pPr>
                      <a:r>
                        <a:rPr lang="fr-FR" sz="1100" dirty="0">
                          <a:solidFill>
                            <a:schemeClr val="tx2"/>
                          </a:solidFill>
                        </a:rPr>
                        <a:t>un opérateur sur un cluster existant</a:t>
                      </a:r>
                    </a:p>
                  </a:txBody>
                  <a:tcPr marT="36576" marB="36576" anchor="ctr">
                    <a:lnL w="0">
                      <a:noFill/>
                    </a:lnL>
                    <a:lnR w="0">
                      <a:noFill/>
                    </a:lnR>
                    <a:lnT w="6350" cap="flat" cmpd="sng" algn="ctr">
                      <a:solidFill>
                        <a:schemeClr val="accent1"/>
                      </a:solidFill>
                      <a:prstDash val="solid"/>
                      <a:round/>
                      <a:headEnd type="none" w="med" len="med"/>
                      <a:tailEnd type="none" w="med" len="med"/>
                    </a:lnT>
                    <a:lnB w="6350">
                      <a:solidFill>
                        <a:schemeClr val="accent1"/>
                      </a:solidFill>
                    </a:lnB>
                    <a:solidFill>
                      <a:schemeClr val="bg2"/>
                    </a:solidFill>
                  </a:tcPr>
                </a:tc>
                <a:extLst>
                  <a:ext uri="{0D108BD9-81ED-4DB2-BD59-A6C34878D82A}">
                    <a16:rowId xmlns:a16="http://schemas.microsoft.com/office/drawing/2014/main" val="10002"/>
                  </a:ext>
                </a:extLst>
              </a:tr>
              <a:tr h="380000">
                <a:tc>
                  <a:txBody>
                    <a:bodyPr/>
                    <a:lstStyle/>
                    <a:p>
                      <a:pPr marL="0" indent="0" algn="l">
                        <a:spcBef>
                          <a:spcPts val="0"/>
                        </a:spcBef>
                        <a:spcAft>
                          <a:spcPts val="0"/>
                        </a:spcAft>
                        <a:buNone/>
                      </a:pPr>
                      <a:r>
                        <a:rPr lang="fr-FR" sz="1100" b="1" dirty="0">
                          <a:solidFill>
                            <a:schemeClr val="tx2"/>
                          </a:solidFill>
                        </a:rPr>
                        <a:t>Taille minimale</a:t>
                      </a:r>
                    </a:p>
                  </a:txBody>
                  <a:tcPr marT="36576" marB="36576" anchor="ctr">
                    <a:lnL w="0">
                      <a:noFill/>
                    </a:lnL>
                    <a:lnR w="0">
                      <a:noFill/>
                    </a:lnR>
                    <a:lnT w="6350" cap="flat" cmpd="sng" algn="ctr">
                      <a:solidFill>
                        <a:schemeClr val="accent1"/>
                      </a:solidFill>
                      <a:prstDash val="solid"/>
                      <a:round/>
                      <a:headEnd type="none" w="med" len="med"/>
                      <a:tailEnd type="none" w="med" len="med"/>
                    </a:lnT>
                    <a:lnB w="6350">
                      <a:solidFill>
                        <a:schemeClr val="accent1"/>
                      </a:solidFill>
                    </a:lnB>
                    <a:solidFill>
                      <a:srgbClr val="FFFFFF"/>
                    </a:solidFill>
                  </a:tcPr>
                </a:tc>
                <a:tc>
                  <a:txBody>
                    <a:bodyPr/>
                    <a:lstStyle/>
                    <a:p>
                      <a:pPr marL="0" indent="0" algn="l">
                        <a:spcBef>
                          <a:spcPts val="0"/>
                        </a:spcBef>
                        <a:spcAft>
                          <a:spcPts val="0"/>
                        </a:spcAft>
                        <a:buNone/>
                      </a:pPr>
                      <a:r>
                        <a:rPr lang="fr-FR" sz="1100" dirty="0">
                          <a:solidFill>
                            <a:schemeClr val="tx2"/>
                          </a:solidFill>
                        </a:rPr>
                        <a:t>plusieurs serveurs (contrôleur + computes)</a:t>
                      </a:r>
                    </a:p>
                  </a:txBody>
                  <a:tcPr marT="36576" marB="36576" anchor="ctr">
                    <a:lnL w="0">
                      <a:noFill/>
                    </a:lnL>
                    <a:lnR w="0">
                      <a:noFill/>
                    </a:lnR>
                    <a:lnT w="6350" cap="flat" cmpd="sng" algn="ctr">
                      <a:solidFill>
                        <a:schemeClr val="accent1"/>
                      </a:solidFill>
                      <a:prstDash val="solid"/>
                      <a:round/>
                      <a:headEnd type="none" w="med" len="med"/>
                      <a:tailEnd type="none" w="med" len="med"/>
                    </a:lnT>
                    <a:lnB w="6350">
                      <a:solidFill>
                        <a:schemeClr val="accent1"/>
                      </a:solidFill>
                    </a:lnB>
                    <a:solidFill>
                      <a:srgbClr val="FFFFFF"/>
                    </a:solidFill>
                  </a:tcPr>
                </a:tc>
                <a:tc>
                  <a:txBody>
                    <a:bodyPr/>
                    <a:lstStyle/>
                    <a:p>
                      <a:pPr marL="0" indent="0" algn="l">
                        <a:spcBef>
                          <a:spcPts val="0"/>
                        </a:spcBef>
                        <a:spcAft>
                          <a:spcPts val="0"/>
                        </a:spcAft>
                        <a:buNone/>
                      </a:pPr>
                      <a:r>
                        <a:rPr lang="fr-FR" sz="1100" dirty="0">
                          <a:solidFill>
                            <a:schemeClr val="tx2"/>
                          </a:solidFill>
                        </a:rPr>
                        <a:t>un seul serveur suffit pour démarrer</a:t>
                      </a:r>
                    </a:p>
                  </a:txBody>
                  <a:tcPr marT="36576" marB="36576" anchor="ctr">
                    <a:lnL w="0">
                      <a:noFill/>
                    </a:lnL>
                    <a:lnR w="0">
                      <a:noFill/>
                    </a:lnR>
                    <a:lnT w="6350" cap="flat" cmpd="sng" algn="ctr">
                      <a:solidFill>
                        <a:schemeClr val="accent1"/>
                      </a:solidFill>
                      <a:prstDash val="solid"/>
                      <a:round/>
                      <a:headEnd type="none" w="med" len="med"/>
                      <a:tailEnd type="none" w="med" len="med"/>
                    </a:lnT>
                    <a:lnB w="6350">
                      <a:solidFill>
                        <a:schemeClr val="accent1"/>
                      </a:solidFill>
                    </a:lnB>
                    <a:solidFill>
                      <a:srgbClr val="FFFFFF"/>
                    </a:solidFill>
                  </a:tcPr>
                </a:tc>
                <a:tc>
                  <a:txBody>
                    <a:bodyPr/>
                    <a:lstStyle/>
                    <a:p>
                      <a:pPr marL="0" indent="0" algn="l">
                        <a:spcBef>
                          <a:spcPts val="0"/>
                        </a:spcBef>
                        <a:spcAft>
                          <a:spcPts val="0"/>
                        </a:spcAft>
                        <a:buNone/>
                      </a:pPr>
                      <a:r>
                        <a:rPr lang="fr-FR" sz="1100" dirty="0">
                          <a:solidFill>
                            <a:schemeClr val="tx2"/>
                          </a:solidFill>
                        </a:rPr>
                        <a:t>un cluster Kubernetes (même 1 nœud)</a:t>
                      </a:r>
                    </a:p>
                  </a:txBody>
                  <a:tcPr marT="36576" marB="36576" anchor="ctr">
                    <a:lnL w="0">
                      <a:noFill/>
                    </a:lnL>
                    <a:lnR w="0">
                      <a:noFill/>
                    </a:lnR>
                    <a:lnT w="6350" cap="flat" cmpd="sng" algn="ctr">
                      <a:solidFill>
                        <a:schemeClr val="accent1"/>
                      </a:solidFill>
                      <a:prstDash val="solid"/>
                      <a:round/>
                      <a:headEnd type="none" w="med" len="med"/>
                      <a:tailEnd type="none" w="med" len="med"/>
                    </a:lnT>
                    <a:lnB w="6350">
                      <a:solidFill>
                        <a:schemeClr val="accent1"/>
                      </a:solidFill>
                    </a:lnB>
                    <a:solidFill>
                      <a:srgbClr val="FFFFFF"/>
                    </a:solidFill>
                  </a:tcPr>
                </a:tc>
                <a:extLst>
                  <a:ext uri="{0D108BD9-81ED-4DB2-BD59-A6C34878D82A}">
                    <a16:rowId xmlns:a16="http://schemas.microsoft.com/office/drawing/2014/main" val="10003"/>
                  </a:ext>
                </a:extLst>
              </a:tr>
              <a:tr h="380000">
                <a:tc>
                  <a:txBody>
                    <a:bodyPr/>
                    <a:lstStyle/>
                    <a:p>
                      <a:pPr marL="0" indent="0" algn="l">
                        <a:spcBef>
                          <a:spcPts val="0"/>
                        </a:spcBef>
                        <a:spcAft>
                          <a:spcPts val="0"/>
                        </a:spcAft>
                        <a:buNone/>
                      </a:pPr>
                      <a:r>
                        <a:rPr lang="fr-FR" sz="1100" b="1" dirty="0">
                          <a:solidFill>
                            <a:schemeClr val="tx2"/>
                          </a:solidFill>
                        </a:rPr>
                        <a:t>Compétences</a:t>
                      </a:r>
                    </a:p>
                  </a:txBody>
                  <a:tcPr marT="36576" marB="36576" anchor="ctr">
                    <a:lnL w="0">
                      <a:noFill/>
                    </a:lnL>
                    <a:lnR w="0">
                      <a:noFill/>
                    </a:lnR>
                    <a:lnT w="6350" cap="flat" cmpd="sng" algn="ctr">
                      <a:solidFill>
                        <a:schemeClr val="accent1"/>
                      </a:solidFill>
                      <a:prstDash val="solid"/>
                      <a:round/>
                      <a:headEnd type="none" w="med" len="med"/>
                      <a:tailEnd type="none" w="med" len="med"/>
                    </a:lnT>
                    <a:lnB w="6350">
                      <a:solidFill>
                        <a:schemeClr val="accent1"/>
                      </a:solidFill>
                    </a:lnB>
                    <a:solidFill>
                      <a:schemeClr val="bg2"/>
                    </a:solidFill>
                  </a:tcPr>
                </a:tc>
                <a:tc>
                  <a:txBody>
                    <a:bodyPr/>
                    <a:lstStyle/>
                    <a:p>
                      <a:pPr marL="0" indent="0" algn="l">
                        <a:spcBef>
                          <a:spcPts val="0"/>
                        </a:spcBef>
                        <a:spcAft>
                          <a:spcPts val="0"/>
                        </a:spcAft>
                        <a:buNone/>
                      </a:pPr>
                      <a:r>
                        <a:rPr lang="fr-FR" sz="1100" dirty="0">
                          <a:solidFill>
                            <a:schemeClr val="tx2"/>
                          </a:solidFill>
                        </a:rPr>
                        <a:t>expertise pointue, et profils rares</a:t>
                      </a:r>
                    </a:p>
                  </a:txBody>
                  <a:tcPr marT="36576" marB="36576" anchor="ctr">
                    <a:lnL w="0">
                      <a:noFill/>
                    </a:lnL>
                    <a:lnR w="0">
                      <a:noFill/>
                    </a:lnR>
                    <a:lnT w="6350" cap="flat" cmpd="sng" algn="ctr">
                      <a:solidFill>
                        <a:schemeClr val="accent1"/>
                      </a:solidFill>
                      <a:prstDash val="solid"/>
                      <a:round/>
                      <a:headEnd type="none" w="med" len="med"/>
                      <a:tailEnd type="none" w="med" len="med"/>
                    </a:lnT>
                    <a:lnB w="6350">
                      <a:solidFill>
                        <a:schemeClr val="accent1"/>
                      </a:solidFill>
                    </a:lnB>
                    <a:solidFill>
                      <a:schemeClr val="bg2"/>
                    </a:solidFill>
                  </a:tcPr>
                </a:tc>
                <a:tc>
                  <a:txBody>
                    <a:bodyPr/>
                    <a:lstStyle/>
                    <a:p>
                      <a:pPr marL="0" indent="0" algn="l">
                        <a:spcBef>
                          <a:spcPts val="0"/>
                        </a:spcBef>
                        <a:spcAft>
                          <a:spcPts val="0"/>
                        </a:spcAft>
                        <a:buNone/>
                      </a:pPr>
                      <a:r>
                        <a:rPr lang="fr-FR" sz="1100" dirty="0">
                          <a:solidFill>
                            <a:schemeClr val="tx2"/>
                          </a:solidFill>
                        </a:rPr>
                        <a:t>un admin Linux s'y retrouve vite</a:t>
                      </a:r>
                    </a:p>
                  </a:txBody>
                  <a:tcPr marT="36576" marB="36576" anchor="ctr">
                    <a:lnL w="0">
                      <a:noFill/>
                    </a:lnL>
                    <a:lnR w="0">
                      <a:noFill/>
                    </a:lnR>
                    <a:lnT w="6350" cap="flat" cmpd="sng" algn="ctr">
                      <a:solidFill>
                        <a:schemeClr val="accent1"/>
                      </a:solidFill>
                      <a:prstDash val="solid"/>
                      <a:round/>
                      <a:headEnd type="none" w="med" len="med"/>
                      <a:tailEnd type="none" w="med" len="med"/>
                    </a:lnT>
                    <a:lnB w="6350">
                      <a:solidFill>
                        <a:schemeClr val="accent1"/>
                      </a:solidFill>
                    </a:lnB>
                    <a:solidFill>
                      <a:schemeClr val="bg2"/>
                    </a:solidFill>
                  </a:tcPr>
                </a:tc>
                <a:tc>
                  <a:txBody>
                    <a:bodyPr/>
                    <a:lstStyle/>
                    <a:p>
                      <a:pPr marL="0" indent="0" algn="l">
                        <a:spcBef>
                          <a:spcPts val="0"/>
                        </a:spcBef>
                        <a:spcAft>
                          <a:spcPts val="0"/>
                        </a:spcAft>
                        <a:buNone/>
                      </a:pPr>
                      <a:r>
                        <a:rPr lang="fr-FR" sz="1100" dirty="0">
                          <a:solidFill>
                            <a:schemeClr val="tx2"/>
                          </a:solidFill>
                        </a:rPr>
                        <a:t>maîtriser Kubernetes (CRD, réseau, CSI)</a:t>
                      </a:r>
                    </a:p>
                  </a:txBody>
                  <a:tcPr marT="36576" marB="36576" anchor="ctr">
                    <a:lnL w="0">
                      <a:noFill/>
                    </a:lnL>
                    <a:lnR w="0">
                      <a:noFill/>
                    </a:lnR>
                    <a:lnT w="6350" cap="flat" cmpd="sng" algn="ctr">
                      <a:solidFill>
                        <a:schemeClr val="accent1"/>
                      </a:solidFill>
                      <a:prstDash val="solid"/>
                      <a:round/>
                      <a:headEnd type="none" w="med" len="med"/>
                      <a:tailEnd type="none" w="med" len="med"/>
                    </a:lnT>
                    <a:lnB w="6350">
                      <a:solidFill>
                        <a:schemeClr val="accent1"/>
                      </a:solidFill>
                    </a:lnB>
                    <a:solidFill>
                      <a:schemeClr val="bg2"/>
                    </a:solidFill>
                  </a:tcPr>
                </a:tc>
                <a:extLst>
                  <a:ext uri="{0D108BD9-81ED-4DB2-BD59-A6C34878D82A}">
                    <a16:rowId xmlns:a16="http://schemas.microsoft.com/office/drawing/2014/main" val="10004"/>
                  </a:ext>
                </a:extLst>
              </a:tr>
              <a:tr h="380000">
                <a:tc>
                  <a:txBody>
                    <a:bodyPr/>
                    <a:lstStyle/>
                    <a:p>
                      <a:pPr marL="0" indent="0" algn="l">
                        <a:spcBef>
                          <a:spcPts val="0"/>
                        </a:spcBef>
                        <a:spcAft>
                          <a:spcPts val="0"/>
                        </a:spcAft>
                        <a:buNone/>
                      </a:pPr>
                      <a:r>
                        <a:rPr lang="fr-FR" sz="1100" b="1" dirty="0">
                          <a:solidFill>
                            <a:schemeClr val="tx2"/>
                          </a:solidFill>
                        </a:rPr>
                        <a:t>Mises à jour</a:t>
                      </a:r>
                    </a:p>
                  </a:txBody>
                  <a:tcPr marT="36576" marB="36576" anchor="ctr">
                    <a:lnL w="0">
                      <a:noFill/>
                    </a:lnL>
                    <a:lnR w="0">
                      <a:noFill/>
                    </a:lnR>
                    <a:lnT w="6350" cap="flat" cmpd="sng" algn="ctr">
                      <a:solidFill>
                        <a:schemeClr val="accent1"/>
                      </a:solidFill>
                      <a:prstDash val="solid"/>
                      <a:round/>
                      <a:headEnd type="none" w="med" len="med"/>
                      <a:tailEnd type="none" w="med" len="med"/>
                    </a:lnT>
                    <a:lnB w="6350">
                      <a:solidFill>
                        <a:schemeClr val="accent1"/>
                      </a:solidFill>
                    </a:lnB>
                    <a:solidFill>
                      <a:srgbClr val="FFFFFF"/>
                    </a:solidFill>
                  </a:tcPr>
                </a:tc>
                <a:tc>
                  <a:txBody>
                    <a:bodyPr/>
                    <a:lstStyle/>
                    <a:p>
                      <a:pPr marL="0" indent="0" algn="l">
                        <a:spcBef>
                          <a:spcPts val="0"/>
                        </a:spcBef>
                        <a:spcAft>
                          <a:spcPts val="0"/>
                        </a:spcAft>
                        <a:buNone/>
                      </a:pPr>
                      <a:r>
                        <a:rPr lang="fr-FR" sz="1100" dirty="0">
                          <a:solidFill>
                            <a:schemeClr val="tx2"/>
                          </a:solidFill>
                        </a:rPr>
                        <a:t>une version tous les 6 mois, à préparer</a:t>
                      </a:r>
                    </a:p>
                  </a:txBody>
                  <a:tcPr marT="36576" marB="36576" anchor="ctr">
                    <a:lnL w="0">
                      <a:noFill/>
                    </a:lnL>
                    <a:lnR w="0">
                      <a:noFill/>
                    </a:lnR>
                    <a:lnT w="6350" cap="flat" cmpd="sng" algn="ctr">
                      <a:solidFill>
                        <a:schemeClr val="accent1"/>
                      </a:solidFill>
                      <a:prstDash val="solid"/>
                      <a:round/>
                      <a:headEnd type="none" w="med" len="med"/>
                      <a:tailEnd type="none" w="med" len="med"/>
                    </a:lnT>
                    <a:lnB w="6350">
                      <a:solidFill>
                        <a:schemeClr val="accent1"/>
                      </a:solidFill>
                    </a:lnB>
                    <a:solidFill>
                      <a:srgbClr val="FFFFFF"/>
                    </a:solidFill>
                  </a:tcPr>
                </a:tc>
                <a:tc>
                  <a:txBody>
                    <a:bodyPr/>
                    <a:lstStyle/>
                    <a:p>
                      <a:pPr marL="0" indent="0" algn="l">
                        <a:spcBef>
                          <a:spcPts val="0"/>
                        </a:spcBef>
                        <a:spcAft>
                          <a:spcPts val="0"/>
                        </a:spcAft>
                        <a:buNone/>
                      </a:pPr>
                      <a:r>
                        <a:rPr lang="fr-FR" sz="1100" dirty="0">
                          <a:solidFill>
                            <a:schemeClr val="tx2"/>
                          </a:solidFill>
                        </a:rPr>
                        <a:t>via apt, comme une Debian</a:t>
                      </a:r>
                    </a:p>
                  </a:txBody>
                  <a:tcPr marT="36576" marB="36576" anchor="ctr">
                    <a:lnL w="0">
                      <a:noFill/>
                    </a:lnL>
                    <a:lnR w="0">
                      <a:noFill/>
                    </a:lnR>
                    <a:lnT w="6350" cap="flat" cmpd="sng" algn="ctr">
                      <a:solidFill>
                        <a:schemeClr val="accent1"/>
                      </a:solidFill>
                      <a:prstDash val="solid"/>
                      <a:round/>
                      <a:headEnd type="none" w="med" len="med"/>
                      <a:tailEnd type="none" w="med" len="med"/>
                    </a:lnT>
                    <a:lnB w="6350">
                      <a:solidFill>
                        <a:schemeClr val="accent1"/>
                      </a:solidFill>
                    </a:lnB>
                    <a:solidFill>
                      <a:srgbClr val="FFFFFF"/>
                    </a:solidFill>
                  </a:tcPr>
                </a:tc>
                <a:tc>
                  <a:txBody>
                    <a:bodyPr/>
                    <a:lstStyle/>
                    <a:p>
                      <a:pPr marL="0" indent="0" algn="l">
                        <a:spcBef>
                          <a:spcPts val="0"/>
                        </a:spcBef>
                        <a:spcAft>
                          <a:spcPts val="0"/>
                        </a:spcAft>
                        <a:buNone/>
                      </a:pPr>
                      <a:r>
                        <a:rPr lang="fr-FR" sz="1100" dirty="0">
                          <a:solidFill>
                            <a:schemeClr val="tx2"/>
                          </a:solidFill>
                        </a:rPr>
                        <a:t>au rythme de l'opérateur et de Kubernetes</a:t>
                      </a:r>
                    </a:p>
                  </a:txBody>
                  <a:tcPr marT="36576" marB="36576" anchor="ctr">
                    <a:lnL w="0">
                      <a:noFill/>
                    </a:lnL>
                    <a:lnR w="0">
                      <a:noFill/>
                    </a:lnR>
                    <a:lnT w="6350" cap="flat" cmpd="sng" algn="ctr">
                      <a:solidFill>
                        <a:schemeClr val="accent1"/>
                      </a:solidFill>
                      <a:prstDash val="solid"/>
                      <a:round/>
                      <a:headEnd type="none" w="med" len="med"/>
                      <a:tailEnd type="none" w="med" len="med"/>
                    </a:lnT>
                    <a:lnB w="6350">
                      <a:solidFill>
                        <a:schemeClr val="accent1"/>
                      </a:solidFill>
                    </a:lnB>
                    <a:solidFill>
                      <a:srgbClr val="FFFFFF"/>
                    </a:solidFill>
                  </a:tcPr>
                </a:tc>
                <a:extLst>
                  <a:ext uri="{0D108BD9-81ED-4DB2-BD59-A6C34878D82A}">
                    <a16:rowId xmlns:a16="http://schemas.microsoft.com/office/drawing/2014/main" val="10005"/>
                  </a:ext>
                </a:extLst>
              </a:tr>
              <a:tr h="380000">
                <a:tc>
                  <a:txBody>
                    <a:bodyPr/>
                    <a:lstStyle/>
                    <a:p>
                      <a:pPr marL="0" indent="0" algn="l">
                        <a:spcBef>
                          <a:spcPts val="0"/>
                        </a:spcBef>
                        <a:spcAft>
                          <a:spcPts val="0"/>
                        </a:spcAft>
                        <a:buNone/>
                      </a:pPr>
                      <a:r>
                        <a:rPr lang="fr-FR" sz="1100" b="1" dirty="0">
                          <a:solidFill>
                            <a:schemeClr val="tx2"/>
                          </a:solidFill>
                        </a:rPr>
                        <a:t>Multi-équipes</a:t>
                      </a:r>
                    </a:p>
                  </a:txBody>
                  <a:tcPr marT="36576" marB="36576" anchor="ctr">
                    <a:lnL w="0">
                      <a:noFill/>
                    </a:lnL>
                    <a:lnR w="0">
                      <a:noFill/>
                    </a:lnR>
                    <a:lnT w="6350" cap="flat" cmpd="sng" algn="ctr">
                      <a:solidFill>
                        <a:schemeClr val="accent1"/>
                      </a:solidFill>
                      <a:prstDash val="solid"/>
                      <a:round/>
                      <a:headEnd type="none" w="med" len="med"/>
                      <a:tailEnd type="none" w="med" len="med"/>
                    </a:lnT>
                    <a:lnB w="6350">
                      <a:solidFill>
                        <a:schemeClr val="accent1"/>
                      </a:solidFill>
                    </a:lnB>
                    <a:solidFill>
                      <a:schemeClr val="bg2"/>
                    </a:solidFill>
                  </a:tcPr>
                </a:tc>
                <a:tc>
                  <a:txBody>
                    <a:bodyPr/>
                    <a:lstStyle/>
                    <a:p>
                      <a:pPr marL="0" indent="0" algn="l">
                        <a:spcBef>
                          <a:spcPts val="0"/>
                        </a:spcBef>
                        <a:spcAft>
                          <a:spcPts val="0"/>
                        </a:spcAft>
                        <a:buNone/>
                      </a:pPr>
                      <a:r>
                        <a:rPr lang="fr-FR" sz="1100" dirty="0">
                          <a:solidFill>
                            <a:schemeClr val="tx2"/>
                          </a:solidFill>
                        </a:rPr>
                        <a:t>isolation native par projet</a:t>
                      </a:r>
                    </a:p>
                  </a:txBody>
                  <a:tcPr marT="36576" marB="36576" anchor="ctr">
                    <a:lnL w="0">
                      <a:noFill/>
                    </a:lnL>
                    <a:lnR w="0">
                      <a:noFill/>
                    </a:lnR>
                    <a:lnT w="6350" cap="flat" cmpd="sng" algn="ctr">
                      <a:solidFill>
                        <a:schemeClr val="accent1"/>
                      </a:solidFill>
                      <a:prstDash val="solid"/>
                      <a:round/>
                      <a:headEnd type="none" w="med" len="med"/>
                      <a:tailEnd type="none" w="med" len="med"/>
                    </a:lnT>
                    <a:lnB w="6350">
                      <a:solidFill>
                        <a:schemeClr val="accent1"/>
                      </a:solidFill>
                    </a:lnB>
                    <a:solidFill>
                      <a:schemeClr val="bg2"/>
                    </a:solidFill>
                  </a:tcPr>
                </a:tc>
                <a:tc>
                  <a:txBody>
                    <a:bodyPr/>
                    <a:lstStyle/>
                    <a:p>
                      <a:pPr marL="0" indent="0" algn="l">
                        <a:spcBef>
                          <a:spcPts val="0"/>
                        </a:spcBef>
                        <a:spcAft>
                          <a:spcPts val="0"/>
                        </a:spcAft>
                        <a:buNone/>
                      </a:pPr>
                      <a:r>
                        <a:rPr lang="fr-FR" sz="1100" dirty="0">
                          <a:solidFill>
                            <a:schemeClr val="tx2"/>
                          </a:solidFill>
                        </a:rPr>
                        <a:t>rôles et pools, mais limité</a:t>
                      </a:r>
                    </a:p>
                  </a:txBody>
                  <a:tcPr marT="36576" marB="36576" anchor="ctr">
                    <a:lnL w="0">
                      <a:noFill/>
                    </a:lnL>
                    <a:lnR w="0">
                      <a:noFill/>
                    </a:lnR>
                    <a:lnT w="6350" cap="flat" cmpd="sng" algn="ctr">
                      <a:solidFill>
                        <a:schemeClr val="accent1"/>
                      </a:solidFill>
                      <a:prstDash val="solid"/>
                      <a:round/>
                      <a:headEnd type="none" w="med" len="med"/>
                      <a:tailEnd type="none" w="med" len="med"/>
                    </a:lnT>
                    <a:lnB w="6350">
                      <a:solidFill>
                        <a:schemeClr val="accent1"/>
                      </a:solidFill>
                    </a:lnB>
                    <a:solidFill>
                      <a:schemeClr val="bg2"/>
                    </a:solidFill>
                  </a:tcPr>
                </a:tc>
                <a:tc>
                  <a:txBody>
                    <a:bodyPr/>
                    <a:lstStyle/>
                    <a:p>
                      <a:pPr marL="0" indent="0" algn="l">
                        <a:spcBef>
                          <a:spcPts val="0"/>
                        </a:spcBef>
                        <a:spcAft>
                          <a:spcPts val="0"/>
                        </a:spcAft>
                        <a:buNone/>
                      </a:pPr>
                      <a:r>
                        <a:rPr lang="fr-FR" sz="1100" dirty="0">
                          <a:solidFill>
                            <a:schemeClr val="tx2"/>
                          </a:solidFill>
                        </a:rPr>
                        <a:t>namespaces, RBAC et quotas</a:t>
                      </a:r>
                    </a:p>
                  </a:txBody>
                  <a:tcPr marT="36576" marB="36576" anchor="ctr">
                    <a:lnL w="0">
                      <a:noFill/>
                    </a:lnL>
                    <a:lnR w="0">
                      <a:noFill/>
                    </a:lnR>
                    <a:lnT w="6350" cap="flat" cmpd="sng" algn="ctr">
                      <a:solidFill>
                        <a:schemeClr val="accent1"/>
                      </a:solidFill>
                      <a:prstDash val="solid"/>
                      <a:round/>
                      <a:headEnd type="none" w="med" len="med"/>
                      <a:tailEnd type="none" w="med" len="med"/>
                    </a:lnT>
                    <a:lnB w="6350">
                      <a:solidFill>
                        <a:schemeClr val="accent1"/>
                      </a:solidFill>
                    </a:lnB>
                    <a:solidFill>
                      <a:schemeClr val="bg2"/>
                    </a:solidFill>
                  </a:tcPr>
                </a:tc>
                <a:extLst>
                  <a:ext uri="{0D108BD9-81ED-4DB2-BD59-A6C34878D82A}">
                    <a16:rowId xmlns:a16="http://schemas.microsoft.com/office/drawing/2014/main" val="10006"/>
                  </a:ext>
                </a:extLst>
              </a:tr>
              <a:tr h="380000">
                <a:tc>
                  <a:txBody>
                    <a:bodyPr/>
                    <a:lstStyle/>
                    <a:p>
                      <a:pPr marL="0" indent="0" algn="l">
                        <a:spcBef>
                          <a:spcPts val="0"/>
                        </a:spcBef>
                        <a:spcAft>
                          <a:spcPts val="0"/>
                        </a:spcAft>
                        <a:buNone/>
                      </a:pPr>
                      <a:r>
                        <a:rPr lang="fr-FR" sz="1100" b="1" dirty="0">
                          <a:solidFill>
                            <a:schemeClr val="tx2"/>
                          </a:solidFill>
                        </a:rPr>
                        <a:t>API / IaC</a:t>
                      </a:r>
                    </a:p>
                  </a:txBody>
                  <a:tcPr marT="36576" marB="36576" anchor="ctr">
                    <a:lnL w="0">
                      <a:noFill/>
                    </a:lnL>
                    <a:lnR w="0">
                      <a:noFill/>
                    </a:lnR>
                    <a:lnT w="6350" cap="flat" cmpd="sng" algn="ctr">
                      <a:solidFill>
                        <a:schemeClr val="accent1"/>
                      </a:solidFill>
                      <a:prstDash val="solid"/>
                      <a:round/>
                      <a:headEnd type="none" w="med" len="med"/>
                      <a:tailEnd type="none" w="med" len="med"/>
                    </a:lnT>
                    <a:lnB w="6350">
                      <a:solidFill>
                        <a:schemeClr val="accent1"/>
                      </a:solidFill>
                    </a:lnB>
                    <a:solidFill>
                      <a:srgbClr val="FFFFFF"/>
                    </a:solidFill>
                  </a:tcPr>
                </a:tc>
                <a:tc>
                  <a:txBody>
                    <a:bodyPr/>
                    <a:lstStyle/>
                    <a:p>
                      <a:pPr marL="0" indent="0" algn="l">
                        <a:spcBef>
                          <a:spcPts val="0"/>
                        </a:spcBef>
                        <a:spcAft>
                          <a:spcPts val="0"/>
                        </a:spcAft>
                        <a:buNone/>
                      </a:pPr>
                      <a:r>
                        <a:rPr lang="fr-FR" sz="1100" dirty="0">
                          <a:solidFill>
                            <a:schemeClr val="tx2"/>
                          </a:solidFill>
                        </a:rPr>
                        <a:t>API complète, excellent provider Terraform</a:t>
                      </a:r>
                    </a:p>
                  </a:txBody>
                  <a:tcPr marT="36576" marB="36576" anchor="ctr">
                    <a:lnL w="0">
                      <a:noFill/>
                    </a:lnL>
                    <a:lnR w="0">
                      <a:noFill/>
                    </a:lnR>
                    <a:lnT w="6350" cap="flat" cmpd="sng" algn="ctr">
                      <a:solidFill>
                        <a:schemeClr val="accent1"/>
                      </a:solidFill>
                      <a:prstDash val="solid"/>
                      <a:round/>
                      <a:headEnd type="none" w="med" len="med"/>
                      <a:tailEnd type="none" w="med" len="med"/>
                    </a:lnT>
                    <a:lnB w="6350">
                      <a:solidFill>
                        <a:schemeClr val="accent1"/>
                      </a:solidFill>
                    </a:lnB>
                    <a:solidFill>
                      <a:srgbClr val="FFFFFF"/>
                    </a:solidFill>
                  </a:tcPr>
                </a:tc>
                <a:tc>
                  <a:txBody>
                    <a:bodyPr/>
                    <a:lstStyle/>
                    <a:p>
                      <a:pPr marL="0" indent="0" algn="l">
                        <a:spcBef>
                          <a:spcPts val="0"/>
                        </a:spcBef>
                        <a:spcAft>
                          <a:spcPts val="0"/>
                        </a:spcAft>
                        <a:buNone/>
                      </a:pPr>
                      <a:r>
                        <a:rPr lang="fr-FR" sz="1100" dirty="0">
                          <a:solidFill>
                            <a:schemeClr val="tx2"/>
                          </a:solidFill>
                        </a:rPr>
                        <a:t>API REST, providers Terraform tiers</a:t>
                      </a:r>
                    </a:p>
                  </a:txBody>
                  <a:tcPr marT="36576" marB="36576" anchor="ctr">
                    <a:lnL w="0">
                      <a:noFill/>
                    </a:lnL>
                    <a:lnR w="0">
                      <a:noFill/>
                    </a:lnR>
                    <a:lnT w="6350" cap="flat" cmpd="sng" algn="ctr">
                      <a:solidFill>
                        <a:schemeClr val="accent1"/>
                      </a:solidFill>
                      <a:prstDash val="solid"/>
                      <a:round/>
                      <a:headEnd type="none" w="med" len="med"/>
                      <a:tailEnd type="none" w="med" len="med"/>
                    </a:lnT>
                    <a:lnB w="6350">
                      <a:solidFill>
                        <a:schemeClr val="accent1"/>
                      </a:solidFill>
                    </a:lnB>
                    <a:solidFill>
                      <a:srgbClr val="FFFFFF"/>
                    </a:solidFill>
                  </a:tcPr>
                </a:tc>
                <a:tc>
                  <a:txBody>
                    <a:bodyPr/>
                    <a:lstStyle/>
                    <a:p>
                      <a:pPr marL="0" indent="0" algn="l">
                        <a:spcBef>
                          <a:spcPts val="0"/>
                        </a:spcBef>
                        <a:spcAft>
                          <a:spcPts val="0"/>
                        </a:spcAft>
                        <a:buNone/>
                      </a:pPr>
                      <a:r>
                        <a:rPr lang="fr-FR" sz="1100" dirty="0">
                          <a:solidFill>
                            <a:schemeClr val="tx2"/>
                          </a:solidFill>
                        </a:rPr>
                        <a:t>VMs en YAML, pilotables en GitOps</a:t>
                      </a:r>
                    </a:p>
                  </a:txBody>
                  <a:tcPr marT="36576" marB="36576" anchor="ctr">
                    <a:lnL w="0">
                      <a:noFill/>
                    </a:lnL>
                    <a:lnR w="0">
                      <a:noFill/>
                    </a:lnR>
                    <a:lnT w="6350" cap="flat" cmpd="sng" algn="ctr">
                      <a:solidFill>
                        <a:schemeClr val="accent1"/>
                      </a:solidFill>
                      <a:prstDash val="solid"/>
                      <a:round/>
                      <a:headEnd type="none" w="med" len="med"/>
                      <a:tailEnd type="none" w="med" len="med"/>
                    </a:lnT>
                    <a:lnB w="6350">
                      <a:solidFill>
                        <a:schemeClr val="accent1"/>
                      </a:solidFill>
                    </a:lnB>
                    <a:solidFill>
                      <a:srgbClr val="FFFFFF"/>
                    </a:solidFill>
                  </a:tcPr>
                </a:tc>
                <a:extLst>
                  <a:ext uri="{0D108BD9-81ED-4DB2-BD59-A6C34878D82A}">
                    <a16:rowId xmlns:a16="http://schemas.microsoft.com/office/drawing/2014/main" val="10007"/>
                  </a:ext>
                </a:extLst>
              </a:tr>
            </a:tbl>
          </a:graphicData>
        </a:graphic>
      </p:graphicFrame>
      <p:sp>
        <p:nvSpPr>
          <p:cNvPr id="5" name="Resume 5"/>
          <p:cNvSpPr/>
          <p:nvPr/>
        </p:nvSpPr>
        <p:spPr>
          <a:xfrm>
            <a:off x="1371600" y="5623560"/>
            <a:ext cx="9921240" cy="685800"/>
          </a:xfrm>
          <a:prstGeom prst="rect">
            <a:avLst/>
          </a:prstGeom>
          <a:noFill/>
          <a:ln>
            <a:noFill/>
          </a:ln>
        </p:spPr>
        <p:txBody>
          <a:bodyPr wrap="square" lIns="0" tIns="137160" rIns="137160" bIns="137160" rtlCol="0" anchor="ctr">
            <a:noAutofit/>
          </a:bodyPr>
          <a:lstStyle/>
          <a:p>
            <a:pPr marL="0" indent="0" algn="l">
              <a:spcBef>
                <a:spcPts val="0"/>
              </a:spcBef>
              <a:spcAft>
                <a:spcPts val="0"/>
              </a:spcAft>
              <a:buNone/>
            </a:pPr>
            <a:r>
              <a:rPr lang="fr-FR" sz="1400" b="1" dirty="0">
                <a:solidFill>
                  <a:schemeClr val="tx2"/>
                </a:solidFill>
              </a:rPr>
              <a:t>En résumé : </a:t>
            </a:r>
            <a:r>
              <a:rPr lang="fr-FR" sz="1400" dirty="0">
                <a:solidFill>
                  <a:schemeClr val="tx2"/>
                </a:solidFill>
              </a:rPr>
              <a:t>quelques serveurs et une seule équipe → Proxmox. Déjà du Kubernetes et quelques VMs → KubeVirt. Plusieurs équipes ou clients en libre-service → OpenStack.</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45C348E-12B6-FA66-C0BC-9EFED06CD4AB}"/>
              </a:ext>
            </a:extLst>
          </p:cNvPr>
          <p:cNvSpPr>
            <a:spLocks noGrp="1"/>
          </p:cNvSpPr>
          <p:nvPr>
            <p:ph type="title"/>
          </p:nvPr>
        </p:nvSpPr>
        <p:spPr/>
        <p:txBody>
          <a:bodyPr/>
          <a:lstStyle/>
          <a:p>
            <a:r>
              <a:rPr lang="fr-FR" dirty="0"/>
              <a:t>Quelques acteurs qui utilisent ses outils</a:t>
            </a:r>
          </a:p>
        </p:txBody>
      </p:sp>
      <p:pic>
        <p:nvPicPr>
          <p:cNvPr id="5" name="Graphique 4">
            <a:extLst>
              <a:ext uri="{FF2B5EF4-FFF2-40B4-BE49-F238E27FC236}">
                <a16:creationId xmlns:a16="http://schemas.microsoft.com/office/drawing/2014/main" id="{F0BE5EB1-0396-A47A-EA57-19CFFCA7F296}"/>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441450" y="1771650"/>
            <a:ext cx="2596066" cy="1352550"/>
          </a:xfrm>
          <a:prstGeom prst="rect">
            <a:avLst/>
          </a:prstGeom>
        </p:spPr>
      </p:pic>
      <p:pic>
        <p:nvPicPr>
          <p:cNvPr id="9" name="Espace réservé du contenu 8">
            <a:extLst>
              <a:ext uri="{FF2B5EF4-FFF2-40B4-BE49-F238E27FC236}">
                <a16:creationId xmlns:a16="http://schemas.microsoft.com/office/drawing/2014/main" id="{0833F0DA-F384-02C9-691D-939474811C3C}"/>
              </a:ext>
            </a:extLst>
          </p:cNvPr>
          <p:cNvPicPr>
            <a:picLocks noGrp="1" noChangeAspect="1"/>
          </p:cNvPicPr>
          <p:nvPr>
            <p:ph idx="1"/>
          </p:nvPr>
        </p:nvPicPr>
        <p:blipFill>
          <a:blip r:embed="rId5">
            <a:extLst>
              <a:ext uri="{96DAC541-7B7A-43D3-8B79-37D633B846F1}">
                <asvg:svgBlip xmlns:asvg="http://schemas.microsoft.com/office/drawing/2016/SVG/main" r:embed="rId6"/>
              </a:ext>
            </a:extLst>
          </a:blip>
          <a:stretch>
            <a:fillRect/>
          </a:stretch>
        </p:blipFill>
        <p:spPr>
          <a:xfrm>
            <a:off x="1258592" y="4734877"/>
            <a:ext cx="1648918" cy="1508760"/>
          </a:xfrm>
        </p:spPr>
      </p:pic>
      <p:pic>
        <p:nvPicPr>
          <p:cNvPr id="11" name="Image 10">
            <a:extLst>
              <a:ext uri="{FF2B5EF4-FFF2-40B4-BE49-F238E27FC236}">
                <a16:creationId xmlns:a16="http://schemas.microsoft.com/office/drawing/2014/main" id="{57CAF144-9EED-BDA7-8C0C-51D2DAF314F7}"/>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4885690" y="1661755"/>
            <a:ext cx="2795270" cy="1572340"/>
          </a:xfrm>
          <a:prstGeom prst="rect">
            <a:avLst/>
          </a:prstGeom>
        </p:spPr>
      </p:pic>
      <p:pic>
        <p:nvPicPr>
          <p:cNvPr id="13" name="Graphique 12">
            <a:extLst>
              <a:ext uri="{FF2B5EF4-FFF2-40B4-BE49-F238E27FC236}">
                <a16:creationId xmlns:a16="http://schemas.microsoft.com/office/drawing/2014/main" id="{ADD3AFE2-ACFB-5608-E723-784F4A7A088B}"/>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5996940" y="3938945"/>
            <a:ext cx="2514600" cy="2514600"/>
          </a:xfrm>
          <a:prstGeom prst="rect">
            <a:avLst/>
          </a:prstGeom>
        </p:spPr>
      </p:pic>
      <p:pic>
        <p:nvPicPr>
          <p:cNvPr id="15" name="Image 14">
            <a:extLst>
              <a:ext uri="{FF2B5EF4-FFF2-40B4-BE49-F238E27FC236}">
                <a16:creationId xmlns:a16="http://schemas.microsoft.com/office/drawing/2014/main" id="{88A4D6D9-9D71-58F6-C3B6-05E07535D17A}"/>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8282940" y="1661755"/>
            <a:ext cx="2994660" cy="1871663"/>
          </a:xfrm>
          <a:prstGeom prst="rect">
            <a:avLst/>
          </a:prstGeom>
        </p:spPr>
      </p:pic>
      <p:pic>
        <p:nvPicPr>
          <p:cNvPr id="17" name="Graphique 16">
            <a:extLst>
              <a:ext uri="{FF2B5EF4-FFF2-40B4-BE49-F238E27FC236}">
                <a16:creationId xmlns:a16="http://schemas.microsoft.com/office/drawing/2014/main" id="{730E86BE-F81C-C843-B5D2-C3CF5AF5B0A5}"/>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8771647" y="4348162"/>
            <a:ext cx="1885950" cy="1438275"/>
          </a:xfrm>
          <a:prstGeom prst="rect">
            <a:avLst/>
          </a:prstGeom>
        </p:spPr>
      </p:pic>
      <p:pic>
        <p:nvPicPr>
          <p:cNvPr id="19" name="Image 18">
            <a:extLst>
              <a:ext uri="{FF2B5EF4-FFF2-40B4-BE49-F238E27FC236}">
                <a16:creationId xmlns:a16="http://schemas.microsoft.com/office/drawing/2014/main" id="{60C54C07-CEB8-64F6-C47A-99B595F6109B}"/>
              </a:ext>
            </a:extLst>
          </p:cNvPr>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1744980" y="3429000"/>
            <a:ext cx="4114800" cy="1154784"/>
          </a:xfrm>
          <a:prstGeom prst="rect">
            <a:avLst/>
          </a:prstGeom>
        </p:spPr>
      </p:pic>
    </p:spTree>
    <p:extLst>
      <p:ext uri="{BB962C8B-B14F-4D97-AF65-F5344CB8AC3E}">
        <p14:creationId xmlns:p14="http://schemas.microsoft.com/office/powerpoint/2010/main" val="327931901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r>
              <a:rPr lang="fr-FR" dirty="0"/>
              <a:t>Les briques d'un cloud IaaS</a:t>
            </a:r>
          </a:p>
        </p:txBody>
      </p:sp>
      <p:sp>
        <p:nvSpPr>
          <p:cNvPr id="3" name="Texte 3"/>
          <p:cNvSpPr txBox="1"/>
          <p:nvPr/>
        </p:nvSpPr>
        <p:spPr>
          <a:xfrm>
            <a:off x="1371600" y="1965960"/>
            <a:ext cx="3566160" cy="274320"/>
          </a:xfrm>
          <a:prstGeom prst="rect">
            <a:avLst/>
          </a:prstGeom>
          <a:noFill/>
        </p:spPr>
        <p:txBody>
          <a:bodyPr wrap="square" lIns="0" tIns="0" rIns="0" bIns="0" rtlCol="0" anchor="t">
            <a:noAutofit/>
          </a:bodyPr>
          <a:lstStyle/>
          <a:p>
            <a:pPr marL="0" indent="0" algn="l">
              <a:spcBef>
                <a:spcPts val="0"/>
              </a:spcBef>
              <a:spcAft>
                <a:spcPts val="0"/>
              </a:spcAft>
              <a:buNone/>
            </a:pPr>
            <a:r>
              <a:rPr lang="fr-FR" sz="1300" b="1" dirty="0">
                <a:solidFill>
                  <a:schemeClr val="accent3"/>
                </a:solidFill>
              </a:rPr>
              <a:t>Le besoin</a:t>
            </a:r>
          </a:p>
        </p:txBody>
      </p:sp>
      <p:sp>
        <p:nvSpPr>
          <p:cNvPr id="4" name="Texte 4"/>
          <p:cNvSpPr txBox="1"/>
          <p:nvPr/>
        </p:nvSpPr>
        <p:spPr>
          <a:xfrm>
            <a:off x="5166360" y="1965960"/>
            <a:ext cx="2926080" cy="274320"/>
          </a:xfrm>
          <a:prstGeom prst="rect">
            <a:avLst/>
          </a:prstGeom>
          <a:noFill/>
        </p:spPr>
        <p:txBody>
          <a:bodyPr wrap="square" lIns="0" tIns="0" rIns="0" bIns="0" rtlCol="0" anchor="t">
            <a:noAutofit/>
          </a:bodyPr>
          <a:lstStyle/>
          <a:p>
            <a:pPr marL="0" indent="0" algn="l">
              <a:spcBef>
                <a:spcPts val="0"/>
              </a:spcBef>
              <a:spcAft>
                <a:spcPts val="0"/>
              </a:spcAft>
              <a:buNone/>
            </a:pPr>
            <a:r>
              <a:rPr lang="fr-FR" sz="1300" b="1" dirty="0">
                <a:solidFill>
                  <a:schemeClr val="accent3"/>
                </a:solidFill>
              </a:rPr>
              <a:t>Sous Linux</a:t>
            </a:r>
          </a:p>
        </p:txBody>
      </p:sp>
      <p:sp>
        <p:nvSpPr>
          <p:cNvPr id="5" name="Texte 5"/>
          <p:cNvSpPr txBox="1"/>
          <p:nvPr/>
        </p:nvSpPr>
        <p:spPr>
          <a:xfrm>
            <a:off x="8549640" y="1965960"/>
            <a:ext cx="2743200" cy="274320"/>
          </a:xfrm>
          <a:prstGeom prst="rect">
            <a:avLst/>
          </a:prstGeom>
          <a:noFill/>
        </p:spPr>
        <p:txBody>
          <a:bodyPr wrap="square" lIns="0" tIns="0" rIns="0" bIns="0" rtlCol="0" anchor="t">
            <a:noAutofit/>
          </a:bodyPr>
          <a:lstStyle/>
          <a:p>
            <a:pPr marL="0" indent="0" algn="l">
              <a:spcBef>
                <a:spcPts val="0"/>
              </a:spcBef>
              <a:spcAft>
                <a:spcPts val="0"/>
              </a:spcAft>
              <a:buNone/>
            </a:pPr>
            <a:r>
              <a:rPr lang="fr-FR" sz="1300" b="1" dirty="0">
                <a:solidFill>
                  <a:schemeClr val="accent3"/>
                </a:solidFill>
              </a:rPr>
              <a:t>Dans OpenStack</a:t>
            </a:r>
          </a:p>
        </p:txBody>
      </p:sp>
      <p:sp>
        <p:nvSpPr>
          <p:cNvPr id="6" name="Besoin 6"/>
          <p:cNvSpPr/>
          <p:nvPr/>
        </p:nvSpPr>
        <p:spPr>
          <a:xfrm>
            <a:off x="1371600" y="2331720"/>
            <a:ext cx="3566160" cy="365760"/>
          </a:xfrm>
          <a:prstGeom prst="rect">
            <a:avLst/>
          </a:prstGeom>
          <a:solidFill>
            <a:srgbClr val="FFFFFF"/>
          </a:solidFill>
          <a:ln>
            <a:noFill/>
          </a:ln>
        </p:spPr>
        <p:txBody>
          <a:bodyPr wrap="square" lIns="109728" tIns="109728" rIns="109728" bIns="109728" rtlCol="0" anchor="ctr">
            <a:noAutofit/>
          </a:bodyPr>
          <a:lstStyle/>
          <a:p>
            <a:pPr marL="0" indent="0" algn="l">
              <a:spcBef>
                <a:spcPts val="0"/>
              </a:spcBef>
              <a:spcAft>
                <a:spcPts val="0"/>
              </a:spcAft>
              <a:buNone/>
            </a:pPr>
            <a:r>
              <a:rPr lang="fr-FR" sz="1300" b="1" dirty="0"/>
              <a:t>Virtualiser des machines</a:t>
            </a:r>
          </a:p>
        </p:txBody>
      </p:sp>
      <p:sp>
        <p:nvSpPr>
          <p:cNvPr id="7" name="Texte 7"/>
          <p:cNvSpPr txBox="1"/>
          <p:nvPr/>
        </p:nvSpPr>
        <p:spPr>
          <a:xfrm>
            <a:off x="5166360" y="2331720"/>
            <a:ext cx="2926080" cy="365760"/>
          </a:xfrm>
          <a:prstGeom prst="rect">
            <a:avLst/>
          </a:prstGeom>
          <a:noFill/>
        </p:spPr>
        <p:txBody>
          <a:bodyPr wrap="square" lIns="0" tIns="0" rIns="0" bIns="0" rtlCol="0" anchor="ctr">
            <a:noAutofit/>
          </a:bodyPr>
          <a:lstStyle/>
          <a:p>
            <a:pPr marL="0" indent="0" algn="l">
              <a:spcBef>
                <a:spcPts val="0"/>
              </a:spcBef>
              <a:spcAft>
                <a:spcPts val="0"/>
              </a:spcAft>
              <a:buNone/>
            </a:pPr>
            <a:r>
              <a:rPr lang="fr-FR" sz="1300" i="1" dirty="0"/>
              <a:t>KVM + Libvirt</a:t>
            </a:r>
          </a:p>
        </p:txBody>
      </p:sp>
      <p:cxnSp>
        <p:nvCxnSpPr>
          <p:cNvPr id="8" name="Flèche 8"/>
          <p:cNvCxnSpPr/>
          <p:nvPr/>
        </p:nvCxnSpPr>
        <p:spPr>
          <a:xfrm>
            <a:off x="8001000" y="2514600"/>
            <a:ext cx="502920" cy="0"/>
          </a:xfrm>
          <a:prstGeom prst="straightConnector1">
            <a:avLst/>
          </a:prstGeom>
          <a:ln w="19050">
            <a:solidFill>
              <a:schemeClr val="tx2"/>
            </a:solidFill>
            <a:tailEnd type="triangle" w="med" len="med"/>
          </a:ln>
        </p:spPr>
      </p:cxnSp>
      <p:sp>
        <p:nvSpPr>
          <p:cNvPr id="9" name="Service 9"/>
          <p:cNvSpPr/>
          <p:nvPr/>
        </p:nvSpPr>
        <p:spPr>
          <a:xfrm>
            <a:off x="8549640" y="2331720"/>
            <a:ext cx="2011680" cy="365760"/>
          </a:xfrm>
          <a:prstGeom prst="roundRect">
            <a:avLst>
              <a:gd name="adj" fmla="val 20000"/>
            </a:avLst>
          </a:prstGeom>
          <a:solidFill>
            <a:schemeClr val="tx2"/>
          </a:solidFill>
          <a:ln>
            <a:noFill/>
          </a:ln>
        </p:spPr>
        <p:txBody>
          <a:bodyPr wrap="square" lIns="36576" tIns="36576" rIns="36576" bIns="36576" rtlCol="0" anchor="ctr">
            <a:noAutofit/>
          </a:bodyPr>
          <a:lstStyle/>
          <a:p>
            <a:pPr marL="0" indent="0" algn="ctr">
              <a:spcBef>
                <a:spcPts val="0"/>
              </a:spcBef>
              <a:spcAft>
                <a:spcPts val="0"/>
              </a:spcAft>
              <a:buNone/>
            </a:pPr>
            <a:r>
              <a:rPr lang="fr-FR" sz="1400" b="1" dirty="0">
                <a:solidFill>
                  <a:schemeClr val="bg2"/>
                </a:solidFill>
              </a:rPr>
              <a:t>Nova</a:t>
            </a:r>
          </a:p>
        </p:txBody>
      </p:sp>
      <p:sp>
        <p:nvSpPr>
          <p:cNvPr id="10" name="Besoin 10"/>
          <p:cNvSpPr/>
          <p:nvPr/>
        </p:nvSpPr>
        <p:spPr>
          <a:xfrm>
            <a:off x="1371600" y="2761488"/>
            <a:ext cx="3566160" cy="365760"/>
          </a:xfrm>
          <a:prstGeom prst="rect">
            <a:avLst/>
          </a:prstGeom>
          <a:solidFill>
            <a:srgbClr val="FFFFFF"/>
          </a:solidFill>
          <a:ln>
            <a:noFill/>
          </a:ln>
        </p:spPr>
        <p:txBody>
          <a:bodyPr wrap="square" lIns="109728" tIns="109728" rIns="109728" bIns="109728" rtlCol="0" anchor="ctr">
            <a:noAutofit/>
          </a:bodyPr>
          <a:lstStyle/>
          <a:p>
            <a:pPr marL="0" indent="0" algn="l">
              <a:spcBef>
                <a:spcPts val="0"/>
              </a:spcBef>
              <a:spcAft>
                <a:spcPts val="0"/>
              </a:spcAft>
              <a:buNone/>
            </a:pPr>
            <a:r>
              <a:rPr lang="fr-FR" sz="1300" b="1" dirty="0"/>
              <a:t>Virtualiser le réseau</a:t>
            </a:r>
          </a:p>
        </p:txBody>
      </p:sp>
      <p:sp>
        <p:nvSpPr>
          <p:cNvPr id="11" name="Texte 11"/>
          <p:cNvSpPr txBox="1"/>
          <p:nvPr/>
        </p:nvSpPr>
        <p:spPr>
          <a:xfrm>
            <a:off x="5166360" y="2761488"/>
            <a:ext cx="2926080" cy="365760"/>
          </a:xfrm>
          <a:prstGeom prst="rect">
            <a:avLst/>
          </a:prstGeom>
          <a:noFill/>
        </p:spPr>
        <p:txBody>
          <a:bodyPr wrap="square" lIns="0" tIns="0" rIns="0" bIns="0" rtlCol="0" anchor="ctr">
            <a:noAutofit/>
          </a:bodyPr>
          <a:lstStyle/>
          <a:p>
            <a:pPr marL="0" indent="0" algn="l">
              <a:spcBef>
                <a:spcPts val="0"/>
              </a:spcBef>
              <a:spcAft>
                <a:spcPts val="0"/>
              </a:spcAft>
              <a:buNone/>
            </a:pPr>
            <a:r>
              <a:rPr lang="fr-FR" sz="1300" i="1" dirty="0"/>
              <a:t>Open vSwitch / OVN</a:t>
            </a:r>
          </a:p>
        </p:txBody>
      </p:sp>
      <p:cxnSp>
        <p:nvCxnSpPr>
          <p:cNvPr id="12" name="Flèche 12"/>
          <p:cNvCxnSpPr/>
          <p:nvPr/>
        </p:nvCxnSpPr>
        <p:spPr>
          <a:xfrm>
            <a:off x="8001000" y="2944368"/>
            <a:ext cx="502920" cy="0"/>
          </a:xfrm>
          <a:prstGeom prst="straightConnector1">
            <a:avLst/>
          </a:prstGeom>
          <a:ln w="19050">
            <a:solidFill>
              <a:schemeClr val="tx2"/>
            </a:solidFill>
            <a:tailEnd type="triangle" w="med" len="med"/>
          </a:ln>
        </p:spPr>
      </p:cxnSp>
      <p:sp>
        <p:nvSpPr>
          <p:cNvPr id="13" name="Service 13"/>
          <p:cNvSpPr/>
          <p:nvPr/>
        </p:nvSpPr>
        <p:spPr>
          <a:xfrm>
            <a:off x="8549640" y="2761488"/>
            <a:ext cx="2011680" cy="365760"/>
          </a:xfrm>
          <a:prstGeom prst="roundRect">
            <a:avLst>
              <a:gd name="adj" fmla="val 20000"/>
            </a:avLst>
          </a:prstGeom>
          <a:solidFill>
            <a:schemeClr val="tx2"/>
          </a:solidFill>
          <a:ln>
            <a:noFill/>
          </a:ln>
        </p:spPr>
        <p:txBody>
          <a:bodyPr wrap="square" lIns="36576" tIns="36576" rIns="36576" bIns="36576" rtlCol="0" anchor="ctr">
            <a:noAutofit/>
          </a:bodyPr>
          <a:lstStyle/>
          <a:p>
            <a:pPr marL="0" indent="0" algn="ctr">
              <a:spcBef>
                <a:spcPts val="0"/>
              </a:spcBef>
              <a:spcAft>
                <a:spcPts val="0"/>
              </a:spcAft>
              <a:buNone/>
            </a:pPr>
            <a:r>
              <a:rPr lang="fr-FR" sz="1400" b="1" dirty="0">
                <a:solidFill>
                  <a:schemeClr val="bg2"/>
                </a:solidFill>
              </a:rPr>
              <a:t>Neutron</a:t>
            </a:r>
          </a:p>
        </p:txBody>
      </p:sp>
      <p:sp>
        <p:nvSpPr>
          <p:cNvPr id="14" name="Besoin 14"/>
          <p:cNvSpPr/>
          <p:nvPr/>
        </p:nvSpPr>
        <p:spPr>
          <a:xfrm>
            <a:off x="1371600" y="3191256"/>
            <a:ext cx="3566160" cy="365760"/>
          </a:xfrm>
          <a:prstGeom prst="rect">
            <a:avLst/>
          </a:prstGeom>
          <a:solidFill>
            <a:srgbClr val="FFFFFF"/>
          </a:solidFill>
          <a:ln>
            <a:noFill/>
          </a:ln>
        </p:spPr>
        <p:txBody>
          <a:bodyPr wrap="square" lIns="109728" tIns="109728" rIns="109728" bIns="109728" rtlCol="0" anchor="ctr">
            <a:noAutofit/>
          </a:bodyPr>
          <a:lstStyle/>
          <a:p>
            <a:pPr marL="0" indent="0" algn="l">
              <a:spcBef>
                <a:spcPts val="0"/>
              </a:spcBef>
              <a:spcAft>
                <a:spcPts val="0"/>
              </a:spcAft>
              <a:buNone/>
            </a:pPr>
            <a:r>
              <a:rPr lang="fr-FR" sz="1300" b="1" dirty="0"/>
              <a:t>Stocker des volumes partagés</a:t>
            </a:r>
          </a:p>
        </p:txBody>
      </p:sp>
      <p:sp>
        <p:nvSpPr>
          <p:cNvPr id="15" name="Texte 15"/>
          <p:cNvSpPr txBox="1"/>
          <p:nvPr/>
        </p:nvSpPr>
        <p:spPr>
          <a:xfrm>
            <a:off x="5166360" y="3191256"/>
            <a:ext cx="2926080" cy="365760"/>
          </a:xfrm>
          <a:prstGeom prst="rect">
            <a:avLst/>
          </a:prstGeom>
          <a:noFill/>
        </p:spPr>
        <p:txBody>
          <a:bodyPr wrap="square" lIns="0" tIns="0" rIns="0" bIns="0" rtlCol="0" anchor="ctr">
            <a:noAutofit/>
          </a:bodyPr>
          <a:lstStyle/>
          <a:p>
            <a:pPr marL="0" indent="0" algn="l">
              <a:spcBef>
                <a:spcPts val="0"/>
              </a:spcBef>
              <a:spcAft>
                <a:spcPts val="0"/>
              </a:spcAft>
              <a:buNone/>
            </a:pPr>
            <a:r>
              <a:rPr lang="fr-FR" sz="1300" i="1" dirty="0"/>
              <a:t>NFS, Ceph, LVM…</a:t>
            </a:r>
          </a:p>
        </p:txBody>
      </p:sp>
      <p:cxnSp>
        <p:nvCxnSpPr>
          <p:cNvPr id="16" name="Flèche 16"/>
          <p:cNvCxnSpPr/>
          <p:nvPr/>
        </p:nvCxnSpPr>
        <p:spPr>
          <a:xfrm>
            <a:off x="8001000" y="3374136"/>
            <a:ext cx="502920" cy="0"/>
          </a:xfrm>
          <a:prstGeom prst="straightConnector1">
            <a:avLst/>
          </a:prstGeom>
          <a:ln w="19050">
            <a:solidFill>
              <a:schemeClr val="tx2"/>
            </a:solidFill>
            <a:tailEnd type="triangle" w="med" len="med"/>
          </a:ln>
        </p:spPr>
      </p:cxnSp>
      <p:sp>
        <p:nvSpPr>
          <p:cNvPr id="17" name="Service 17"/>
          <p:cNvSpPr/>
          <p:nvPr/>
        </p:nvSpPr>
        <p:spPr>
          <a:xfrm>
            <a:off x="8549640" y="3191256"/>
            <a:ext cx="2011680" cy="365760"/>
          </a:xfrm>
          <a:prstGeom prst="roundRect">
            <a:avLst>
              <a:gd name="adj" fmla="val 20000"/>
            </a:avLst>
          </a:prstGeom>
          <a:solidFill>
            <a:schemeClr val="tx2"/>
          </a:solidFill>
          <a:ln>
            <a:noFill/>
          </a:ln>
        </p:spPr>
        <p:txBody>
          <a:bodyPr wrap="square" lIns="36576" tIns="36576" rIns="36576" bIns="36576" rtlCol="0" anchor="ctr">
            <a:noAutofit/>
          </a:bodyPr>
          <a:lstStyle/>
          <a:p>
            <a:pPr marL="0" indent="0" algn="ctr">
              <a:spcBef>
                <a:spcPts val="0"/>
              </a:spcBef>
              <a:spcAft>
                <a:spcPts val="0"/>
              </a:spcAft>
              <a:buNone/>
            </a:pPr>
            <a:r>
              <a:rPr lang="fr-FR" sz="1400" b="1" dirty="0">
                <a:solidFill>
                  <a:schemeClr val="bg2"/>
                </a:solidFill>
              </a:rPr>
              <a:t>Cinder</a:t>
            </a:r>
          </a:p>
        </p:txBody>
      </p:sp>
      <p:sp>
        <p:nvSpPr>
          <p:cNvPr id="18" name="Besoin 18"/>
          <p:cNvSpPr/>
          <p:nvPr/>
        </p:nvSpPr>
        <p:spPr>
          <a:xfrm>
            <a:off x="1371600" y="3621024"/>
            <a:ext cx="3566160" cy="365760"/>
          </a:xfrm>
          <a:prstGeom prst="rect">
            <a:avLst/>
          </a:prstGeom>
          <a:solidFill>
            <a:srgbClr val="FFFFFF"/>
          </a:solidFill>
          <a:ln>
            <a:noFill/>
          </a:ln>
        </p:spPr>
        <p:txBody>
          <a:bodyPr wrap="square" lIns="109728" tIns="109728" rIns="109728" bIns="109728" rtlCol="0" anchor="ctr">
            <a:noAutofit/>
          </a:bodyPr>
          <a:lstStyle/>
          <a:p>
            <a:pPr marL="0" indent="0" algn="l">
              <a:spcBef>
                <a:spcPts val="0"/>
              </a:spcBef>
              <a:spcAft>
                <a:spcPts val="0"/>
              </a:spcAft>
              <a:buNone/>
            </a:pPr>
            <a:r>
              <a:rPr lang="fr-FR" sz="1300" b="1" dirty="0"/>
              <a:t>Stocker les images de VM</a:t>
            </a:r>
          </a:p>
        </p:txBody>
      </p:sp>
      <p:sp>
        <p:nvSpPr>
          <p:cNvPr id="19" name="Texte 19"/>
          <p:cNvSpPr txBox="1"/>
          <p:nvPr/>
        </p:nvSpPr>
        <p:spPr>
          <a:xfrm>
            <a:off x="5166360" y="3621024"/>
            <a:ext cx="2926080" cy="365760"/>
          </a:xfrm>
          <a:prstGeom prst="rect">
            <a:avLst/>
          </a:prstGeom>
          <a:noFill/>
        </p:spPr>
        <p:txBody>
          <a:bodyPr wrap="square" lIns="0" tIns="0" rIns="0" bIns="0" rtlCol="0" anchor="ctr">
            <a:noAutofit/>
          </a:bodyPr>
          <a:lstStyle/>
          <a:p>
            <a:pPr marL="0" indent="0" algn="l">
              <a:spcBef>
                <a:spcPts val="0"/>
              </a:spcBef>
              <a:spcAft>
                <a:spcPts val="0"/>
              </a:spcAft>
              <a:buNone/>
            </a:pPr>
            <a:r>
              <a:rPr lang="fr-FR" sz="1300" i="1" dirty="0"/>
              <a:t>fichiers locaux, NFS…</a:t>
            </a:r>
          </a:p>
        </p:txBody>
      </p:sp>
      <p:cxnSp>
        <p:nvCxnSpPr>
          <p:cNvPr id="20" name="Flèche 20"/>
          <p:cNvCxnSpPr/>
          <p:nvPr/>
        </p:nvCxnSpPr>
        <p:spPr>
          <a:xfrm>
            <a:off x="8001000" y="3803904"/>
            <a:ext cx="502920" cy="0"/>
          </a:xfrm>
          <a:prstGeom prst="straightConnector1">
            <a:avLst/>
          </a:prstGeom>
          <a:ln w="19050">
            <a:solidFill>
              <a:schemeClr val="tx2"/>
            </a:solidFill>
            <a:tailEnd type="triangle" w="med" len="med"/>
          </a:ln>
        </p:spPr>
      </p:cxnSp>
      <p:sp>
        <p:nvSpPr>
          <p:cNvPr id="21" name="Service 21"/>
          <p:cNvSpPr/>
          <p:nvPr/>
        </p:nvSpPr>
        <p:spPr>
          <a:xfrm>
            <a:off x="8549640" y="3621024"/>
            <a:ext cx="2011680" cy="365760"/>
          </a:xfrm>
          <a:prstGeom prst="roundRect">
            <a:avLst>
              <a:gd name="adj" fmla="val 20000"/>
            </a:avLst>
          </a:prstGeom>
          <a:solidFill>
            <a:schemeClr val="tx2"/>
          </a:solidFill>
          <a:ln>
            <a:noFill/>
          </a:ln>
        </p:spPr>
        <p:txBody>
          <a:bodyPr wrap="square" lIns="36576" tIns="36576" rIns="36576" bIns="36576" rtlCol="0" anchor="ctr">
            <a:noAutofit/>
          </a:bodyPr>
          <a:lstStyle/>
          <a:p>
            <a:pPr marL="0" indent="0" algn="ctr">
              <a:spcBef>
                <a:spcPts val="0"/>
              </a:spcBef>
              <a:spcAft>
                <a:spcPts val="0"/>
              </a:spcAft>
              <a:buNone/>
            </a:pPr>
            <a:r>
              <a:rPr lang="fr-FR" sz="1400" b="1" dirty="0">
                <a:solidFill>
                  <a:schemeClr val="bg2"/>
                </a:solidFill>
              </a:rPr>
              <a:t>Glance</a:t>
            </a:r>
          </a:p>
        </p:txBody>
      </p:sp>
      <p:sp>
        <p:nvSpPr>
          <p:cNvPr id="22" name="Besoin 22"/>
          <p:cNvSpPr/>
          <p:nvPr/>
        </p:nvSpPr>
        <p:spPr>
          <a:xfrm>
            <a:off x="1371600" y="4050792"/>
            <a:ext cx="3566160" cy="365760"/>
          </a:xfrm>
          <a:prstGeom prst="rect">
            <a:avLst/>
          </a:prstGeom>
          <a:solidFill>
            <a:srgbClr val="FFFFFF"/>
          </a:solidFill>
          <a:ln>
            <a:noFill/>
          </a:ln>
        </p:spPr>
        <p:txBody>
          <a:bodyPr wrap="square" lIns="109728" tIns="109728" rIns="109728" bIns="109728" rtlCol="0" anchor="ctr">
            <a:noAutofit/>
          </a:bodyPr>
          <a:lstStyle/>
          <a:p>
            <a:pPr marL="0" indent="0" algn="l">
              <a:spcBef>
                <a:spcPts val="0"/>
              </a:spcBef>
              <a:spcAft>
                <a:spcPts val="0"/>
              </a:spcAft>
              <a:buNone/>
            </a:pPr>
            <a:r>
              <a:rPr lang="fr-FR" sz="1300" b="1" dirty="0"/>
              <a:t>Gérer les identités</a:t>
            </a:r>
          </a:p>
        </p:txBody>
      </p:sp>
      <p:sp>
        <p:nvSpPr>
          <p:cNvPr id="23" name="Texte 23"/>
          <p:cNvSpPr txBox="1"/>
          <p:nvPr/>
        </p:nvSpPr>
        <p:spPr>
          <a:xfrm>
            <a:off x="5166360" y="4050792"/>
            <a:ext cx="2926080" cy="365760"/>
          </a:xfrm>
          <a:prstGeom prst="rect">
            <a:avLst/>
          </a:prstGeom>
          <a:noFill/>
        </p:spPr>
        <p:txBody>
          <a:bodyPr wrap="square" lIns="0" tIns="0" rIns="0" bIns="0" rtlCol="0" anchor="ctr">
            <a:noAutofit/>
          </a:bodyPr>
          <a:lstStyle/>
          <a:p>
            <a:pPr marL="0" indent="0" algn="l">
              <a:spcBef>
                <a:spcPts val="0"/>
              </a:spcBef>
              <a:spcAft>
                <a:spcPts val="0"/>
              </a:spcAft>
              <a:buNone/>
            </a:pPr>
            <a:r>
              <a:rPr lang="fr-FR" sz="1300" i="1" dirty="0"/>
              <a:t>annuaire / LDAP</a:t>
            </a:r>
          </a:p>
        </p:txBody>
      </p:sp>
      <p:cxnSp>
        <p:nvCxnSpPr>
          <p:cNvPr id="24" name="Flèche 24"/>
          <p:cNvCxnSpPr/>
          <p:nvPr/>
        </p:nvCxnSpPr>
        <p:spPr>
          <a:xfrm>
            <a:off x="8001000" y="4233672"/>
            <a:ext cx="502920" cy="0"/>
          </a:xfrm>
          <a:prstGeom prst="straightConnector1">
            <a:avLst/>
          </a:prstGeom>
          <a:ln w="19050">
            <a:solidFill>
              <a:schemeClr val="tx2"/>
            </a:solidFill>
            <a:tailEnd type="triangle" w="med" len="med"/>
          </a:ln>
        </p:spPr>
      </p:cxnSp>
      <p:sp>
        <p:nvSpPr>
          <p:cNvPr id="25" name="Service 25"/>
          <p:cNvSpPr/>
          <p:nvPr/>
        </p:nvSpPr>
        <p:spPr>
          <a:xfrm>
            <a:off x="8549640" y="4050792"/>
            <a:ext cx="2011680" cy="365760"/>
          </a:xfrm>
          <a:prstGeom prst="roundRect">
            <a:avLst>
              <a:gd name="adj" fmla="val 20000"/>
            </a:avLst>
          </a:prstGeom>
          <a:solidFill>
            <a:schemeClr val="tx2"/>
          </a:solidFill>
          <a:ln>
            <a:noFill/>
          </a:ln>
        </p:spPr>
        <p:txBody>
          <a:bodyPr wrap="square" lIns="36576" tIns="36576" rIns="36576" bIns="36576" rtlCol="0" anchor="ctr">
            <a:noAutofit/>
          </a:bodyPr>
          <a:lstStyle/>
          <a:p>
            <a:pPr marL="0" indent="0" algn="ctr">
              <a:spcBef>
                <a:spcPts val="0"/>
              </a:spcBef>
              <a:spcAft>
                <a:spcPts val="0"/>
              </a:spcAft>
              <a:buNone/>
            </a:pPr>
            <a:r>
              <a:rPr lang="fr-FR" sz="1400" b="1" dirty="0">
                <a:solidFill>
                  <a:schemeClr val="bg2"/>
                </a:solidFill>
              </a:rPr>
              <a:t>Keystone</a:t>
            </a:r>
          </a:p>
        </p:txBody>
      </p:sp>
      <p:sp>
        <p:nvSpPr>
          <p:cNvPr id="26" name="Besoin 26"/>
          <p:cNvSpPr/>
          <p:nvPr/>
        </p:nvSpPr>
        <p:spPr>
          <a:xfrm>
            <a:off x="1371600" y="4480560"/>
            <a:ext cx="3566160" cy="365760"/>
          </a:xfrm>
          <a:prstGeom prst="rect">
            <a:avLst/>
          </a:prstGeom>
          <a:solidFill>
            <a:srgbClr val="FFFFFF"/>
          </a:solidFill>
          <a:ln>
            <a:noFill/>
          </a:ln>
        </p:spPr>
        <p:txBody>
          <a:bodyPr wrap="square" lIns="109728" tIns="109728" rIns="109728" bIns="109728" rtlCol="0" anchor="ctr">
            <a:noAutofit/>
          </a:bodyPr>
          <a:lstStyle/>
          <a:p>
            <a:pPr marL="0" indent="0" algn="l">
              <a:spcBef>
                <a:spcPts val="0"/>
              </a:spcBef>
              <a:spcAft>
                <a:spcPts val="0"/>
              </a:spcAft>
              <a:buNone/>
            </a:pPr>
            <a:r>
              <a:rPr lang="fr-FR" sz="1300" b="1" dirty="0"/>
              <a:t>Suivre les ressources dispo</a:t>
            </a:r>
          </a:p>
        </p:txBody>
      </p:sp>
      <p:sp>
        <p:nvSpPr>
          <p:cNvPr id="27" name="Texte 27"/>
          <p:cNvSpPr txBox="1"/>
          <p:nvPr/>
        </p:nvSpPr>
        <p:spPr>
          <a:xfrm>
            <a:off x="5166360" y="4480560"/>
            <a:ext cx="2926080" cy="365760"/>
          </a:xfrm>
          <a:prstGeom prst="rect">
            <a:avLst/>
          </a:prstGeom>
          <a:noFill/>
        </p:spPr>
        <p:txBody>
          <a:bodyPr wrap="square" lIns="0" tIns="0" rIns="0" bIns="0" rtlCol="0" anchor="ctr">
            <a:noAutofit/>
          </a:bodyPr>
          <a:lstStyle/>
          <a:p>
            <a:pPr marL="0" indent="0" algn="l">
              <a:spcBef>
                <a:spcPts val="0"/>
              </a:spcBef>
              <a:spcAft>
                <a:spcPts val="0"/>
              </a:spcAft>
              <a:buNone/>
            </a:pPr>
            <a:r>
              <a:rPr lang="fr-FR" sz="1300" i="1" dirty="0"/>
              <a:t>remonté par nova-compute</a:t>
            </a:r>
          </a:p>
        </p:txBody>
      </p:sp>
      <p:cxnSp>
        <p:nvCxnSpPr>
          <p:cNvPr id="28" name="Flèche 28"/>
          <p:cNvCxnSpPr/>
          <p:nvPr/>
        </p:nvCxnSpPr>
        <p:spPr>
          <a:xfrm>
            <a:off x="8001000" y="4663440"/>
            <a:ext cx="502920" cy="0"/>
          </a:xfrm>
          <a:prstGeom prst="straightConnector1">
            <a:avLst/>
          </a:prstGeom>
          <a:ln w="19050">
            <a:solidFill>
              <a:schemeClr val="tx2"/>
            </a:solidFill>
            <a:tailEnd type="triangle" w="med" len="med"/>
          </a:ln>
        </p:spPr>
      </p:cxnSp>
      <p:sp>
        <p:nvSpPr>
          <p:cNvPr id="29" name="Service 29"/>
          <p:cNvSpPr/>
          <p:nvPr/>
        </p:nvSpPr>
        <p:spPr>
          <a:xfrm>
            <a:off x="8549640" y="4480560"/>
            <a:ext cx="2011680" cy="365760"/>
          </a:xfrm>
          <a:prstGeom prst="roundRect">
            <a:avLst>
              <a:gd name="adj" fmla="val 20000"/>
            </a:avLst>
          </a:prstGeom>
          <a:solidFill>
            <a:schemeClr val="tx2"/>
          </a:solidFill>
          <a:ln>
            <a:noFill/>
          </a:ln>
        </p:spPr>
        <p:txBody>
          <a:bodyPr wrap="square" lIns="36576" tIns="36576" rIns="36576" bIns="36576" rtlCol="0" anchor="ctr">
            <a:noAutofit/>
          </a:bodyPr>
          <a:lstStyle/>
          <a:p>
            <a:pPr marL="0" indent="0" algn="ctr">
              <a:spcBef>
                <a:spcPts val="0"/>
              </a:spcBef>
              <a:spcAft>
                <a:spcPts val="0"/>
              </a:spcAft>
              <a:buNone/>
            </a:pPr>
            <a:r>
              <a:rPr lang="fr-FR" sz="1400" b="1" dirty="0">
                <a:solidFill>
                  <a:schemeClr val="bg2"/>
                </a:solidFill>
              </a:rPr>
              <a:t>Placement</a:t>
            </a:r>
          </a:p>
        </p:txBody>
      </p:sp>
      <p:sp>
        <p:nvSpPr>
          <p:cNvPr id="30" name="Besoin 30"/>
          <p:cNvSpPr/>
          <p:nvPr/>
        </p:nvSpPr>
        <p:spPr>
          <a:xfrm>
            <a:off x="1371600" y="4910328"/>
            <a:ext cx="3566160" cy="365760"/>
          </a:xfrm>
          <a:prstGeom prst="rect">
            <a:avLst/>
          </a:prstGeom>
          <a:solidFill>
            <a:srgbClr val="FFFFFF"/>
          </a:solidFill>
          <a:ln>
            <a:noFill/>
          </a:ln>
        </p:spPr>
        <p:txBody>
          <a:bodyPr wrap="square" lIns="109728" tIns="109728" rIns="109728" bIns="109728" rtlCol="0" anchor="ctr">
            <a:noAutofit/>
          </a:bodyPr>
          <a:lstStyle/>
          <a:p>
            <a:pPr marL="0" indent="0" algn="l">
              <a:spcBef>
                <a:spcPts val="0"/>
              </a:spcBef>
              <a:spcAft>
                <a:spcPts val="0"/>
              </a:spcAft>
              <a:buNone/>
            </a:pPr>
            <a:r>
              <a:rPr lang="fr-FR" sz="1300" b="1" dirty="0"/>
              <a:t>Une base de données</a:t>
            </a:r>
          </a:p>
        </p:txBody>
      </p:sp>
      <p:sp>
        <p:nvSpPr>
          <p:cNvPr id="31" name="Texte 31"/>
          <p:cNvSpPr txBox="1"/>
          <p:nvPr/>
        </p:nvSpPr>
        <p:spPr>
          <a:xfrm>
            <a:off x="5166360" y="4910328"/>
            <a:ext cx="2926080" cy="365760"/>
          </a:xfrm>
          <a:prstGeom prst="rect">
            <a:avLst/>
          </a:prstGeom>
          <a:noFill/>
        </p:spPr>
        <p:txBody>
          <a:bodyPr wrap="square" lIns="0" tIns="0" rIns="0" bIns="0" rtlCol="0" anchor="ctr">
            <a:noAutofit/>
          </a:bodyPr>
          <a:lstStyle/>
          <a:p>
            <a:pPr marL="0" indent="0" algn="l">
              <a:spcBef>
                <a:spcPts val="0"/>
              </a:spcBef>
              <a:spcAft>
                <a:spcPts val="0"/>
              </a:spcAft>
              <a:buNone/>
            </a:pPr>
            <a:r>
              <a:rPr lang="fr-FR" sz="1300" i="1" dirty="0"/>
              <a:t>MariaDB</a:t>
            </a:r>
          </a:p>
        </p:txBody>
      </p:sp>
      <p:cxnSp>
        <p:nvCxnSpPr>
          <p:cNvPr id="32" name="Flèche 32"/>
          <p:cNvCxnSpPr/>
          <p:nvPr/>
        </p:nvCxnSpPr>
        <p:spPr>
          <a:xfrm>
            <a:off x="8001000" y="5093208"/>
            <a:ext cx="502920" cy="0"/>
          </a:xfrm>
          <a:prstGeom prst="straightConnector1">
            <a:avLst/>
          </a:prstGeom>
          <a:ln w="19050">
            <a:solidFill>
              <a:schemeClr val="tx2"/>
            </a:solidFill>
            <a:tailEnd type="triangle" w="med" len="med"/>
          </a:ln>
        </p:spPr>
      </p:cxnSp>
      <p:sp>
        <p:nvSpPr>
          <p:cNvPr id="33" name="Service 33"/>
          <p:cNvSpPr/>
          <p:nvPr/>
        </p:nvSpPr>
        <p:spPr>
          <a:xfrm>
            <a:off x="8549640" y="4910328"/>
            <a:ext cx="2011680" cy="365760"/>
          </a:xfrm>
          <a:prstGeom prst="roundRect">
            <a:avLst>
              <a:gd name="adj" fmla="val 20000"/>
            </a:avLst>
          </a:prstGeom>
          <a:solidFill>
            <a:schemeClr val="accent4"/>
          </a:solidFill>
          <a:ln>
            <a:noFill/>
          </a:ln>
        </p:spPr>
        <p:txBody>
          <a:bodyPr wrap="square" lIns="36576" tIns="36576" rIns="36576" bIns="36576" rtlCol="0" anchor="ctr">
            <a:noAutofit/>
          </a:bodyPr>
          <a:lstStyle/>
          <a:p>
            <a:pPr marL="0" indent="0" algn="ctr">
              <a:spcBef>
                <a:spcPts val="0"/>
              </a:spcBef>
              <a:spcAft>
                <a:spcPts val="0"/>
              </a:spcAft>
              <a:buNone/>
            </a:pPr>
            <a:r>
              <a:rPr lang="fr-FR" sz="1400" b="1" dirty="0">
                <a:solidFill>
                  <a:schemeClr val="tx2"/>
                </a:solidFill>
              </a:rPr>
              <a:t>MariaDB</a:t>
            </a:r>
          </a:p>
        </p:txBody>
      </p:sp>
      <p:sp>
        <p:nvSpPr>
          <p:cNvPr id="34" name="Besoin 34"/>
          <p:cNvSpPr/>
          <p:nvPr/>
        </p:nvSpPr>
        <p:spPr>
          <a:xfrm>
            <a:off x="1371600" y="5340096"/>
            <a:ext cx="3566160" cy="365760"/>
          </a:xfrm>
          <a:prstGeom prst="rect">
            <a:avLst/>
          </a:prstGeom>
          <a:solidFill>
            <a:srgbClr val="FFFFFF"/>
          </a:solidFill>
          <a:ln>
            <a:noFill/>
          </a:ln>
        </p:spPr>
        <p:txBody>
          <a:bodyPr wrap="square" lIns="109728" tIns="109728" rIns="109728" bIns="109728" rtlCol="0" anchor="ctr">
            <a:noAutofit/>
          </a:bodyPr>
          <a:lstStyle/>
          <a:p>
            <a:pPr marL="0" indent="0" algn="l">
              <a:spcBef>
                <a:spcPts val="0"/>
              </a:spcBef>
              <a:spcAft>
                <a:spcPts val="0"/>
              </a:spcAft>
              <a:buNone/>
            </a:pPr>
            <a:r>
              <a:rPr lang="fr-FR" sz="1300" b="1" dirty="0"/>
              <a:t>Faire communiquer les composants</a:t>
            </a:r>
          </a:p>
        </p:txBody>
      </p:sp>
      <p:sp>
        <p:nvSpPr>
          <p:cNvPr id="35" name="Texte 35"/>
          <p:cNvSpPr txBox="1"/>
          <p:nvPr/>
        </p:nvSpPr>
        <p:spPr>
          <a:xfrm>
            <a:off x="5166360" y="5340096"/>
            <a:ext cx="2926080" cy="365760"/>
          </a:xfrm>
          <a:prstGeom prst="rect">
            <a:avLst/>
          </a:prstGeom>
          <a:noFill/>
        </p:spPr>
        <p:txBody>
          <a:bodyPr wrap="square" lIns="0" tIns="0" rIns="0" bIns="0" rtlCol="0" anchor="ctr">
            <a:noAutofit/>
          </a:bodyPr>
          <a:lstStyle/>
          <a:p>
            <a:pPr marL="0" indent="0" algn="l">
              <a:spcBef>
                <a:spcPts val="0"/>
              </a:spcBef>
              <a:spcAft>
                <a:spcPts val="0"/>
              </a:spcAft>
              <a:buNone/>
            </a:pPr>
            <a:r>
              <a:rPr lang="fr-FR" sz="1300" i="1" dirty="0"/>
              <a:t>file de messages, REST</a:t>
            </a:r>
          </a:p>
        </p:txBody>
      </p:sp>
      <p:cxnSp>
        <p:nvCxnSpPr>
          <p:cNvPr id="36" name="Flèche 36"/>
          <p:cNvCxnSpPr/>
          <p:nvPr/>
        </p:nvCxnSpPr>
        <p:spPr>
          <a:xfrm>
            <a:off x="8001000" y="5522976"/>
            <a:ext cx="502920" cy="0"/>
          </a:xfrm>
          <a:prstGeom prst="straightConnector1">
            <a:avLst/>
          </a:prstGeom>
          <a:ln w="19050">
            <a:solidFill>
              <a:schemeClr val="tx2"/>
            </a:solidFill>
            <a:tailEnd type="triangle" w="med" len="med"/>
          </a:ln>
        </p:spPr>
      </p:cxnSp>
      <p:sp>
        <p:nvSpPr>
          <p:cNvPr id="37" name="Service 37"/>
          <p:cNvSpPr/>
          <p:nvPr/>
        </p:nvSpPr>
        <p:spPr>
          <a:xfrm>
            <a:off x="8549640" y="5340096"/>
            <a:ext cx="2011680" cy="365760"/>
          </a:xfrm>
          <a:prstGeom prst="roundRect">
            <a:avLst>
              <a:gd name="adj" fmla="val 20000"/>
            </a:avLst>
          </a:prstGeom>
          <a:solidFill>
            <a:schemeClr val="accent4"/>
          </a:solidFill>
          <a:ln>
            <a:noFill/>
          </a:ln>
        </p:spPr>
        <p:txBody>
          <a:bodyPr wrap="square" lIns="36576" tIns="36576" rIns="36576" bIns="36576" rtlCol="0" anchor="ctr">
            <a:noAutofit/>
          </a:bodyPr>
          <a:lstStyle/>
          <a:p>
            <a:pPr marL="0" indent="0" algn="ctr">
              <a:spcBef>
                <a:spcPts val="0"/>
              </a:spcBef>
              <a:spcAft>
                <a:spcPts val="0"/>
              </a:spcAft>
              <a:buNone/>
            </a:pPr>
            <a:r>
              <a:rPr lang="fr-FR" sz="1400" b="1" dirty="0">
                <a:solidFill>
                  <a:schemeClr val="tx2"/>
                </a:solidFill>
              </a:rPr>
              <a:t>RabbitMQ</a:t>
            </a:r>
          </a:p>
        </p:txBody>
      </p:sp>
      <p:sp>
        <p:nvSpPr>
          <p:cNvPr id="38" name="Texte 38"/>
          <p:cNvSpPr txBox="1"/>
          <p:nvPr/>
        </p:nvSpPr>
        <p:spPr>
          <a:xfrm>
            <a:off x="10652760" y="4910328"/>
            <a:ext cx="685800" cy="795528"/>
          </a:xfrm>
          <a:prstGeom prst="rect">
            <a:avLst/>
          </a:prstGeom>
          <a:noFill/>
        </p:spPr>
        <p:txBody>
          <a:bodyPr wrap="square" lIns="0" tIns="0" rIns="0" bIns="0" rtlCol="0" anchor="ctr">
            <a:noAutofit/>
          </a:bodyPr>
          <a:lstStyle/>
          <a:p>
            <a:pPr marL="0" indent="0" algn="l">
              <a:spcBef>
                <a:spcPts val="0"/>
              </a:spcBef>
              <a:spcAft>
                <a:spcPts val="0"/>
              </a:spcAft>
              <a:buNone/>
            </a:pPr>
            <a:r>
              <a:rPr lang="fr-FR" sz="1000" i="1" dirty="0"/>
              <a:t>briques de support</a:t>
            </a:r>
          </a:p>
        </p:txBody>
      </p:sp>
      <p:sp>
        <p:nvSpPr>
          <p:cNvPr id="39" name="Note Placement 39"/>
          <p:cNvSpPr/>
          <p:nvPr/>
        </p:nvSpPr>
        <p:spPr>
          <a:xfrm>
            <a:off x="1371600" y="5843016"/>
            <a:ext cx="9921240" cy="566928"/>
          </a:xfrm>
          <a:prstGeom prst="rect">
            <a:avLst/>
          </a:prstGeom>
          <a:noFill/>
          <a:ln>
            <a:noFill/>
          </a:ln>
        </p:spPr>
        <p:txBody>
          <a:bodyPr wrap="square" lIns="0" tIns="109728" rIns="109728" bIns="109728" rtlCol="0" anchor="ctr">
            <a:noAutofit/>
          </a:bodyPr>
          <a:lstStyle/>
          <a:p>
            <a:pPr marL="0" indent="0" algn="l">
              <a:spcBef>
                <a:spcPts val="0"/>
              </a:spcBef>
              <a:spcAft>
                <a:spcPts val="0"/>
              </a:spcAft>
              <a:buNone/>
            </a:pPr>
            <a:r>
              <a:rPr lang="fr-FR" sz="1200" b="1" dirty="0"/>
              <a:t>Placement : </a:t>
            </a:r>
            <a:r>
              <a:rPr lang="fr-FR" sz="1200" dirty="0"/>
              <a:t>garde dans sa propre base (MariaDB) l'inventaire de chaque hyperviseur (vCPU, RAM, disque) et ce qui est déjà réservé. Chaque nova-compute le met à jour régulièrement via l'API ; avant de lancer une VM, le scheduler de Nova interroge Placement, puis y enregistre sa réservation.</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F9A306D-D180-6778-5048-09CBD8C85765}"/>
              </a:ext>
            </a:extLst>
          </p:cNvPr>
          <p:cNvSpPr>
            <a:spLocks noGrp="1"/>
          </p:cNvSpPr>
          <p:nvPr>
            <p:ph type="title"/>
          </p:nvPr>
        </p:nvSpPr>
        <p:spPr/>
        <p:txBody>
          <a:bodyPr/>
          <a:lstStyle/>
          <a:p>
            <a:r>
              <a:rPr lang="fr-FR" dirty="0"/>
              <a:t>Les services dans </a:t>
            </a:r>
            <a:r>
              <a:rPr lang="fr-FR" dirty="0" err="1"/>
              <a:t>Openstack</a:t>
            </a:r>
            <a:endParaRPr lang="fr-FR" dirty="0"/>
          </a:p>
        </p:txBody>
      </p:sp>
      <p:sp>
        <p:nvSpPr>
          <p:cNvPr id="3" name="Espace réservé du contenu 2">
            <a:extLst>
              <a:ext uri="{FF2B5EF4-FFF2-40B4-BE49-F238E27FC236}">
                <a16:creationId xmlns:a16="http://schemas.microsoft.com/office/drawing/2014/main" id="{B2A99B66-4E88-8026-1D5B-2B93108D89EF}"/>
              </a:ext>
            </a:extLst>
          </p:cNvPr>
          <p:cNvSpPr>
            <a:spLocks noGrp="1"/>
          </p:cNvSpPr>
          <p:nvPr>
            <p:ph idx="1"/>
          </p:nvPr>
        </p:nvSpPr>
        <p:spPr/>
        <p:txBody>
          <a:bodyPr/>
          <a:lstStyle/>
          <a:p>
            <a:endParaRPr lang="fr-FR"/>
          </a:p>
        </p:txBody>
      </p:sp>
      <p:pic>
        <p:nvPicPr>
          <p:cNvPr id="2050" name="Picture 2">
            <a:extLst>
              <a:ext uri="{FF2B5EF4-FFF2-40B4-BE49-F238E27FC236}">
                <a16:creationId xmlns:a16="http://schemas.microsoft.com/office/drawing/2014/main" id="{F30AC5EF-BBFA-112F-59C4-795068692C0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71600" y="1307760"/>
            <a:ext cx="9601200" cy="537667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6929569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r>
              <a:rPr lang="fr-FR" dirty="0"/>
              <a:t>Installer OpenStack : les options</a:t>
            </a:r>
          </a:p>
        </p:txBody>
      </p:sp>
      <p:sp>
        <p:nvSpPr>
          <p:cNvPr id="3" name="Option 3"/>
          <p:cNvSpPr/>
          <p:nvPr/>
        </p:nvSpPr>
        <p:spPr>
          <a:xfrm>
            <a:off x="1371600" y="2148840"/>
            <a:ext cx="1819656" cy="4023360"/>
          </a:xfrm>
          <a:prstGeom prst="rect">
            <a:avLst/>
          </a:prstGeom>
          <a:solidFill>
            <a:srgbClr val="FFFFFF"/>
          </a:solidFill>
          <a:ln>
            <a:noFill/>
          </a:ln>
          <a:effectLst>
            <a:outerShdw blurRad="63500" dist="19050" dir="5400000" algn="t" rotWithShape="0">
              <a:srgbClr val="000000">
                <a:alpha val="18000"/>
              </a:srgbClr>
            </a:outerShdw>
          </a:effectLst>
        </p:spPr>
        <p:txBody>
          <a:bodyPr wrap="square" lIns="137160" tIns="137160" rIns="137160" bIns="137160" rtlCol="0" anchor="t">
            <a:noAutofit/>
          </a:bodyPr>
          <a:lstStyle/>
          <a:p>
            <a:pPr marL="0" indent="0" algn="l">
              <a:spcBef>
                <a:spcPts val="0"/>
              </a:spcBef>
              <a:spcAft>
                <a:spcPts val="1000"/>
              </a:spcAft>
              <a:buNone/>
            </a:pPr>
            <a:r>
              <a:rPr lang="fr-FR" sz="1700" b="1" dirty="0">
                <a:solidFill>
                  <a:schemeClr val="tx2"/>
                </a:solidFill>
              </a:rPr>
              <a:t>DevStack</a:t>
            </a:r>
          </a:p>
          <a:p>
            <a:pPr marL="0" indent="0" algn="l">
              <a:spcBef>
                <a:spcPts val="0"/>
              </a:spcBef>
              <a:spcAft>
                <a:spcPts val="1200"/>
              </a:spcAft>
              <a:buNone/>
            </a:pPr>
            <a:r>
              <a:rPr lang="fr-FR" sz="1300" dirty="0">
                <a:solidFill>
                  <a:schemeClr val="tx2"/>
                </a:solidFill>
              </a:rPr>
              <a:t>Un script tout-en-un sur une machine</a:t>
            </a:r>
          </a:p>
          <a:p>
            <a:pPr marL="0" indent="0" algn="l">
              <a:spcBef>
                <a:spcPts val="0"/>
              </a:spcBef>
              <a:spcAft>
                <a:spcPts val="200"/>
              </a:spcAft>
              <a:buNone/>
            </a:pPr>
            <a:r>
              <a:rPr lang="fr-FR" sz="1100" b="1" dirty="0">
                <a:solidFill>
                  <a:schemeClr val="accent3"/>
                </a:solidFill>
              </a:rPr>
              <a:t>Pour qui ?</a:t>
            </a:r>
          </a:p>
          <a:p>
            <a:pPr marL="0" indent="0" algn="l">
              <a:spcBef>
                <a:spcPts val="0"/>
              </a:spcBef>
              <a:spcAft>
                <a:spcPts val="0"/>
              </a:spcAft>
              <a:buNone/>
            </a:pPr>
            <a:r>
              <a:rPr lang="fr-FR" sz="1300" i="1" dirty="0">
                <a:solidFill>
                  <a:schemeClr val="tx2"/>
                </a:solidFill>
              </a:rPr>
              <a:t>Dev et tests, jamais en prod, donc dans mon cas pas adapté pour donner des cours</a:t>
            </a:r>
          </a:p>
        </p:txBody>
      </p:sp>
      <p:sp>
        <p:nvSpPr>
          <p:cNvPr id="4" name="Option 4"/>
          <p:cNvSpPr/>
          <p:nvPr/>
        </p:nvSpPr>
        <p:spPr>
          <a:xfrm>
            <a:off x="3396996" y="2148840"/>
            <a:ext cx="1819656" cy="4023360"/>
          </a:xfrm>
          <a:prstGeom prst="rect">
            <a:avLst/>
          </a:prstGeom>
          <a:solidFill>
            <a:srgbClr val="FFFFFF"/>
          </a:solidFill>
          <a:ln>
            <a:noFill/>
          </a:ln>
          <a:effectLst>
            <a:outerShdw blurRad="63500" dist="19050" dir="5400000" algn="t" rotWithShape="0">
              <a:srgbClr val="000000">
                <a:alpha val="18000"/>
              </a:srgbClr>
            </a:outerShdw>
          </a:effectLst>
        </p:spPr>
        <p:txBody>
          <a:bodyPr wrap="square" lIns="137160" tIns="137160" rIns="137160" bIns="137160" rtlCol="0" anchor="t">
            <a:noAutofit/>
          </a:bodyPr>
          <a:lstStyle/>
          <a:p>
            <a:pPr marL="0" indent="0" algn="l">
              <a:spcBef>
                <a:spcPts val="0"/>
              </a:spcBef>
              <a:spcAft>
                <a:spcPts val="1000"/>
              </a:spcAft>
              <a:buNone/>
            </a:pPr>
            <a:r>
              <a:rPr lang="fr-FR" sz="1700" b="1" dirty="0">
                <a:solidFill>
                  <a:schemeClr val="tx2"/>
                </a:solidFill>
              </a:rPr>
              <a:t>PackStack</a:t>
            </a:r>
          </a:p>
          <a:p>
            <a:pPr marL="0" indent="0" algn="l">
              <a:spcBef>
                <a:spcPts val="0"/>
              </a:spcBef>
              <a:spcAft>
                <a:spcPts val="1200"/>
              </a:spcAft>
              <a:buNone/>
            </a:pPr>
            <a:r>
              <a:rPr lang="fr-FR" sz="1300" dirty="0">
                <a:solidFill>
                  <a:schemeClr val="tx2"/>
                </a:solidFill>
              </a:rPr>
              <a:t>Puppet, tout-en-un, projet RDO (CentOS / RHEL)</a:t>
            </a:r>
          </a:p>
          <a:p>
            <a:pPr marL="0" indent="0" algn="l">
              <a:spcBef>
                <a:spcPts val="0"/>
              </a:spcBef>
              <a:spcAft>
                <a:spcPts val="200"/>
              </a:spcAft>
              <a:buNone/>
            </a:pPr>
            <a:r>
              <a:rPr lang="fr-FR" sz="1100" b="1" dirty="0">
                <a:solidFill>
                  <a:schemeClr val="accent6"/>
                </a:solidFill>
              </a:rPr>
              <a:t>Mon retour</a:t>
            </a:r>
          </a:p>
          <a:p>
            <a:pPr marL="0" indent="0" algn="l">
              <a:spcBef>
                <a:spcPts val="0"/>
              </a:spcBef>
              <a:spcAft>
                <a:spcPts val="0"/>
              </a:spcAft>
              <a:buNone/>
            </a:pPr>
            <a:r>
              <a:rPr lang="fr-FR" sz="1300" i="1" dirty="0">
                <a:solidFill>
                  <a:schemeClr val="tx2"/>
                </a:solidFill>
              </a:rPr>
              <a:t>Marche bien, mais les mises à jour ne sont pas prévues</a:t>
            </a:r>
          </a:p>
        </p:txBody>
      </p:sp>
      <p:sp>
        <p:nvSpPr>
          <p:cNvPr id="5" name="Pastille 5"/>
          <p:cNvSpPr/>
          <p:nvPr/>
        </p:nvSpPr>
        <p:spPr>
          <a:xfrm>
            <a:off x="4439412" y="1965960"/>
            <a:ext cx="731520" cy="274320"/>
          </a:xfrm>
          <a:prstGeom prst="roundRect">
            <a:avLst>
              <a:gd name="adj" fmla="val 22000"/>
            </a:avLst>
          </a:prstGeom>
          <a:solidFill>
            <a:schemeClr val="accent6"/>
          </a:solidFill>
          <a:ln>
            <a:noFill/>
          </a:ln>
        </p:spPr>
        <p:txBody>
          <a:bodyPr wrap="square" lIns="36576" tIns="36576" rIns="36576" bIns="36576" rtlCol="0" anchor="ctr">
            <a:noAutofit/>
          </a:bodyPr>
          <a:lstStyle/>
          <a:p>
            <a:pPr marL="0" indent="0" algn="ctr">
              <a:spcBef>
                <a:spcPts val="0"/>
              </a:spcBef>
              <a:spcAft>
                <a:spcPts val="0"/>
              </a:spcAft>
              <a:buNone/>
            </a:pPr>
            <a:r>
              <a:rPr lang="fr-FR" sz="1100" b="1" dirty="0">
                <a:solidFill>
                  <a:schemeClr val="tx2"/>
                </a:solidFill>
              </a:rPr>
              <a:t>testé</a:t>
            </a:r>
          </a:p>
        </p:txBody>
      </p:sp>
      <p:sp>
        <p:nvSpPr>
          <p:cNvPr id="6" name="Option 6"/>
          <p:cNvSpPr/>
          <p:nvPr/>
        </p:nvSpPr>
        <p:spPr>
          <a:xfrm>
            <a:off x="5422392" y="2148840"/>
            <a:ext cx="1819656" cy="4023360"/>
          </a:xfrm>
          <a:prstGeom prst="rect">
            <a:avLst/>
          </a:prstGeom>
          <a:solidFill>
            <a:srgbClr val="FFFFFF"/>
          </a:solidFill>
          <a:ln>
            <a:noFill/>
          </a:ln>
          <a:effectLst>
            <a:outerShdw blurRad="63500" dist="19050" dir="5400000" algn="t" rotWithShape="0">
              <a:srgbClr val="000000">
                <a:alpha val="18000"/>
              </a:srgbClr>
            </a:outerShdw>
          </a:effectLst>
        </p:spPr>
        <p:txBody>
          <a:bodyPr wrap="square" lIns="137160" tIns="137160" rIns="137160" bIns="137160" rtlCol="0" anchor="t">
            <a:noAutofit/>
          </a:bodyPr>
          <a:lstStyle/>
          <a:p>
            <a:pPr marL="0" indent="0" algn="l">
              <a:spcBef>
                <a:spcPts val="0"/>
              </a:spcBef>
              <a:spcAft>
                <a:spcPts val="1000"/>
              </a:spcAft>
              <a:buNone/>
            </a:pPr>
            <a:r>
              <a:rPr lang="fr-FR" sz="1700" b="1" dirty="0">
                <a:solidFill>
                  <a:schemeClr val="tx2"/>
                </a:solidFill>
              </a:rPr>
              <a:t>Kolla-Ansible</a:t>
            </a:r>
          </a:p>
          <a:p>
            <a:pPr marL="0" indent="0" algn="l">
              <a:spcBef>
                <a:spcPts val="0"/>
              </a:spcBef>
              <a:spcAft>
                <a:spcPts val="1200"/>
              </a:spcAft>
              <a:buNone/>
            </a:pPr>
            <a:r>
              <a:rPr lang="fr-FR" sz="1300" dirty="0">
                <a:solidFill>
                  <a:schemeClr val="tx2"/>
                </a:solidFill>
              </a:rPr>
              <a:t>Conteneurs Docker / Podman pilotés par Ansible</a:t>
            </a:r>
          </a:p>
          <a:p>
            <a:pPr marL="0" indent="0" algn="l">
              <a:spcBef>
                <a:spcPts val="0"/>
              </a:spcBef>
              <a:spcAft>
                <a:spcPts val="200"/>
              </a:spcAft>
              <a:buNone/>
            </a:pPr>
            <a:r>
              <a:rPr lang="fr-FR" sz="1100" b="1" dirty="0">
                <a:solidFill>
                  <a:schemeClr val="accent3"/>
                </a:solidFill>
              </a:rPr>
              <a:t>Pour qui ?</a:t>
            </a:r>
          </a:p>
          <a:p>
            <a:pPr marL="0" indent="0" algn="l">
              <a:spcBef>
                <a:spcPts val="0"/>
              </a:spcBef>
              <a:spcAft>
                <a:spcPts val="0"/>
              </a:spcAft>
              <a:buNone/>
            </a:pPr>
            <a:r>
              <a:rPr lang="fr-FR" sz="1300" i="1" dirty="0">
                <a:solidFill>
                  <a:schemeClr val="tx2"/>
                </a:solidFill>
              </a:rPr>
              <a:t>Production, très répandu</a:t>
            </a:r>
          </a:p>
        </p:txBody>
      </p:sp>
      <p:sp>
        <p:nvSpPr>
          <p:cNvPr id="7" name="Option 7"/>
          <p:cNvSpPr/>
          <p:nvPr/>
        </p:nvSpPr>
        <p:spPr>
          <a:xfrm>
            <a:off x="7447788" y="2148840"/>
            <a:ext cx="1927324" cy="4023360"/>
          </a:xfrm>
          <a:prstGeom prst="rect">
            <a:avLst/>
          </a:prstGeom>
          <a:solidFill>
            <a:srgbClr val="FFFFFF"/>
          </a:solidFill>
          <a:ln>
            <a:noFill/>
          </a:ln>
          <a:effectLst>
            <a:outerShdw blurRad="63500" dist="19050" dir="5400000" algn="t" rotWithShape="0">
              <a:srgbClr val="000000">
                <a:alpha val="18000"/>
              </a:srgbClr>
            </a:outerShdw>
          </a:effectLst>
        </p:spPr>
        <p:txBody>
          <a:bodyPr wrap="square" lIns="137160" tIns="137160" rIns="137160" bIns="137160" rtlCol="0" anchor="t">
            <a:noAutofit/>
          </a:bodyPr>
          <a:lstStyle/>
          <a:p>
            <a:pPr marL="0" indent="0" algn="l">
              <a:spcBef>
                <a:spcPts val="0"/>
              </a:spcBef>
              <a:spcAft>
                <a:spcPts val="1000"/>
              </a:spcAft>
              <a:buNone/>
            </a:pPr>
            <a:r>
              <a:rPr lang="fr-FR" sz="1700" b="1" dirty="0">
                <a:solidFill>
                  <a:schemeClr val="tx2"/>
                </a:solidFill>
              </a:rPr>
              <a:t>OpenStack-Ansible</a:t>
            </a:r>
          </a:p>
          <a:p>
            <a:pPr marL="0" indent="0" algn="l">
              <a:spcBef>
                <a:spcPts val="0"/>
              </a:spcBef>
              <a:spcAft>
                <a:spcPts val="1200"/>
              </a:spcAft>
              <a:buNone/>
            </a:pPr>
            <a:r>
              <a:rPr lang="fr-FR" sz="1300" dirty="0">
                <a:solidFill>
                  <a:schemeClr val="tx2"/>
                </a:solidFill>
              </a:rPr>
              <a:t>Conteneurs LXC ou bare metal, via Ansible</a:t>
            </a:r>
          </a:p>
          <a:p>
            <a:pPr marL="0" indent="0" algn="l">
              <a:spcBef>
                <a:spcPts val="0"/>
              </a:spcBef>
              <a:spcAft>
                <a:spcPts val="200"/>
              </a:spcAft>
              <a:buNone/>
            </a:pPr>
            <a:r>
              <a:rPr lang="fr-FR" sz="1100" b="1" dirty="0">
                <a:solidFill>
                  <a:schemeClr val="accent6"/>
                </a:solidFill>
              </a:rPr>
              <a:t>Mon retour</a:t>
            </a:r>
          </a:p>
          <a:p>
            <a:pPr marL="0" indent="0" algn="l">
              <a:spcBef>
                <a:spcPts val="0"/>
              </a:spcBef>
              <a:spcAft>
                <a:spcPts val="0"/>
              </a:spcAft>
              <a:buNone/>
            </a:pPr>
            <a:r>
              <a:rPr lang="fr-FR" sz="1300" i="1" dirty="0">
                <a:solidFill>
                  <a:schemeClr val="tx2"/>
                </a:solidFill>
              </a:rPr>
              <a:t>Options d’installations peu claires dans la doc, réseau pénible avec des cartes virtuelles à créer en home </a:t>
            </a:r>
            <a:r>
              <a:rPr lang="fr-FR" sz="1300" i="1" dirty="0" err="1">
                <a:solidFill>
                  <a:schemeClr val="tx2"/>
                </a:solidFill>
              </a:rPr>
              <a:t>lab</a:t>
            </a:r>
            <a:r>
              <a:rPr lang="fr-FR" sz="1300" i="1" dirty="0">
                <a:solidFill>
                  <a:schemeClr val="tx2"/>
                </a:solidFill>
              </a:rPr>
              <a:t> si il n’y a pas plein de ports réseaux disponibles </a:t>
            </a:r>
          </a:p>
        </p:txBody>
      </p:sp>
      <p:sp>
        <p:nvSpPr>
          <p:cNvPr id="8" name="Pastille 8"/>
          <p:cNvSpPr/>
          <p:nvPr/>
        </p:nvSpPr>
        <p:spPr>
          <a:xfrm>
            <a:off x="8490204" y="1965960"/>
            <a:ext cx="731520" cy="274320"/>
          </a:xfrm>
          <a:prstGeom prst="roundRect">
            <a:avLst>
              <a:gd name="adj" fmla="val 22000"/>
            </a:avLst>
          </a:prstGeom>
          <a:solidFill>
            <a:schemeClr val="accent6"/>
          </a:solidFill>
          <a:ln>
            <a:noFill/>
          </a:ln>
        </p:spPr>
        <p:txBody>
          <a:bodyPr wrap="square" lIns="36576" tIns="36576" rIns="36576" bIns="36576" rtlCol="0" anchor="ctr">
            <a:noAutofit/>
          </a:bodyPr>
          <a:lstStyle/>
          <a:p>
            <a:pPr marL="0" indent="0" algn="ctr">
              <a:spcBef>
                <a:spcPts val="0"/>
              </a:spcBef>
              <a:spcAft>
                <a:spcPts val="0"/>
              </a:spcAft>
              <a:buNone/>
            </a:pPr>
            <a:r>
              <a:rPr lang="fr-FR" sz="1100" b="1" dirty="0">
                <a:solidFill>
                  <a:schemeClr val="tx2"/>
                </a:solidFill>
              </a:rPr>
              <a:t>testé</a:t>
            </a:r>
          </a:p>
        </p:txBody>
      </p:sp>
      <p:sp>
        <p:nvSpPr>
          <p:cNvPr id="9" name="Option 9"/>
          <p:cNvSpPr/>
          <p:nvPr/>
        </p:nvSpPr>
        <p:spPr>
          <a:xfrm>
            <a:off x="9507700" y="2148840"/>
            <a:ext cx="1819656" cy="4023360"/>
          </a:xfrm>
          <a:prstGeom prst="rect">
            <a:avLst/>
          </a:prstGeom>
          <a:solidFill>
            <a:schemeClr val="tx2"/>
          </a:solidFill>
          <a:ln>
            <a:noFill/>
          </a:ln>
        </p:spPr>
        <p:txBody>
          <a:bodyPr wrap="square" lIns="137160" tIns="137160" rIns="137160" bIns="137160" rtlCol="0" anchor="t">
            <a:noAutofit/>
          </a:bodyPr>
          <a:lstStyle/>
          <a:p>
            <a:pPr marL="0" indent="0" algn="l">
              <a:spcBef>
                <a:spcPts val="0"/>
              </a:spcBef>
              <a:spcAft>
                <a:spcPts val="1000"/>
              </a:spcAft>
              <a:buNone/>
            </a:pPr>
            <a:r>
              <a:rPr lang="fr-FR" sz="1700" b="1" dirty="0">
                <a:solidFill>
                  <a:schemeClr val="bg2"/>
                </a:solidFill>
              </a:rPr>
              <a:t>OpenStack-Helm</a:t>
            </a:r>
          </a:p>
          <a:p>
            <a:pPr marL="0" indent="0" algn="l">
              <a:spcBef>
                <a:spcPts val="0"/>
              </a:spcBef>
              <a:spcAft>
                <a:spcPts val="1200"/>
              </a:spcAft>
              <a:buNone/>
            </a:pPr>
            <a:r>
              <a:rPr lang="fr-FR" sz="1300" dirty="0">
                <a:solidFill>
                  <a:schemeClr val="bg2"/>
                </a:solidFill>
              </a:rPr>
              <a:t>Des pods Kubernetes déployés par des charts Helm</a:t>
            </a:r>
          </a:p>
          <a:p>
            <a:pPr marL="0" indent="0" algn="l">
              <a:spcBef>
                <a:spcPts val="0"/>
              </a:spcBef>
              <a:spcAft>
                <a:spcPts val="200"/>
              </a:spcAft>
              <a:buNone/>
            </a:pPr>
            <a:r>
              <a:rPr lang="fr-FR" sz="1100" b="1" dirty="0">
                <a:solidFill>
                  <a:schemeClr val="accent2"/>
                </a:solidFill>
              </a:rPr>
              <a:t>Mon choix</a:t>
            </a:r>
          </a:p>
          <a:p>
            <a:pPr marL="0" indent="0" algn="l">
              <a:spcBef>
                <a:spcPts val="0"/>
              </a:spcBef>
              <a:spcAft>
                <a:spcPts val="0"/>
              </a:spcAft>
              <a:buNone/>
            </a:pPr>
            <a:r>
              <a:rPr lang="fr-FR" sz="1300" i="1" dirty="0">
                <a:solidFill>
                  <a:schemeClr val="bg2"/>
                </a:solidFill>
              </a:rPr>
              <a:t>Je connais très bien </a:t>
            </a:r>
            <a:r>
              <a:rPr lang="fr-FR" sz="1300" i="1" dirty="0" err="1">
                <a:solidFill>
                  <a:schemeClr val="bg2"/>
                </a:solidFill>
              </a:rPr>
              <a:t>Kubernetes</a:t>
            </a:r>
            <a:r>
              <a:rPr lang="fr-FR" sz="1300" i="1" dirty="0">
                <a:solidFill>
                  <a:schemeClr val="bg2"/>
                </a:solidFill>
              </a:rPr>
              <a:t> et la gestion d’un cluster, possibilités de mises à jour d’Openstack par helm upgrade</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re 5">
            <a:extLst>
              <a:ext uri="{FF2B5EF4-FFF2-40B4-BE49-F238E27FC236}">
                <a16:creationId xmlns:a16="http://schemas.microsoft.com/office/drawing/2014/main" id="{147F5558-25D4-5738-1071-7EA602E20CFA}"/>
              </a:ext>
            </a:extLst>
          </p:cNvPr>
          <p:cNvSpPr>
            <a:spLocks noGrp="1"/>
          </p:cNvSpPr>
          <p:nvPr>
            <p:ph type="title"/>
          </p:nvPr>
        </p:nvSpPr>
        <p:spPr/>
        <p:txBody>
          <a:bodyPr>
            <a:normAutofit/>
          </a:bodyPr>
          <a:lstStyle/>
          <a:p>
            <a:r>
              <a:rPr lang="fr-FR" dirty="0"/>
              <a:t>Kubernetes, Helm, ArgoCD</a:t>
            </a:r>
          </a:p>
        </p:txBody>
      </p:sp>
      <p:sp>
        <p:nvSpPr>
          <p:cNvPr id="7" name="Espace réservé du texte 6">
            <a:extLst>
              <a:ext uri="{FF2B5EF4-FFF2-40B4-BE49-F238E27FC236}">
                <a16:creationId xmlns:a16="http://schemas.microsoft.com/office/drawing/2014/main" id="{79D95668-B1A5-7ABE-D4B4-E6ECFA460679}"/>
              </a:ext>
            </a:extLst>
          </p:cNvPr>
          <p:cNvSpPr>
            <a:spLocks noGrp="1"/>
          </p:cNvSpPr>
          <p:nvPr>
            <p:ph type="body" idx="1"/>
          </p:nvPr>
        </p:nvSpPr>
        <p:spPr/>
        <p:txBody>
          <a:bodyPr/>
          <a:lstStyle/>
          <a:p>
            <a:r>
              <a:rPr lang="fr-FR" dirty="0"/>
              <a:t>Les briques sur lesquelles repose OpenStack-Helm</a:t>
            </a:r>
          </a:p>
        </p:txBody>
      </p:sp>
    </p:spTree>
    <p:extLst>
      <p:ext uri="{BB962C8B-B14F-4D97-AF65-F5344CB8AC3E}">
        <p14:creationId xmlns:p14="http://schemas.microsoft.com/office/powerpoint/2010/main" val="74426099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r>
              <a:rPr lang="fr-FR" dirty="0"/>
              <a:t>Des serveurs aux conteneurs</a:t>
            </a:r>
          </a:p>
        </p:txBody>
      </p:sp>
      <p:pic>
        <p:nvPicPr>
          <p:cNvPr id="3" name="Logo 3" descr="k8s_container_evolution.png"/>
          <p:cNvPicPr>
            <a:picLocks noChangeAspect="1"/>
          </p:cNvPicPr>
          <p:nvPr/>
        </p:nvPicPr>
        <p:blipFill>
          <a:blip r:embed="rId2"/>
          <a:stretch>
            <a:fillRect/>
          </a:stretch>
        </p:blipFill>
        <p:spPr>
          <a:xfrm>
            <a:off x="2034540" y="1828800"/>
            <a:ext cx="8595360" cy="2698527"/>
          </a:xfrm>
          <a:prstGeom prst="rect">
            <a:avLst/>
          </a:prstGeom>
        </p:spPr>
      </p:pic>
      <p:sp>
        <p:nvSpPr>
          <p:cNvPr id="4" name="Texte 4"/>
          <p:cNvSpPr txBox="1"/>
          <p:nvPr/>
        </p:nvSpPr>
        <p:spPr>
          <a:xfrm>
            <a:off x="2237537" y="4600479"/>
            <a:ext cx="1828800" cy="640080"/>
          </a:xfrm>
          <a:prstGeom prst="rect">
            <a:avLst/>
          </a:prstGeom>
          <a:noFill/>
        </p:spPr>
        <p:txBody>
          <a:bodyPr wrap="square" lIns="0" tIns="0" rIns="0" bIns="0" rtlCol="0" anchor="t">
            <a:noAutofit/>
          </a:bodyPr>
          <a:lstStyle/>
          <a:p>
            <a:pPr marL="0" indent="0" algn="ctr">
              <a:spcBef>
                <a:spcPts val="0"/>
              </a:spcBef>
              <a:spcAft>
                <a:spcPts val="100"/>
              </a:spcAft>
              <a:buNone/>
            </a:pPr>
            <a:r>
              <a:rPr lang="fr-FR" sz="1600" b="1" dirty="0"/>
              <a:t>Traditionnel</a:t>
            </a:r>
          </a:p>
          <a:p>
            <a:pPr marL="0" indent="0" algn="ctr">
              <a:spcBef>
                <a:spcPts val="0"/>
              </a:spcBef>
              <a:spcAft>
                <a:spcPts val="0"/>
              </a:spcAft>
              <a:buNone/>
            </a:pPr>
            <a:r>
              <a:rPr lang="fr-FR" sz="1200" i="1" dirty="0"/>
              <a:t>une appli par serveur</a:t>
            </a:r>
          </a:p>
        </p:txBody>
      </p:sp>
      <p:sp>
        <p:nvSpPr>
          <p:cNvPr id="5" name="Texte 5"/>
          <p:cNvSpPr txBox="1"/>
          <p:nvPr/>
        </p:nvSpPr>
        <p:spPr>
          <a:xfrm>
            <a:off x="4313225" y="4600479"/>
            <a:ext cx="2834640" cy="640080"/>
          </a:xfrm>
          <a:prstGeom prst="rect">
            <a:avLst/>
          </a:prstGeom>
          <a:noFill/>
        </p:spPr>
        <p:txBody>
          <a:bodyPr wrap="square" lIns="0" tIns="0" rIns="0" bIns="0" rtlCol="0" anchor="t">
            <a:noAutofit/>
          </a:bodyPr>
          <a:lstStyle/>
          <a:p>
            <a:pPr marL="0" indent="0" algn="ctr">
              <a:spcBef>
                <a:spcPts val="0"/>
              </a:spcBef>
              <a:spcAft>
                <a:spcPts val="100"/>
              </a:spcAft>
              <a:buNone/>
            </a:pPr>
            <a:r>
              <a:rPr lang="fr-FR" sz="1600" b="1" dirty="0"/>
              <a:t>Virtualisé</a:t>
            </a:r>
          </a:p>
          <a:p>
            <a:pPr marL="0" indent="0" algn="ctr">
              <a:spcBef>
                <a:spcPts val="0"/>
              </a:spcBef>
              <a:spcAft>
                <a:spcPts val="0"/>
              </a:spcAft>
              <a:buNone/>
            </a:pPr>
            <a:r>
              <a:rPr lang="fr-FR" sz="1200" i="1" dirty="0"/>
              <a:t>des VMs sur un hyperviseur</a:t>
            </a:r>
          </a:p>
        </p:txBody>
      </p:sp>
      <p:sp>
        <p:nvSpPr>
          <p:cNvPr id="6" name="Pastille 6"/>
          <p:cNvSpPr/>
          <p:nvPr/>
        </p:nvSpPr>
        <p:spPr>
          <a:xfrm>
            <a:off x="4999025" y="5258847"/>
            <a:ext cx="1463040" cy="329184"/>
          </a:xfrm>
          <a:prstGeom prst="roundRect">
            <a:avLst>
              <a:gd name="adj" fmla="val 22000"/>
            </a:avLst>
          </a:prstGeom>
          <a:solidFill>
            <a:schemeClr val="tx2"/>
          </a:solidFill>
          <a:ln>
            <a:noFill/>
          </a:ln>
        </p:spPr>
        <p:txBody>
          <a:bodyPr wrap="square" lIns="36576" tIns="36576" rIns="36576" bIns="36576" rtlCol="0" anchor="ctr">
            <a:noAutofit/>
          </a:bodyPr>
          <a:lstStyle/>
          <a:p>
            <a:pPr marL="0" indent="0" algn="ctr">
              <a:spcBef>
                <a:spcPts val="0"/>
              </a:spcBef>
              <a:spcAft>
                <a:spcPts val="0"/>
              </a:spcAft>
              <a:buNone/>
            </a:pPr>
            <a:r>
              <a:rPr lang="fr-FR" sz="1300" b="1" dirty="0">
                <a:solidFill>
                  <a:schemeClr val="bg2"/>
                </a:solidFill>
              </a:rPr>
              <a:t>OpenStack</a:t>
            </a:r>
          </a:p>
        </p:txBody>
      </p:sp>
      <p:sp>
        <p:nvSpPr>
          <p:cNvPr id="7" name="Texte 7"/>
          <p:cNvSpPr txBox="1"/>
          <p:nvPr/>
        </p:nvSpPr>
        <p:spPr>
          <a:xfrm>
            <a:off x="7579462" y="4600479"/>
            <a:ext cx="2834640" cy="640080"/>
          </a:xfrm>
          <a:prstGeom prst="rect">
            <a:avLst/>
          </a:prstGeom>
          <a:noFill/>
        </p:spPr>
        <p:txBody>
          <a:bodyPr wrap="square" lIns="0" tIns="0" rIns="0" bIns="0" rtlCol="0" anchor="t">
            <a:noAutofit/>
          </a:bodyPr>
          <a:lstStyle/>
          <a:p>
            <a:pPr marL="0" indent="0" algn="ctr">
              <a:spcBef>
                <a:spcPts val="0"/>
              </a:spcBef>
              <a:spcAft>
                <a:spcPts val="100"/>
              </a:spcAft>
              <a:buNone/>
            </a:pPr>
            <a:r>
              <a:rPr lang="fr-FR" sz="1600" b="1" dirty="0"/>
              <a:t>Conteneurs</a:t>
            </a:r>
          </a:p>
          <a:p>
            <a:pPr marL="0" indent="0" algn="ctr">
              <a:spcBef>
                <a:spcPts val="0"/>
              </a:spcBef>
              <a:spcAft>
                <a:spcPts val="0"/>
              </a:spcAft>
              <a:buNone/>
            </a:pPr>
            <a:r>
              <a:rPr lang="fr-FR" sz="1200" i="1" dirty="0"/>
              <a:t>des applis isolées sur un même noyau</a:t>
            </a:r>
          </a:p>
        </p:txBody>
      </p:sp>
      <p:sp>
        <p:nvSpPr>
          <p:cNvPr id="8" name="Pastille 8"/>
          <p:cNvSpPr/>
          <p:nvPr/>
        </p:nvSpPr>
        <p:spPr>
          <a:xfrm>
            <a:off x="8265262" y="5258847"/>
            <a:ext cx="1463040" cy="329184"/>
          </a:xfrm>
          <a:prstGeom prst="roundRect">
            <a:avLst>
              <a:gd name="adj" fmla="val 22000"/>
            </a:avLst>
          </a:prstGeom>
          <a:solidFill>
            <a:schemeClr val="tx2"/>
          </a:solidFill>
          <a:ln>
            <a:noFill/>
          </a:ln>
        </p:spPr>
        <p:txBody>
          <a:bodyPr wrap="square" lIns="36576" tIns="36576" rIns="36576" bIns="36576" rtlCol="0" anchor="ctr">
            <a:noAutofit/>
          </a:bodyPr>
          <a:lstStyle/>
          <a:p>
            <a:pPr marL="0" indent="0" algn="ctr">
              <a:spcBef>
                <a:spcPts val="0"/>
              </a:spcBef>
              <a:spcAft>
                <a:spcPts val="0"/>
              </a:spcAft>
              <a:buNone/>
            </a:pPr>
            <a:r>
              <a:rPr lang="fr-FR" sz="1300" b="1" dirty="0">
                <a:solidFill>
                  <a:schemeClr val="bg2"/>
                </a:solidFill>
              </a:rPr>
              <a:t>Kubernetes</a:t>
            </a:r>
          </a:p>
        </p:txBody>
      </p:sp>
      <p:sp>
        <p:nvSpPr>
          <p:cNvPr id="9" name="Principe 9"/>
          <p:cNvSpPr/>
          <p:nvPr/>
        </p:nvSpPr>
        <p:spPr>
          <a:xfrm>
            <a:off x="2034540" y="5742432"/>
            <a:ext cx="8595360" cy="457200"/>
          </a:xfrm>
          <a:prstGeom prst="rect">
            <a:avLst/>
          </a:prstGeom>
          <a:noFill/>
          <a:ln>
            <a:noFill/>
          </a:ln>
        </p:spPr>
        <p:txBody>
          <a:bodyPr wrap="square" lIns="0" tIns="137160" rIns="137160" bIns="137160" rtlCol="0" anchor="ctr">
            <a:noAutofit/>
          </a:bodyPr>
          <a:lstStyle/>
          <a:p>
            <a:pPr marL="0" indent="0" algn="l">
              <a:spcBef>
                <a:spcPts val="0"/>
              </a:spcBef>
              <a:spcAft>
                <a:spcPts val="0"/>
              </a:spcAft>
              <a:buNone/>
            </a:pPr>
            <a:r>
              <a:rPr lang="fr-FR" sz="1300" b="1" dirty="0">
                <a:solidFill>
                  <a:schemeClr val="tx2"/>
                </a:solidFill>
              </a:rPr>
              <a:t>Kubernetes : </a:t>
            </a:r>
            <a:r>
              <a:rPr lang="fr-FR" sz="1300" dirty="0">
                <a:solidFill>
                  <a:schemeClr val="tx2"/>
                </a:solidFill>
              </a:rPr>
              <a:t>on décrit l'état voulu, il le maintient en boucle, comme un thermostat.</a:t>
            </a:r>
          </a:p>
        </p:txBody>
      </p:sp>
      <p:sp>
        <p:nvSpPr>
          <p:cNvPr id="10" name="Texte 10"/>
          <p:cNvSpPr txBox="1"/>
          <p:nvPr/>
        </p:nvSpPr>
        <p:spPr>
          <a:xfrm>
            <a:off x="7429500" y="6245352"/>
            <a:ext cx="3200400" cy="201168"/>
          </a:xfrm>
          <a:prstGeom prst="rect">
            <a:avLst/>
          </a:prstGeom>
          <a:noFill/>
        </p:spPr>
        <p:txBody>
          <a:bodyPr wrap="square" lIns="0" tIns="0" rIns="0" bIns="0" rtlCol="0" anchor="t">
            <a:noAutofit/>
          </a:bodyPr>
          <a:lstStyle/>
          <a:p>
            <a:pPr marL="0" indent="0" algn="r">
              <a:spcBef>
                <a:spcPts val="0"/>
              </a:spcBef>
              <a:spcAft>
                <a:spcPts val="0"/>
              </a:spcAft>
              <a:buNone/>
            </a:pPr>
            <a:r>
              <a:rPr lang="fr-FR" sz="900" i="1" dirty="0">
                <a:solidFill>
                  <a:schemeClr val="accent1"/>
                </a:solidFill>
              </a:rPr>
              <a:t>Schéma : kubernetes.io, CC BY 4.0</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r>
              <a:rPr lang="fr-FR" dirty="0"/>
              <a:t>Un cluster Kubernetes</a:t>
            </a:r>
          </a:p>
        </p:txBody>
      </p:sp>
      <p:sp>
        <p:nvSpPr>
          <p:cNvPr id="69" name="Message 69"/>
          <p:cNvSpPr/>
          <p:nvPr/>
        </p:nvSpPr>
        <p:spPr>
          <a:xfrm>
            <a:off x="1371600" y="5760720"/>
            <a:ext cx="9921240" cy="457200"/>
          </a:xfrm>
          <a:prstGeom prst="rect">
            <a:avLst/>
          </a:prstGeom>
          <a:solidFill>
            <a:schemeClr val="tx2"/>
          </a:solidFill>
          <a:ln>
            <a:noFill/>
          </a:ln>
        </p:spPr>
        <p:txBody>
          <a:bodyPr wrap="square" lIns="91440" tIns="91440" rIns="91440" bIns="91440" rtlCol="0" anchor="ctr">
            <a:noAutofit/>
          </a:bodyPr>
          <a:lstStyle/>
          <a:p>
            <a:pPr marL="0" indent="0" algn="ctr">
              <a:spcBef>
                <a:spcPts val="0"/>
              </a:spcBef>
              <a:spcAft>
                <a:spcPts val="0"/>
              </a:spcAft>
              <a:buNone/>
            </a:pPr>
            <a:r>
              <a:rPr lang="fr-FR" sz="1400" dirty="0">
                <a:solidFill>
                  <a:schemeClr val="bg2"/>
                </a:solidFill>
              </a:rPr>
              <a:t>Le control plane décide, les workers exécutent des pods (un pod = un ou plusieurs conteneurs).</a:t>
            </a:r>
          </a:p>
        </p:txBody>
      </p:sp>
      <p:pic>
        <p:nvPicPr>
          <p:cNvPr id="70" name="Schéma Kubernetes" descr="kubernetes-hd.png"/>
          <p:cNvPicPr>
            <a:picLocks noChangeAspect="1"/>
          </p:cNvPicPr>
          <p:nvPr/>
        </p:nvPicPr>
        <p:blipFill>
          <a:blip r:embed="rId2"/>
          <a:stretch>
            <a:fillRect/>
          </a:stretch>
        </p:blipFill>
        <p:spPr>
          <a:xfrm>
            <a:off x="1371600" y="1706194"/>
            <a:ext cx="9921240" cy="3953806"/>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r>
              <a:rPr lang="fr-FR" dirty="0"/>
              <a:t>Un cloud OpenStack</a:t>
            </a:r>
          </a:p>
        </p:txBody>
      </p:sp>
      <p:sp>
        <p:nvSpPr>
          <p:cNvPr id="69" name="Message 69"/>
          <p:cNvSpPr/>
          <p:nvPr/>
        </p:nvSpPr>
        <p:spPr>
          <a:xfrm>
            <a:off x="1371600" y="5760720"/>
            <a:ext cx="9921240" cy="457200"/>
          </a:xfrm>
          <a:prstGeom prst="rect">
            <a:avLst/>
          </a:prstGeom>
          <a:solidFill>
            <a:schemeClr val="tx2"/>
          </a:solidFill>
          <a:ln>
            <a:noFill/>
          </a:ln>
        </p:spPr>
        <p:txBody>
          <a:bodyPr wrap="square" lIns="91440" tIns="91440" rIns="91440" bIns="91440" rtlCol="0" anchor="ctr">
            <a:noAutofit/>
          </a:bodyPr>
          <a:lstStyle/>
          <a:p>
            <a:pPr marL="0" indent="0" algn="ctr">
              <a:spcBef>
                <a:spcPts val="0"/>
              </a:spcBef>
              <a:spcAft>
                <a:spcPts val="0"/>
              </a:spcAft>
              <a:buNone/>
            </a:pPr>
            <a:r>
              <a:rPr lang="fr-FR" sz="1400" dirty="0">
                <a:solidFill>
                  <a:schemeClr val="bg2"/>
                </a:solidFill>
              </a:rPr>
              <a:t>Le controller décide, les computes exécutent des machines virtuelles.</a:t>
            </a:r>
          </a:p>
        </p:txBody>
      </p:sp>
      <p:pic>
        <p:nvPicPr>
          <p:cNvPr id="70" name="Schéma OpenStack" descr="openstack-hd.png"/>
          <p:cNvPicPr>
            <a:picLocks noChangeAspect="1"/>
          </p:cNvPicPr>
          <p:nvPr/>
        </p:nvPicPr>
        <p:blipFill>
          <a:blip r:embed="rId2"/>
          <a:stretch>
            <a:fillRect/>
          </a:stretch>
        </p:blipFill>
        <p:spPr>
          <a:xfrm>
            <a:off x="1371600" y="1706194"/>
            <a:ext cx="9921240" cy="3953806"/>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r>
              <a:rPr lang="fr-FR" dirty="0"/>
              <a:t>Helm : du templating</a:t>
            </a:r>
          </a:p>
        </p:txBody>
      </p:sp>
      <p:sp>
        <p:nvSpPr>
          <p:cNvPr id="3" name="Texte 3"/>
          <p:cNvSpPr txBox="1"/>
          <p:nvPr/>
        </p:nvSpPr>
        <p:spPr>
          <a:xfrm>
            <a:off x="1371600" y="1920240"/>
            <a:ext cx="9921240" cy="457200"/>
          </a:xfrm>
          <a:prstGeom prst="rect">
            <a:avLst/>
          </a:prstGeom>
          <a:noFill/>
        </p:spPr>
        <p:txBody>
          <a:bodyPr wrap="square" lIns="0" tIns="0" rIns="0" bIns="0" rtlCol="0" anchor="t">
            <a:noAutofit/>
          </a:bodyPr>
          <a:lstStyle/>
          <a:p>
            <a:pPr marL="0" indent="0" algn="l">
              <a:spcBef>
                <a:spcPts val="0"/>
              </a:spcBef>
              <a:spcAft>
                <a:spcPts val="0"/>
              </a:spcAft>
              <a:buNone/>
            </a:pPr>
            <a:r>
              <a:rPr lang="fr-FR" sz="1700" b="1" dirty="0"/>
              <a:t>Helm transforme des modèles en déploiements prêts à l'emploi.</a:t>
            </a:r>
          </a:p>
        </p:txBody>
      </p:sp>
      <p:sp>
        <p:nvSpPr>
          <p:cNvPr id="4" name="Texte 4"/>
          <p:cNvSpPr txBox="1"/>
          <p:nvPr/>
        </p:nvSpPr>
        <p:spPr>
          <a:xfrm>
            <a:off x="1371600" y="2468880"/>
            <a:ext cx="3017520" cy="320040"/>
          </a:xfrm>
          <a:prstGeom prst="rect">
            <a:avLst/>
          </a:prstGeom>
          <a:noFill/>
        </p:spPr>
        <p:txBody>
          <a:bodyPr wrap="square" lIns="0" tIns="0" rIns="0" bIns="0" rtlCol="0" anchor="t">
            <a:noAutofit/>
          </a:bodyPr>
          <a:lstStyle/>
          <a:p>
            <a:pPr marL="0" indent="0" algn="l">
              <a:spcBef>
                <a:spcPts val="0"/>
              </a:spcBef>
              <a:spcAft>
                <a:spcPts val="0"/>
              </a:spcAft>
              <a:buNone/>
            </a:pPr>
            <a:r>
              <a:rPr lang="fr-FR" sz="1400" b="1" dirty="0"/>
              <a:t>Le modèle (chart)</a:t>
            </a:r>
          </a:p>
        </p:txBody>
      </p:sp>
      <p:sp>
        <p:nvSpPr>
          <p:cNvPr id="5" name="Code 5"/>
          <p:cNvSpPr/>
          <p:nvPr/>
        </p:nvSpPr>
        <p:spPr>
          <a:xfrm>
            <a:off x="1371600" y="2834640"/>
            <a:ext cx="3017520" cy="1143000"/>
          </a:xfrm>
          <a:prstGeom prst="rect">
            <a:avLst/>
          </a:prstGeom>
          <a:solidFill>
            <a:schemeClr val="tx2"/>
          </a:solidFill>
          <a:ln>
            <a:noFill/>
          </a:ln>
        </p:spPr>
        <p:txBody>
          <a:bodyPr wrap="square" lIns="137160" tIns="137160" rIns="137160" bIns="137160" rtlCol="0" anchor="t">
            <a:noAutofit/>
          </a:bodyPr>
          <a:lstStyle/>
          <a:p>
            <a:pPr marL="0" indent="0" algn="l">
              <a:lnSpc>
                <a:spcPct val="100000"/>
              </a:lnSpc>
              <a:spcBef>
                <a:spcPts val="0"/>
              </a:spcBef>
              <a:spcAft>
                <a:spcPts val="0"/>
              </a:spcAft>
              <a:buNone/>
            </a:pPr>
            <a:r>
              <a:rPr lang="fr-FR" sz="1000" dirty="0">
                <a:solidFill>
                  <a:schemeClr val="bg2"/>
                </a:solidFill>
                <a:latin typeface="Courier New"/>
                <a:cs typeface="Courier New"/>
              </a:rPr>
              <a:t>replicas: {{ .Values.replicas }}</a:t>
            </a:r>
          </a:p>
          <a:p>
            <a:pPr marL="0" indent="0" algn="l">
              <a:lnSpc>
                <a:spcPct val="100000"/>
              </a:lnSpc>
              <a:spcBef>
                <a:spcPts val="0"/>
              </a:spcBef>
              <a:spcAft>
                <a:spcPts val="0"/>
              </a:spcAft>
              <a:buNone/>
            </a:pPr>
            <a:r>
              <a:rPr lang="fr-FR" sz="1000" dirty="0">
                <a:solidFill>
                  <a:schemeClr val="bg2"/>
                </a:solidFill>
                <a:latin typeface="Courier New"/>
                <a:cs typeface="Courier New"/>
              </a:rPr>
              <a:t>image: {{ .Values.image }}</a:t>
            </a:r>
          </a:p>
        </p:txBody>
      </p:sp>
      <p:sp>
        <p:nvSpPr>
          <p:cNvPr id="6" name="Texte 6"/>
          <p:cNvSpPr txBox="1"/>
          <p:nvPr/>
        </p:nvSpPr>
        <p:spPr>
          <a:xfrm>
            <a:off x="5029200" y="2468880"/>
            <a:ext cx="3017520" cy="320040"/>
          </a:xfrm>
          <a:prstGeom prst="rect">
            <a:avLst/>
          </a:prstGeom>
          <a:noFill/>
        </p:spPr>
        <p:txBody>
          <a:bodyPr wrap="square" lIns="0" tIns="0" rIns="0" bIns="0" rtlCol="0" anchor="t">
            <a:noAutofit/>
          </a:bodyPr>
          <a:lstStyle/>
          <a:p>
            <a:pPr marL="0" indent="0" algn="l">
              <a:spcBef>
                <a:spcPts val="0"/>
              </a:spcBef>
              <a:spcAft>
                <a:spcPts val="0"/>
              </a:spcAft>
              <a:buNone/>
            </a:pPr>
            <a:r>
              <a:rPr lang="fr-FR" sz="1400" b="1" dirty="0"/>
              <a:t>Votre fichier de valeurs (</a:t>
            </a:r>
            <a:r>
              <a:rPr lang="fr-FR" sz="1400" b="1" dirty="0" err="1"/>
              <a:t>values.yaml</a:t>
            </a:r>
            <a:r>
              <a:rPr lang="fr-FR" sz="1400" b="1" dirty="0"/>
              <a:t>)</a:t>
            </a:r>
          </a:p>
        </p:txBody>
      </p:sp>
      <p:sp>
        <p:nvSpPr>
          <p:cNvPr id="7" name="Code 7"/>
          <p:cNvSpPr/>
          <p:nvPr/>
        </p:nvSpPr>
        <p:spPr>
          <a:xfrm>
            <a:off x="5029200" y="2834640"/>
            <a:ext cx="3017520" cy="1143000"/>
          </a:xfrm>
          <a:prstGeom prst="rect">
            <a:avLst/>
          </a:prstGeom>
          <a:solidFill>
            <a:schemeClr val="tx2"/>
          </a:solidFill>
          <a:ln>
            <a:noFill/>
          </a:ln>
        </p:spPr>
        <p:txBody>
          <a:bodyPr wrap="square" lIns="137160" tIns="137160" rIns="137160" bIns="137160" rtlCol="0" anchor="t">
            <a:noAutofit/>
          </a:bodyPr>
          <a:lstStyle/>
          <a:p>
            <a:pPr marL="0" indent="0" algn="l">
              <a:lnSpc>
                <a:spcPct val="100000"/>
              </a:lnSpc>
              <a:spcBef>
                <a:spcPts val="0"/>
              </a:spcBef>
              <a:spcAft>
                <a:spcPts val="0"/>
              </a:spcAft>
              <a:buNone/>
            </a:pPr>
            <a:r>
              <a:rPr lang="fr-FR" sz="1100" dirty="0">
                <a:solidFill>
                  <a:schemeClr val="bg2"/>
                </a:solidFill>
                <a:latin typeface="Courier New"/>
                <a:cs typeface="Courier New"/>
              </a:rPr>
              <a:t>replicas: 2</a:t>
            </a:r>
          </a:p>
          <a:p>
            <a:pPr marL="0" indent="0" algn="l">
              <a:lnSpc>
                <a:spcPct val="100000"/>
              </a:lnSpc>
              <a:spcBef>
                <a:spcPts val="0"/>
              </a:spcBef>
              <a:spcAft>
                <a:spcPts val="0"/>
              </a:spcAft>
              <a:buNone/>
            </a:pPr>
            <a:r>
              <a:rPr lang="fr-FR" sz="1100" dirty="0">
                <a:solidFill>
                  <a:schemeClr val="bg2"/>
                </a:solidFill>
                <a:latin typeface="Courier New"/>
                <a:cs typeface="Courier New"/>
              </a:rPr>
              <a:t>image: keystone:2026.1</a:t>
            </a:r>
          </a:p>
        </p:txBody>
      </p:sp>
      <p:sp>
        <p:nvSpPr>
          <p:cNvPr id="8" name="Texte 8"/>
          <p:cNvSpPr txBox="1"/>
          <p:nvPr/>
        </p:nvSpPr>
        <p:spPr>
          <a:xfrm>
            <a:off x="4434840" y="3154680"/>
            <a:ext cx="548640" cy="457200"/>
          </a:xfrm>
          <a:prstGeom prst="rect">
            <a:avLst/>
          </a:prstGeom>
          <a:noFill/>
        </p:spPr>
        <p:txBody>
          <a:bodyPr wrap="square" lIns="0" tIns="0" rIns="0" bIns="0" rtlCol="0" anchor="ctr">
            <a:noAutofit/>
          </a:bodyPr>
          <a:lstStyle/>
          <a:p>
            <a:pPr marL="0" indent="0" algn="ctr">
              <a:spcBef>
                <a:spcPts val="0"/>
              </a:spcBef>
              <a:spcAft>
                <a:spcPts val="0"/>
              </a:spcAft>
              <a:buNone/>
            </a:pPr>
            <a:r>
              <a:rPr lang="fr-FR" sz="2800" b="1" dirty="0"/>
              <a:t>+</a:t>
            </a:r>
          </a:p>
        </p:txBody>
      </p:sp>
      <p:cxnSp>
        <p:nvCxnSpPr>
          <p:cNvPr id="9" name="Flèche 9"/>
          <p:cNvCxnSpPr/>
          <p:nvPr/>
        </p:nvCxnSpPr>
        <p:spPr>
          <a:xfrm>
            <a:off x="8092440" y="3401568"/>
            <a:ext cx="411480" cy="0"/>
          </a:xfrm>
          <a:prstGeom prst="straightConnector1">
            <a:avLst/>
          </a:prstGeom>
          <a:ln w="25400">
            <a:solidFill>
              <a:schemeClr val="tx2"/>
            </a:solidFill>
            <a:tailEnd type="triangle" w="med" len="med"/>
          </a:ln>
        </p:spPr>
      </p:cxnSp>
      <p:sp>
        <p:nvSpPr>
          <p:cNvPr id="10" name="Texte 10"/>
          <p:cNvSpPr txBox="1"/>
          <p:nvPr/>
        </p:nvSpPr>
        <p:spPr>
          <a:xfrm>
            <a:off x="8549640" y="2468880"/>
            <a:ext cx="2743200" cy="320040"/>
          </a:xfrm>
          <a:prstGeom prst="rect">
            <a:avLst/>
          </a:prstGeom>
          <a:noFill/>
        </p:spPr>
        <p:txBody>
          <a:bodyPr wrap="square" lIns="0" tIns="0" rIns="0" bIns="0" rtlCol="0" anchor="t">
            <a:noAutofit/>
          </a:bodyPr>
          <a:lstStyle/>
          <a:p>
            <a:pPr marL="0" indent="0" algn="l">
              <a:spcBef>
                <a:spcPts val="0"/>
              </a:spcBef>
              <a:spcAft>
                <a:spcPts val="0"/>
              </a:spcAft>
              <a:buNone/>
            </a:pPr>
            <a:r>
              <a:rPr lang="fr-FR" sz="1400" b="1" dirty="0"/>
              <a:t>Le déploiement généré</a:t>
            </a:r>
          </a:p>
        </p:txBody>
      </p:sp>
      <p:sp>
        <p:nvSpPr>
          <p:cNvPr id="11" name="Resultat 11"/>
          <p:cNvSpPr/>
          <p:nvPr/>
        </p:nvSpPr>
        <p:spPr>
          <a:xfrm>
            <a:off x="8549640" y="2834640"/>
            <a:ext cx="2743200" cy="1143000"/>
          </a:xfrm>
          <a:prstGeom prst="rect">
            <a:avLst/>
          </a:prstGeom>
          <a:solidFill>
            <a:srgbClr val="FFFFFF"/>
          </a:solidFill>
          <a:ln w="12700">
            <a:solidFill>
              <a:schemeClr val="accent1"/>
            </a:solidFill>
          </a:ln>
        </p:spPr>
        <p:txBody>
          <a:bodyPr wrap="square" lIns="137160" tIns="137160" rIns="137160" bIns="137160" rtlCol="0" anchor="t">
            <a:noAutofit/>
          </a:bodyPr>
          <a:lstStyle/>
          <a:p>
            <a:pPr marL="0" indent="0" algn="l">
              <a:spcBef>
                <a:spcPts val="0"/>
              </a:spcBef>
              <a:spcAft>
                <a:spcPts val="0"/>
              </a:spcAft>
              <a:buNone/>
            </a:pPr>
            <a:r>
              <a:rPr lang="fr-FR" sz="1100" dirty="0">
                <a:latin typeface="Courier New"/>
                <a:cs typeface="Courier New"/>
              </a:rPr>
              <a:t>replicas: 2</a:t>
            </a:r>
          </a:p>
          <a:p>
            <a:pPr marL="0" indent="0" algn="l">
              <a:spcBef>
                <a:spcPts val="0"/>
              </a:spcBef>
              <a:spcAft>
                <a:spcPts val="0"/>
              </a:spcAft>
              <a:buNone/>
            </a:pPr>
            <a:r>
              <a:rPr lang="fr-FR" sz="1100" dirty="0">
                <a:latin typeface="Courier New"/>
                <a:cs typeface="Courier New"/>
              </a:rPr>
              <a:t>image: keystone:2026.1</a:t>
            </a:r>
          </a:p>
        </p:txBody>
      </p:sp>
      <p:sp>
        <p:nvSpPr>
          <p:cNvPr id="12" name="Texte 12"/>
          <p:cNvSpPr txBox="1"/>
          <p:nvPr/>
        </p:nvSpPr>
        <p:spPr>
          <a:xfrm>
            <a:off x="1371600" y="4297680"/>
            <a:ext cx="6675120" cy="1828800"/>
          </a:xfrm>
          <a:prstGeom prst="rect">
            <a:avLst/>
          </a:prstGeom>
          <a:noFill/>
        </p:spPr>
        <p:txBody>
          <a:bodyPr wrap="square" lIns="0" tIns="0" rIns="0" bIns="0" rtlCol="0" anchor="t">
            <a:noAutofit/>
          </a:bodyPr>
          <a:lstStyle/>
          <a:p>
            <a:pPr marL="228600" indent="-228600" algn="l">
              <a:spcBef>
                <a:spcPts val="0"/>
              </a:spcBef>
              <a:spcAft>
                <a:spcPts val="1000"/>
              </a:spcAft>
              <a:buFont typeface="Arial"/>
              <a:buChar char="•"/>
            </a:pPr>
            <a:r>
              <a:rPr lang="fr-FR" sz="1500" b="1" dirty="0"/>
              <a:t>Pratique : </a:t>
            </a:r>
            <a:r>
              <a:rPr lang="fr-FR" sz="1500" dirty="0"/>
              <a:t>une application complexe = des dizaines de fichiers YAML, empaquetés dans un chart</a:t>
            </a:r>
          </a:p>
          <a:p>
            <a:pPr marL="228600" indent="-228600" algn="l">
              <a:spcBef>
                <a:spcPts val="0"/>
              </a:spcBef>
              <a:spcAft>
                <a:spcPts val="1000"/>
              </a:spcAft>
              <a:buFont typeface="Arial"/>
              <a:buChar char="•"/>
            </a:pPr>
            <a:r>
              <a:rPr lang="fr-FR" sz="1500" b="1" dirty="0"/>
              <a:t>Simple : </a:t>
            </a:r>
            <a:r>
              <a:rPr lang="fr-FR" sz="1500" dirty="0"/>
              <a:t>pour l'installer, on ne fournit qu'un petit fichier de valeurs</a:t>
            </a:r>
          </a:p>
          <a:p>
            <a:pPr marL="228600" indent="-228600" algn="l">
              <a:spcBef>
                <a:spcPts val="0"/>
              </a:spcBef>
              <a:spcAft>
                <a:spcPts val="1000"/>
              </a:spcAft>
              <a:buFont typeface="Arial"/>
              <a:buChar char="•"/>
            </a:pPr>
            <a:r>
              <a:rPr lang="fr-FR" sz="1500" b="1" dirty="0"/>
              <a:t>Artifact Hub : </a:t>
            </a:r>
            <a:r>
              <a:rPr lang="fr-FR" sz="1500" dirty="0"/>
              <a:t>le catalogue qui regroupe les charts publiés par la communauté</a:t>
            </a:r>
          </a:p>
        </p:txBody>
      </p:sp>
      <p:sp>
        <p:nvSpPr>
          <p:cNvPr id="13" name="ArtifactHub 13"/>
          <p:cNvSpPr/>
          <p:nvPr/>
        </p:nvSpPr>
        <p:spPr>
          <a:xfrm>
            <a:off x="8321040" y="4343400"/>
            <a:ext cx="2971800" cy="1371600"/>
          </a:xfrm>
          <a:prstGeom prst="rect">
            <a:avLst/>
          </a:prstGeom>
          <a:solidFill>
            <a:srgbClr val="FFFFFF"/>
          </a:solidFill>
          <a:ln>
            <a:noFill/>
          </a:ln>
        </p:spPr>
        <p:txBody>
          <a:bodyPr wrap="square" lIns="109728" tIns="109728" rIns="109728" bIns="109728" rtlCol="0" anchor="b">
            <a:noAutofit/>
          </a:bodyPr>
          <a:lstStyle/>
          <a:p>
            <a:pPr marL="0" indent="0" algn="ctr">
              <a:spcBef>
                <a:spcPts val="0"/>
              </a:spcBef>
              <a:spcAft>
                <a:spcPts val="0"/>
              </a:spcAft>
              <a:buNone/>
            </a:pPr>
            <a:r>
              <a:rPr lang="fr-FR" sz="1200" dirty="0">
                <a:latin typeface="Courier New"/>
                <a:cs typeface="Courier New"/>
              </a:rPr>
              <a:t>artifacthub.io</a:t>
            </a:r>
          </a:p>
        </p:txBody>
      </p:sp>
      <p:pic>
        <p:nvPicPr>
          <p:cNvPr id="14" name="Logo 14" descr="logo_artifacthub.png"/>
          <p:cNvPicPr>
            <a:picLocks noChangeAspect="1"/>
          </p:cNvPicPr>
          <p:nvPr/>
        </p:nvPicPr>
        <p:blipFill>
          <a:blip r:embed="rId2"/>
          <a:stretch>
            <a:fillRect/>
          </a:stretch>
        </p:blipFill>
        <p:spPr>
          <a:xfrm>
            <a:off x="8549640" y="4526280"/>
            <a:ext cx="2514600" cy="662318"/>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r>
              <a:rPr lang="fr-FR" dirty="0"/>
              <a:t>Un chart Helm, concrètement</a:t>
            </a:r>
          </a:p>
        </p:txBody>
      </p:sp>
      <p:sp>
        <p:nvSpPr>
          <p:cNvPr id="3" name="Code 3"/>
          <p:cNvSpPr/>
          <p:nvPr/>
        </p:nvSpPr>
        <p:spPr>
          <a:xfrm>
            <a:off x="1371600" y="2011680"/>
            <a:ext cx="4206240" cy="3383280"/>
          </a:xfrm>
          <a:prstGeom prst="rect">
            <a:avLst/>
          </a:prstGeom>
          <a:solidFill>
            <a:schemeClr val="tx2"/>
          </a:solidFill>
          <a:ln>
            <a:noFill/>
          </a:ln>
        </p:spPr>
        <p:txBody>
          <a:bodyPr wrap="square" lIns="137160" tIns="137160" rIns="137160" bIns="137160" rtlCol="0" anchor="t">
            <a:noAutofit/>
          </a:bodyPr>
          <a:lstStyle/>
          <a:p>
            <a:pPr marL="0" indent="0" algn="l">
              <a:lnSpc>
                <a:spcPct val="100000"/>
              </a:lnSpc>
              <a:spcBef>
                <a:spcPts val="0"/>
              </a:spcBef>
              <a:spcAft>
                <a:spcPts val="0"/>
              </a:spcAft>
              <a:buNone/>
            </a:pPr>
            <a:r>
              <a:rPr lang="fr-FR" sz="1500" dirty="0">
                <a:solidFill>
                  <a:schemeClr val="bg2"/>
                </a:solidFill>
                <a:latin typeface="Courier New"/>
                <a:cs typeface="Courier New"/>
              </a:rPr>
              <a:t>keystone/</a:t>
            </a:r>
          </a:p>
          <a:p>
            <a:pPr marL="0" indent="0" algn="l">
              <a:lnSpc>
                <a:spcPct val="100000"/>
              </a:lnSpc>
              <a:spcBef>
                <a:spcPts val="0"/>
              </a:spcBef>
              <a:spcAft>
                <a:spcPts val="0"/>
              </a:spcAft>
              <a:buNone/>
            </a:pPr>
            <a:r>
              <a:rPr lang="fr-FR" sz="1500" dirty="0">
                <a:solidFill>
                  <a:schemeClr val="bg2"/>
                </a:solidFill>
                <a:latin typeface="Courier New"/>
                <a:cs typeface="Courier New"/>
              </a:rPr>
              <a:t>├── Chart.yaml</a:t>
            </a:r>
          </a:p>
          <a:p>
            <a:pPr marL="0" indent="0" algn="l">
              <a:lnSpc>
                <a:spcPct val="100000"/>
              </a:lnSpc>
              <a:spcBef>
                <a:spcPts val="0"/>
              </a:spcBef>
              <a:spcAft>
                <a:spcPts val="0"/>
              </a:spcAft>
              <a:buNone/>
            </a:pPr>
            <a:r>
              <a:rPr lang="fr-FR" sz="1500" dirty="0">
                <a:solidFill>
                  <a:schemeClr val="bg2"/>
                </a:solidFill>
                <a:latin typeface="Courier New"/>
                <a:cs typeface="Courier New"/>
              </a:rPr>
              <a:t>├── values.yaml</a:t>
            </a:r>
          </a:p>
          <a:p>
            <a:pPr marL="0" indent="0" algn="l">
              <a:lnSpc>
                <a:spcPct val="100000"/>
              </a:lnSpc>
              <a:spcBef>
                <a:spcPts val="0"/>
              </a:spcBef>
              <a:spcAft>
                <a:spcPts val="0"/>
              </a:spcAft>
              <a:buNone/>
            </a:pPr>
            <a:r>
              <a:rPr lang="fr-FR" sz="1500" dirty="0">
                <a:solidFill>
                  <a:schemeClr val="bg2"/>
                </a:solidFill>
                <a:latin typeface="Courier New"/>
                <a:cs typeface="Courier New"/>
              </a:rPr>
              <a:t>└── templates/</a:t>
            </a:r>
          </a:p>
          <a:p>
            <a:pPr marL="0" indent="0" algn="l">
              <a:lnSpc>
                <a:spcPct val="100000"/>
              </a:lnSpc>
              <a:spcBef>
                <a:spcPts val="0"/>
              </a:spcBef>
              <a:spcAft>
                <a:spcPts val="0"/>
              </a:spcAft>
              <a:buNone/>
            </a:pPr>
            <a:r>
              <a:rPr lang="fr-FR" sz="1500" dirty="0">
                <a:solidFill>
                  <a:schemeClr val="bg2"/>
                </a:solidFill>
                <a:latin typeface="Courier New"/>
                <a:cs typeface="Courier New"/>
              </a:rPr>
              <a:t>    ├── deployment-api.yaml</a:t>
            </a:r>
          </a:p>
          <a:p>
            <a:pPr marL="0" indent="0" algn="l">
              <a:lnSpc>
                <a:spcPct val="100000"/>
              </a:lnSpc>
              <a:spcBef>
                <a:spcPts val="0"/>
              </a:spcBef>
              <a:spcAft>
                <a:spcPts val="0"/>
              </a:spcAft>
              <a:buNone/>
            </a:pPr>
            <a:r>
              <a:rPr lang="fr-FR" sz="1500" dirty="0">
                <a:solidFill>
                  <a:schemeClr val="bg2"/>
                </a:solidFill>
                <a:latin typeface="Courier New"/>
                <a:cs typeface="Courier New"/>
              </a:rPr>
              <a:t>    ├── service-api.yaml</a:t>
            </a:r>
          </a:p>
          <a:p>
            <a:pPr marL="0" indent="0" algn="l">
              <a:lnSpc>
                <a:spcPct val="100000"/>
              </a:lnSpc>
              <a:spcBef>
                <a:spcPts val="0"/>
              </a:spcBef>
              <a:spcAft>
                <a:spcPts val="0"/>
              </a:spcAft>
              <a:buNone/>
            </a:pPr>
            <a:r>
              <a:rPr lang="fr-FR" sz="1500" dirty="0">
                <a:solidFill>
                  <a:schemeClr val="bg2"/>
                </a:solidFill>
                <a:latin typeface="Courier New"/>
                <a:cs typeface="Courier New"/>
              </a:rPr>
              <a:t>    ├── ingress-api.yaml</a:t>
            </a:r>
          </a:p>
          <a:p>
            <a:pPr marL="0" indent="0" algn="l">
              <a:lnSpc>
                <a:spcPct val="100000"/>
              </a:lnSpc>
              <a:spcBef>
                <a:spcPts val="0"/>
              </a:spcBef>
              <a:spcAft>
                <a:spcPts val="0"/>
              </a:spcAft>
              <a:buNone/>
            </a:pPr>
            <a:r>
              <a:rPr lang="fr-FR" sz="1500" dirty="0">
                <a:solidFill>
                  <a:schemeClr val="bg2"/>
                </a:solidFill>
                <a:latin typeface="Courier New"/>
                <a:cs typeface="Courier New"/>
              </a:rPr>
              <a:t>    ├── configmap-etc.yaml</a:t>
            </a:r>
          </a:p>
          <a:p>
            <a:pPr marL="0" indent="0" algn="l">
              <a:lnSpc>
                <a:spcPct val="100000"/>
              </a:lnSpc>
              <a:spcBef>
                <a:spcPts val="0"/>
              </a:spcBef>
              <a:spcAft>
                <a:spcPts val="0"/>
              </a:spcAft>
              <a:buNone/>
            </a:pPr>
            <a:r>
              <a:rPr lang="fr-FR" sz="1500" dirty="0">
                <a:solidFill>
                  <a:schemeClr val="bg2"/>
                </a:solidFill>
                <a:latin typeface="Courier New"/>
                <a:cs typeface="Courier New"/>
              </a:rPr>
              <a:t>    └── job-db-sync.yaml</a:t>
            </a:r>
          </a:p>
        </p:txBody>
      </p:sp>
      <p:sp>
        <p:nvSpPr>
          <p:cNvPr id="4" name="Texte 4"/>
          <p:cNvSpPr txBox="1"/>
          <p:nvPr/>
        </p:nvSpPr>
        <p:spPr>
          <a:xfrm>
            <a:off x="1371600" y="5486400"/>
            <a:ext cx="4206240" cy="274320"/>
          </a:xfrm>
          <a:prstGeom prst="rect">
            <a:avLst/>
          </a:prstGeom>
          <a:noFill/>
        </p:spPr>
        <p:txBody>
          <a:bodyPr wrap="square" lIns="0" tIns="0" rIns="0" bIns="0" rtlCol="0" anchor="t">
            <a:noAutofit/>
          </a:bodyPr>
          <a:lstStyle/>
          <a:p>
            <a:pPr marL="0" indent="0" algn="l">
              <a:spcBef>
                <a:spcPts val="0"/>
              </a:spcBef>
              <a:spcAft>
                <a:spcPts val="0"/>
              </a:spcAft>
              <a:buNone/>
            </a:pPr>
            <a:r>
              <a:rPr lang="fr-FR" sz="1000" i="1" dirty="0">
                <a:solidFill>
                  <a:schemeClr val="accent3"/>
                </a:solidFill>
              </a:rPr>
              <a:t>Exemple simplifié, d'après le chart keystone d'OpenStack-Helm</a:t>
            </a:r>
          </a:p>
        </p:txBody>
      </p:sp>
      <p:sp>
        <p:nvSpPr>
          <p:cNvPr id="5" name="Texte 5"/>
          <p:cNvSpPr txBox="1"/>
          <p:nvPr/>
        </p:nvSpPr>
        <p:spPr>
          <a:xfrm>
            <a:off x="5943600" y="2011680"/>
            <a:ext cx="5349240" cy="3657600"/>
          </a:xfrm>
          <a:prstGeom prst="rect">
            <a:avLst/>
          </a:prstGeom>
          <a:noFill/>
        </p:spPr>
        <p:txBody>
          <a:bodyPr wrap="square" lIns="0" tIns="0" rIns="0" bIns="0" rtlCol="0" anchor="t">
            <a:noAutofit/>
          </a:bodyPr>
          <a:lstStyle/>
          <a:p>
            <a:pPr marL="228600" indent="-228600" algn="l">
              <a:spcBef>
                <a:spcPts val="0"/>
              </a:spcBef>
              <a:spcAft>
                <a:spcPts val="1000"/>
              </a:spcAft>
              <a:buFont typeface="Arial"/>
              <a:buChar char="•"/>
            </a:pPr>
            <a:r>
              <a:rPr lang="fr-FR" sz="1400" b="1" dirty="0"/>
              <a:t>Chart.yaml : </a:t>
            </a:r>
            <a:r>
              <a:rPr lang="fr-FR" sz="1400" dirty="0"/>
              <a:t>la carte d'identité (nom, version, dépendances)</a:t>
            </a:r>
          </a:p>
          <a:p>
            <a:pPr marL="228600" indent="-228600" algn="l">
              <a:spcBef>
                <a:spcPts val="0"/>
              </a:spcBef>
              <a:spcAft>
                <a:spcPts val="1000"/>
              </a:spcAft>
              <a:buFont typeface="Arial"/>
              <a:buChar char="•"/>
            </a:pPr>
            <a:r>
              <a:rPr lang="fr-FR" sz="1400" b="1" dirty="0"/>
              <a:t>values.yaml : </a:t>
            </a:r>
            <a:r>
              <a:rPr lang="fr-FR" sz="1400" dirty="0"/>
              <a:t>les réglages par défaut, que votre fichier de valeurs remplace</a:t>
            </a:r>
          </a:p>
          <a:p>
            <a:pPr marL="228600" indent="-228600" algn="l">
              <a:spcBef>
                <a:spcPts val="0"/>
              </a:spcBef>
              <a:spcAft>
                <a:spcPts val="1000"/>
              </a:spcAft>
              <a:buFont typeface="Arial"/>
              <a:buChar char="•"/>
            </a:pPr>
            <a:r>
              <a:rPr lang="fr-FR" sz="1400" b="1" dirty="0"/>
              <a:t>deployment : </a:t>
            </a:r>
            <a:r>
              <a:rPr lang="fr-FR" sz="1400" dirty="0"/>
              <a:t>lance les pods keystone-api, en plusieurs exemplaires</a:t>
            </a:r>
          </a:p>
          <a:p>
            <a:pPr marL="228600" indent="-228600" algn="l">
              <a:spcBef>
                <a:spcPts val="0"/>
              </a:spcBef>
              <a:spcAft>
                <a:spcPts val="1000"/>
              </a:spcAft>
              <a:buFont typeface="Arial"/>
              <a:buChar char="•"/>
            </a:pPr>
            <a:r>
              <a:rPr lang="fr-FR" sz="1400" b="1" dirty="0"/>
              <a:t>service : </a:t>
            </a:r>
            <a:r>
              <a:rPr lang="fr-FR" sz="1400" dirty="0"/>
              <a:t>une adresse fixe devant ces pods, qui peuvent être recréés à tout moment</a:t>
            </a:r>
          </a:p>
          <a:p>
            <a:pPr marL="228600" indent="-228600" algn="l">
              <a:spcBef>
                <a:spcPts val="0"/>
              </a:spcBef>
              <a:spcAft>
                <a:spcPts val="1000"/>
              </a:spcAft>
              <a:buFont typeface="Arial"/>
              <a:buChar char="•"/>
            </a:pPr>
            <a:r>
              <a:rPr lang="fr-FR" sz="1400" b="1" dirty="0"/>
              <a:t>ingress : </a:t>
            </a:r>
            <a:r>
              <a:rPr lang="fr-FR" sz="1400" dirty="0"/>
              <a:t>la porte d'entrée depuis l'extérieur du cluster</a:t>
            </a:r>
          </a:p>
          <a:p>
            <a:pPr marL="228600" indent="-228600" algn="l">
              <a:spcBef>
                <a:spcPts val="0"/>
              </a:spcBef>
              <a:spcAft>
                <a:spcPts val="0"/>
              </a:spcAft>
              <a:buFont typeface="Arial"/>
              <a:buChar char="•"/>
            </a:pPr>
            <a:r>
              <a:rPr lang="fr-FR" sz="1400" b="1" dirty="0"/>
              <a:t>configmap, job : </a:t>
            </a:r>
            <a:r>
              <a:rPr lang="fr-FR" sz="1400" dirty="0"/>
              <a:t>le fichier keystone.conf, la création de la base</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r>
              <a:rPr lang="fr-FR" dirty="0"/>
              <a:t>ArgoCD : Git aux commandes</a:t>
            </a:r>
          </a:p>
        </p:txBody>
      </p:sp>
      <p:sp>
        <p:nvSpPr>
          <p:cNvPr id="3" name="Git 3"/>
          <p:cNvSpPr/>
          <p:nvPr/>
        </p:nvSpPr>
        <p:spPr>
          <a:xfrm>
            <a:off x="1371600" y="2148840"/>
            <a:ext cx="2377440" cy="1463040"/>
          </a:xfrm>
          <a:prstGeom prst="roundRect">
            <a:avLst>
              <a:gd name="adj" fmla="val 10000"/>
            </a:avLst>
          </a:prstGeom>
          <a:solidFill>
            <a:srgbClr val="FFFFFF"/>
          </a:solidFill>
          <a:ln w="12700">
            <a:solidFill>
              <a:schemeClr val="accent1"/>
            </a:solidFill>
          </a:ln>
          <a:effectLst>
            <a:outerShdw blurRad="63500" dist="19050" dir="5400000" algn="t" rotWithShape="0">
              <a:srgbClr val="000000">
                <a:alpha val="18000"/>
              </a:srgbClr>
            </a:outerShdw>
          </a:effectLst>
        </p:spPr>
        <p:txBody>
          <a:bodyPr wrap="square" lIns="73152" tIns="73152" rIns="73152" bIns="73152" rtlCol="0" anchor="ctr">
            <a:noAutofit/>
          </a:bodyPr>
          <a:lstStyle/>
          <a:p>
            <a:pPr marL="0" indent="0" algn="ctr">
              <a:spcBef>
                <a:spcPts val="0"/>
              </a:spcBef>
              <a:spcAft>
                <a:spcPts val="400"/>
              </a:spcAft>
              <a:buNone/>
            </a:pPr>
            <a:r>
              <a:rPr lang="fr-FR" sz="1600" b="1" dirty="0"/>
              <a:t>Dépôt Git</a:t>
            </a:r>
          </a:p>
          <a:p>
            <a:pPr marL="0" indent="0" algn="ctr">
              <a:spcBef>
                <a:spcPts val="0"/>
              </a:spcBef>
              <a:spcAft>
                <a:spcPts val="0"/>
              </a:spcAft>
              <a:buNone/>
            </a:pPr>
            <a:r>
              <a:rPr lang="fr-FR" sz="1200" dirty="0"/>
              <a:t>charts + fichiers de valeurs</a:t>
            </a:r>
          </a:p>
        </p:txBody>
      </p:sp>
      <p:sp>
        <p:nvSpPr>
          <p:cNvPr id="4" name="Argo 4"/>
          <p:cNvSpPr/>
          <p:nvPr/>
        </p:nvSpPr>
        <p:spPr>
          <a:xfrm>
            <a:off x="4983480" y="2103120"/>
            <a:ext cx="2651760" cy="1554480"/>
          </a:xfrm>
          <a:prstGeom prst="roundRect">
            <a:avLst>
              <a:gd name="adj" fmla="val 10000"/>
            </a:avLst>
          </a:prstGeom>
          <a:solidFill>
            <a:schemeClr val="tx2"/>
          </a:solidFill>
          <a:ln>
            <a:noFill/>
          </a:ln>
        </p:spPr>
        <p:txBody>
          <a:bodyPr wrap="square" lIns="137160" tIns="137160" rIns="137160" bIns="137160" rtlCol="0" anchor="b">
            <a:noAutofit/>
          </a:bodyPr>
          <a:lstStyle/>
          <a:p>
            <a:pPr marL="0" indent="0" algn="ctr">
              <a:spcBef>
                <a:spcPts val="0"/>
              </a:spcBef>
              <a:spcAft>
                <a:spcPts val="400"/>
              </a:spcAft>
              <a:buNone/>
            </a:pPr>
            <a:r>
              <a:rPr lang="fr-FR" sz="1700" b="1" dirty="0">
                <a:solidFill>
                  <a:schemeClr val="bg2"/>
                </a:solidFill>
              </a:rPr>
              <a:t>ArgoCD</a:t>
            </a:r>
          </a:p>
          <a:p>
            <a:pPr marL="0" indent="0" algn="ctr">
              <a:spcBef>
                <a:spcPts val="0"/>
              </a:spcBef>
              <a:spcAft>
                <a:spcPts val="0"/>
              </a:spcAft>
              <a:buNone/>
            </a:pPr>
            <a:r>
              <a:rPr lang="fr-FR" sz="1200" dirty="0">
                <a:solidFill>
                  <a:schemeClr val="bg2"/>
                </a:solidFill>
              </a:rPr>
              <a:t>compare Git et le cluster</a:t>
            </a:r>
          </a:p>
        </p:txBody>
      </p:sp>
      <p:pic>
        <p:nvPicPr>
          <p:cNvPr id="5" name="Logo 5" descr="logo_argo.png"/>
          <p:cNvPicPr>
            <a:picLocks noChangeAspect="1"/>
          </p:cNvPicPr>
          <p:nvPr/>
        </p:nvPicPr>
        <p:blipFill>
          <a:blip r:embed="rId2"/>
          <a:stretch>
            <a:fillRect/>
          </a:stretch>
        </p:blipFill>
        <p:spPr>
          <a:xfrm>
            <a:off x="6007608" y="2194560"/>
            <a:ext cx="604952" cy="777240"/>
          </a:xfrm>
          <a:prstGeom prst="rect">
            <a:avLst/>
          </a:prstGeom>
        </p:spPr>
      </p:pic>
      <p:sp>
        <p:nvSpPr>
          <p:cNvPr id="6" name="Cluster 6"/>
          <p:cNvSpPr/>
          <p:nvPr/>
        </p:nvSpPr>
        <p:spPr>
          <a:xfrm>
            <a:off x="8915400" y="2148840"/>
            <a:ext cx="2377440" cy="1463040"/>
          </a:xfrm>
          <a:prstGeom prst="roundRect">
            <a:avLst>
              <a:gd name="adj" fmla="val 10000"/>
            </a:avLst>
          </a:prstGeom>
          <a:solidFill>
            <a:schemeClr val="accent5"/>
          </a:solidFill>
          <a:ln>
            <a:noFill/>
          </a:ln>
        </p:spPr>
        <p:txBody>
          <a:bodyPr wrap="square" lIns="73152" tIns="73152" rIns="73152" bIns="73152" rtlCol="0" anchor="ctr">
            <a:noAutofit/>
          </a:bodyPr>
          <a:lstStyle/>
          <a:p>
            <a:pPr marL="0" indent="0" algn="ctr">
              <a:spcBef>
                <a:spcPts val="0"/>
              </a:spcBef>
              <a:spcAft>
                <a:spcPts val="400"/>
              </a:spcAft>
              <a:buNone/>
            </a:pPr>
            <a:r>
              <a:rPr lang="fr-FR" sz="1600" b="1" dirty="0">
                <a:solidFill>
                  <a:schemeClr val="bg2"/>
                </a:solidFill>
              </a:rPr>
              <a:t>Cluster Kubernetes</a:t>
            </a:r>
          </a:p>
          <a:p>
            <a:pPr marL="0" indent="0" algn="ctr">
              <a:spcBef>
                <a:spcPts val="0"/>
              </a:spcBef>
              <a:spcAft>
                <a:spcPts val="0"/>
              </a:spcAft>
              <a:buNone/>
            </a:pPr>
            <a:r>
              <a:rPr lang="fr-FR" sz="1200" dirty="0">
                <a:solidFill>
                  <a:schemeClr val="bg2"/>
                </a:solidFill>
              </a:rPr>
              <a:t>ce qui tourne vraiment</a:t>
            </a:r>
          </a:p>
        </p:txBody>
      </p:sp>
      <p:cxnSp>
        <p:nvCxnSpPr>
          <p:cNvPr id="7" name="Flèche 7"/>
          <p:cNvCxnSpPr/>
          <p:nvPr/>
        </p:nvCxnSpPr>
        <p:spPr>
          <a:xfrm flipH="1">
            <a:off x="3794760" y="2651760"/>
            <a:ext cx="1143000" cy="0"/>
          </a:xfrm>
          <a:prstGeom prst="straightConnector1">
            <a:avLst/>
          </a:prstGeom>
          <a:ln w="25400">
            <a:solidFill>
              <a:schemeClr val="tx2"/>
            </a:solidFill>
            <a:tailEnd type="triangle" w="med" len="med"/>
          </a:ln>
        </p:spPr>
      </p:cxnSp>
      <p:sp>
        <p:nvSpPr>
          <p:cNvPr id="8" name="Texte 8"/>
          <p:cNvSpPr txBox="1"/>
          <p:nvPr/>
        </p:nvSpPr>
        <p:spPr>
          <a:xfrm>
            <a:off x="3749040" y="2240280"/>
            <a:ext cx="1280160" cy="365760"/>
          </a:xfrm>
          <a:prstGeom prst="rect">
            <a:avLst/>
          </a:prstGeom>
          <a:noFill/>
        </p:spPr>
        <p:txBody>
          <a:bodyPr wrap="square" lIns="0" tIns="0" rIns="0" bIns="0" rtlCol="0" anchor="t">
            <a:noAutofit/>
          </a:bodyPr>
          <a:lstStyle/>
          <a:p>
            <a:pPr marL="0" indent="0" algn="ctr">
              <a:spcBef>
                <a:spcPts val="0"/>
              </a:spcBef>
              <a:spcAft>
                <a:spcPts val="0"/>
              </a:spcAft>
              <a:buNone/>
            </a:pPr>
            <a:r>
              <a:rPr lang="fr-FR" sz="1100" i="1" dirty="0"/>
              <a:t>surveille</a:t>
            </a:r>
          </a:p>
        </p:txBody>
      </p:sp>
      <p:cxnSp>
        <p:nvCxnSpPr>
          <p:cNvPr id="9" name="Flèche 9"/>
          <p:cNvCxnSpPr/>
          <p:nvPr/>
        </p:nvCxnSpPr>
        <p:spPr>
          <a:xfrm>
            <a:off x="7680960" y="2880360"/>
            <a:ext cx="1188720" cy="0"/>
          </a:xfrm>
          <a:prstGeom prst="straightConnector1">
            <a:avLst/>
          </a:prstGeom>
          <a:ln w="25400">
            <a:solidFill>
              <a:schemeClr val="tx2"/>
            </a:solidFill>
            <a:tailEnd type="triangle" w="med" len="med"/>
          </a:ln>
        </p:spPr>
      </p:cxnSp>
      <p:sp>
        <p:nvSpPr>
          <p:cNvPr id="10" name="Texte 10"/>
          <p:cNvSpPr txBox="1"/>
          <p:nvPr/>
        </p:nvSpPr>
        <p:spPr>
          <a:xfrm>
            <a:off x="7635240" y="2468880"/>
            <a:ext cx="1280160" cy="365760"/>
          </a:xfrm>
          <a:prstGeom prst="rect">
            <a:avLst/>
          </a:prstGeom>
          <a:noFill/>
        </p:spPr>
        <p:txBody>
          <a:bodyPr wrap="square" lIns="0" tIns="0" rIns="0" bIns="0" rtlCol="0" anchor="t">
            <a:noAutofit/>
          </a:bodyPr>
          <a:lstStyle/>
          <a:p>
            <a:pPr marL="0" indent="0" algn="ctr">
              <a:spcBef>
                <a:spcPts val="0"/>
              </a:spcBef>
              <a:spcAft>
                <a:spcPts val="0"/>
              </a:spcAft>
              <a:buNone/>
            </a:pPr>
            <a:r>
              <a:rPr lang="fr-FR" sz="1100" i="1" dirty="0"/>
              <a:t>synchronise</a:t>
            </a:r>
          </a:p>
        </p:txBody>
      </p:sp>
      <p:sp>
        <p:nvSpPr>
          <p:cNvPr id="11" name="Texte 11"/>
          <p:cNvSpPr txBox="1"/>
          <p:nvPr/>
        </p:nvSpPr>
        <p:spPr>
          <a:xfrm>
            <a:off x="1371600" y="4023360"/>
            <a:ext cx="9921240" cy="2103120"/>
          </a:xfrm>
          <a:prstGeom prst="rect">
            <a:avLst/>
          </a:prstGeom>
          <a:noFill/>
        </p:spPr>
        <p:txBody>
          <a:bodyPr wrap="square" lIns="0" tIns="0" rIns="0" bIns="0" rtlCol="0" anchor="t">
            <a:noAutofit/>
          </a:bodyPr>
          <a:lstStyle/>
          <a:p>
            <a:pPr marL="228600" indent="-228600" algn="l">
              <a:spcBef>
                <a:spcPts val="0"/>
              </a:spcBef>
              <a:spcAft>
                <a:spcPts val="900"/>
              </a:spcAft>
              <a:buFont typeface="Arial"/>
              <a:buChar char="•"/>
            </a:pPr>
            <a:r>
              <a:rPr lang="fr-FR" sz="1500" b="1" dirty="0"/>
              <a:t>Git devient la source de vérité : </a:t>
            </a:r>
            <a:r>
              <a:rPr lang="fr-FR" sz="1500" dirty="0"/>
              <a:t>l'état voulu du cluster est décrit dans un dépôt</a:t>
            </a:r>
          </a:p>
          <a:p>
            <a:pPr marL="228600" indent="-228600" algn="l">
              <a:spcBef>
                <a:spcPts val="0"/>
              </a:spcBef>
              <a:spcAft>
                <a:spcPts val="900"/>
              </a:spcAft>
              <a:buFont typeface="Arial"/>
              <a:buChar char="•"/>
            </a:pPr>
            <a:r>
              <a:rPr lang="fr-FR" sz="1500" b="1" dirty="0"/>
              <a:t>Une modification = un commit : </a:t>
            </a:r>
            <a:r>
              <a:rPr lang="fr-FR" sz="1500" dirty="0"/>
              <a:t>historique, relecture et retour arrière gratuits</a:t>
            </a:r>
          </a:p>
          <a:p>
            <a:pPr marL="228600" indent="-228600" algn="l">
              <a:spcBef>
                <a:spcPts val="0"/>
              </a:spcBef>
              <a:spcAft>
                <a:spcPts val="900"/>
              </a:spcAft>
              <a:buFont typeface="Arial"/>
              <a:buChar char="•"/>
            </a:pPr>
            <a:r>
              <a:rPr lang="fr-FR" sz="1500" b="1" dirty="0"/>
              <a:t>Une interface web : </a:t>
            </a:r>
            <a:r>
              <a:rPr lang="fr-FR" sz="1500" dirty="0"/>
              <a:t>chaque application est « synchronisée », « en écart » ou « en erreur »</a:t>
            </a:r>
          </a:p>
          <a:p>
            <a:pPr marL="228600" indent="-228600" algn="l">
              <a:spcBef>
                <a:spcPts val="0"/>
              </a:spcBef>
              <a:spcAft>
                <a:spcPts val="900"/>
              </a:spcAft>
              <a:buFont typeface="Arial"/>
              <a:buChar char="•"/>
            </a:pPr>
            <a:r>
              <a:rPr lang="fr-FR" sz="1500" b="1" dirty="0"/>
              <a:t>Il comprend Helm : </a:t>
            </a:r>
            <a:r>
              <a:rPr lang="fr-FR" sz="1500" dirty="0"/>
              <a:t>idéal pour déployer les charts d'OpenStack-Helm</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re 5">
            <a:extLst>
              <a:ext uri="{FF2B5EF4-FFF2-40B4-BE49-F238E27FC236}">
                <a16:creationId xmlns:a16="http://schemas.microsoft.com/office/drawing/2014/main" id="{147F5558-25D4-5738-1071-7EA602E20CFA}"/>
              </a:ext>
            </a:extLst>
          </p:cNvPr>
          <p:cNvSpPr>
            <a:spLocks noGrp="1"/>
          </p:cNvSpPr>
          <p:nvPr>
            <p:ph type="title"/>
          </p:nvPr>
        </p:nvSpPr>
        <p:spPr/>
        <p:txBody>
          <a:bodyPr>
            <a:normAutofit/>
          </a:bodyPr>
          <a:lstStyle/>
          <a:p>
            <a:r>
              <a:rPr lang="fr-FR" dirty="0"/>
              <a:t>OpenStack-Helm</a:t>
            </a:r>
          </a:p>
        </p:txBody>
      </p:sp>
      <p:sp>
        <p:nvSpPr>
          <p:cNvPr id="7" name="Espace réservé du texte 6">
            <a:extLst>
              <a:ext uri="{FF2B5EF4-FFF2-40B4-BE49-F238E27FC236}">
                <a16:creationId xmlns:a16="http://schemas.microsoft.com/office/drawing/2014/main" id="{79D95668-B1A5-7ABE-D4B4-E6ECFA460679}"/>
              </a:ext>
            </a:extLst>
          </p:cNvPr>
          <p:cNvSpPr>
            <a:spLocks noGrp="1"/>
          </p:cNvSpPr>
          <p:nvPr>
            <p:ph type="body" idx="1"/>
          </p:nvPr>
        </p:nvSpPr>
        <p:spPr/>
        <p:txBody>
          <a:bodyPr/>
          <a:lstStyle/>
          <a:p>
            <a:r>
              <a:rPr lang="fr-FR" dirty="0"/>
              <a:t>Le cloud privé qui se gère comme le reste de votre infra Kubernetes</a:t>
            </a:r>
          </a:p>
        </p:txBody>
      </p:sp>
    </p:spTree>
    <p:extLst>
      <p:ext uri="{BB962C8B-B14F-4D97-AF65-F5344CB8AC3E}">
        <p14:creationId xmlns:p14="http://schemas.microsoft.com/office/powerpoint/2010/main" val="74426099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r>
              <a:rPr lang="fr-FR" dirty="0"/>
              <a:t>OpenStack-Helm en bref</a:t>
            </a:r>
          </a:p>
        </p:txBody>
      </p:sp>
      <p:sp>
        <p:nvSpPr>
          <p:cNvPr id="3" name="Texte 3"/>
          <p:cNvSpPr txBox="1"/>
          <p:nvPr/>
        </p:nvSpPr>
        <p:spPr>
          <a:xfrm>
            <a:off x="1371600" y="2057400"/>
            <a:ext cx="4754880" cy="365760"/>
          </a:xfrm>
          <a:prstGeom prst="rect">
            <a:avLst/>
          </a:prstGeom>
          <a:noFill/>
        </p:spPr>
        <p:txBody>
          <a:bodyPr wrap="square" lIns="0" tIns="0" rIns="0" bIns="0" rtlCol="0" anchor="t">
            <a:noAutofit/>
          </a:bodyPr>
          <a:lstStyle/>
          <a:p>
            <a:pPr marL="0" indent="0" algn="l">
              <a:spcBef>
                <a:spcPts val="0"/>
              </a:spcBef>
              <a:spcAft>
                <a:spcPts val="0"/>
              </a:spcAft>
              <a:buNone/>
            </a:pPr>
            <a:r>
              <a:rPr lang="fr-FR" sz="1800" b="1" dirty="0"/>
              <a:t>Le principe</a:t>
            </a:r>
          </a:p>
        </p:txBody>
      </p:sp>
      <p:sp>
        <p:nvSpPr>
          <p:cNvPr id="4" name="Texte 4"/>
          <p:cNvSpPr txBox="1"/>
          <p:nvPr/>
        </p:nvSpPr>
        <p:spPr>
          <a:xfrm>
            <a:off x="1371600" y="2560320"/>
            <a:ext cx="4754880" cy="3657600"/>
          </a:xfrm>
          <a:prstGeom prst="rect">
            <a:avLst/>
          </a:prstGeom>
          <a:noFill/>
        </p:spPr>
        <p:txBody>
          <a:bodyPr wrap="square" lIns="0" tIns="0" rIns="0" bIns="0" rtlCol="0" anchor="t">
            <a:noAutofit/>
          </a:bodyPr>
          <a:lstStyle/>
          <a:p>
            <a:pPr marL="228600" indent="-228600" algn="l">
              <a:spcBef>
                <a:spcPts val="0"/>
              </a:spcBef>
              <a:spcAft>
                <a:spcPts val="800"/>
              </a:spcAft>
              <a:buFont typeface="Arial"/>
              <a:buChar char="•"/>
            </a:pPr>
            <a:r>
              <a:rPr lang="fr-FR" sz="1500" dirty="0"/>
              <a:t>Un projet officiel OpenStack, hébergé sur opendev.org</a:t>
            </a:r>
          </a:p>
          <a:p>
            <a:pPr marL="228600" indent="-228600" algn="l">
              <a:spcBef>
                <a:spcPts val="0"/>
              </a:spcBef>
              <a:spcAft>
                <a:spcPts val="800"/>
              </a:spcAft>
              <a:buFont typeface="Arial"/>
              <a:buChar char="•"/>
            </a:pPr>
            <a:r>
              <a:rPr lang="fr-FR" sz="1500" dirty="0"/>
              <a:t>Un chart Helm par service : keystone, nova, neutron, glance…</a:t>
            </a:r>
          </a:p>
          <a:p>
            <a:pPr marL="228600" indent="-228600" algn="l">
              <a:spcBef>
                <a:spcPts val="0"/>
              </a:spcBef>
              <a:spcAft>
                <a:spcPts val="800"/>
              </a:spcAft>
              <a:buFont typeface="Arial"/>
              <a:buChar char="•"/>
            </a:pPr>
            <a:r>
              <a:rPr lang="fr-FR" sz="1500" dirty="0"/>
              <a:t>L'infra aussi en charts : MariaDB, RabbitMQ, Memcached, Open vSwitch, Libvirt</a:t>
            </a:r>
          </a:p>
          <a:p>
            <a:pPr marL="228600" indent="-228600" algn="l">
              <a:spcBef>
                <a:spcPts val="0"/>
              </a:spcBef>
              <a:spcAft>
                <a:spcPts val="800"/>
              </a:spcAft>
              <a:buFont typeface="Arial"/>
              <a:buChar char="•"/>
            </a:pPr>
            <a:r>
              <a:rPr lang="fr-FR" sz="1500" dirty="0"/>
              <a:t>Des images prêtes à l'emploi : </a:t>
            </a:r>
            <a:r>
              <a:rPr lang="fr-FR" sz="1400" dirty="0">
                <a:latin typeface="Courier New"/>
                <a:cs typeface="Courier New"/>
              </a:rPr>
              <a:t>quay.io/airshipit</a:t>
            </a:r>
          </a:p>
          <a:p>
            <a:pPr marL="228600" indent="-228600" algn="l">
              <a:spcBef>
                <a:spcPts val="0"/>
              </a:spcBef>
              <a:spcAft>
                <a:spcPts val="800"/>
              </a:spcAft>
              <a:buFont typeface="Arial"/>
              <a:buChar char="•"/>
            </a:pPr>
            <a:r>
              <a:rPr lang="fr-FR" sz="1500" dirty="0"/>
              <a:t>Toute la config passe par des fichiers d'overrides YAML</a:t>
            </a:r>
          </a:p>
        </p:txBody>
      </p:sp>
      <p:sp>
        <p:nvSpPr>
          <p:cNvPr id="5" name="Avantages 5"/>
          <p:cNvSpPr/>
          <p:nvPr/>
        </p:nvSpPr>
        <p:spPr>
          <a:xfrm>
            <a:off x="6446520" y="2057400"/>
            <a:ext cx="4846320" cy="3977640"/>
          </a:xfrm>
          <a:prstGeom prst="rect">
            <a:avLst/>
          </a:prstGeom>
          <a:solidFill>
            <a:schemeClr val="tx2"/>
          </a:solidFill>
          <a:ln>
            <a:noFill/>
          </a:ln>
        </p:spPr>
        <p:txBody>
          <a:bodyPr wrap="square" lIns="274320" tIns="274320" rIns="274320" bIns="274320" rtlCol="0" anchor="t">
            <a:noAutofit/>
          </a:bodyPr>
          <a:lstStyle/>
          <a:p>
            <a:pPr marL="0" indent="0" algn="l">
              <a:spcBef>
                <a:spcPts val="0"/>
              </a:spcBef>
              <a:spcAft>
                <a:spcPts val="1200"/>
              </a:spcAft>
              <a:buNone/>
            </a:pPr>
            <a:r>
              <a:rPr lang="fr-FR" sz="1800" b="1" dirty="0">
                <a:solidFill>
                  <a:schemeClr val="bg2"/>
                </a:solidFill>
              </a:rPr>
              <a:t>Ce que ça change</a:t>
            </a:r>
          </a:p>
          <a:p>
            <a:pPr marL="228600" indent="-228600" algn="l">
              <a:spcBef>
                <a:spcPts val="0"/>
              </a:spcBef>
              <a:spcAft>
                <a:spcPts val="900"/>
              </a:spcAft>
              <a:buFont typeface="Arial"/>
              <a:buChar char="•"/>
            </a:pPr>
            <a:r>
              <a:rPr lang="fr-FR" sz="1500" b="1" dirty="0">
                <a:solidFill>
                  <a:schemeClr val="accent2"/>
                </a:solidFill>
              </a:rPr>
              <a:t>Reproductible : </a:t>
            </a:r>
            <a:r>
              <a:rPr lang="fr-FR" sz="1500" dirty="0">
                <a:solidFill>
                  <a:schemeClr val="bg2"/>
                </a:solidFill>
              </a:rPr>
              <a:t>tout est versionné dans Git</a:t>
            </a:r>
          </a:p>
          <a:p>
            <a:pPr marL="228600" indent="-228600" algn="l">
              <a:spcBef>
                <a:spcPts val="0"/>
              </a:spcBef>
              <a:spcAft>
                <a:spcPts val="900"/>
              </a:spcAft>
              <a:buFont typeface="Arial"/>
              <a:buChar char="•"/>
            </a:pPr>
            <a:r>
              <a:rPr lang="fr-FR" sz="1500" b="1" dirty="0">
                <a:solidFill>
                  <a:schemeClr val="accent2"/>
                </a:solidFill>
              </a:rPr>
              <a:t>Auto-réparation : </a:t>
            </a:r>
            <a:r>
              <a:rPr lang="fr-FR" sz="1500" dirty="0">
                <a:solidFill>
                  <a:schemeClr val="bg2"/>
                </a:solidFill>
              </a:rPr>
              <a:t>Kubernetes relance les pods</a:t>
            </a:r>
          </a:p>
          <a:p>
            <a:pPr marL="228600" indent="-228600" algn="l">
              <a:spcBef>
                <a:spcPts val="0"/>
              </a:spcBef>
              <a:spcAft>
                <a:spcPts val="900"/>
              </a:spcAft>
              <a:buFont typeface="Arial"/>
              <a:buChar char="•"/>
            </a:pPr>
            <a:r>
              <a:rPr lang="fr-FR" sz="1500" b="1" dirty="0">
                <a:solidFill>
                  <a:schemeClr val="accent2"/>
                </a:solidFill>
              </a:rPr>
              <a:t>Mises à jour : </a:t>
            </a:r>
            <a:r>
              <a:rPr lang="fr-FR" sz="1500" dirty="0">
                <a:solidFill>
                  <a:schemeClr val="bg2"/>
                </a:solidFill>
              </a:rPr>
              <a:t>helm upgrade, service par service</a:t>
            </a:r>
          </a:p>
          <a:p>
            <a:pPr marL="228600" indent="-228600" algn="l">
              <a:spcBef>
                <a:spcPts val="0"/>
              </a:spcBef>
              <a:spcAft>
                <a:spcPts val="900"/>
              </a:spcAft>
              <a:buFont typeface="Arial"/>
              <a:buChar char="•"/>
            </a:pPr>
            <a:r>
              <a:rPr lang="fr-FR" sz="1500" b="1" dirty="0">
                <a:solidFill>
                  <a:schemeClr val="accent2"/>
                </a:solidFill>
              </a:rPr>
              <a:t>GitOps : </a:t>
            </a:r>
            <a:r>
              <a:rPr lang="fr-FR" sz="1500" dirty="0">
                <a:solidFill>
                  <a:schemeClr val="bg2"/>
                </a:solidFill>
              </a:rPr>
              <a:t>ArgoCD synchronise les charts</a:t>
            </a:r>
          </a:p>
          <a:p>
            <a:pPr marL="228600" indent="-228600" algn="l">
              <a:spcBef>
                <a:spcPts val="0"/>
              </a:spcBef>
              <a:spcAft>
                <a:spcPts val="0"/>
              </a:spcAft>
              <a:buFont typeface="Arial"/>
              <a:buChar char="•"/>
            </a:pPr>
            <a:r>
              <a:rPr lang="fr-FR" sz="1500" b="1" dirty="0">
                <a:solidFill>
                  <a:schemeClr val="accent6"/>
                </a:solidFill>
              </a:rPr>
              <a:t>Mais : </a:t>
            </a:r>
            <a:r>
              <a:rPr lang="fr-FR" sz="1500" dirty="0">
                <a:solidFill>
                  <a:schemeClr val="bg2"/>
                </a:solidFill>
              </a:rPr>
              <a:t>deux technos à maîtriser au lieu d'une</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r>
              <a:rPr lang="fr-FR" dirty="0"/>
              <a:t>Architecture en couches</a:t>
            </a:r>
          </a:p>
        </p:txBody>
      </p:sp>
      <p:sp>
        <p:nvSpPr>
          <p:cNvPr id="3" name="Couche 3"/>
          <p:cNvSpPr/>
          <p:nvPr/>
        </p:nvSpPr>
        <p:spPr>
          <a:xfrm>
            <a:off x="1371600" y="2103120"/>
            <a:ext cx="1600200" cy="475488"/>
          </a:xfrm>
          <a:prstGeom prst="rect">
            <a:avLst/>
          </a:prstGeom>
          <a:solidFill>
            <a:schemeClr val="accent5"/>
          </a:solidFill>
          <a:ln>
            <a:noFill/>
          </a:ln>
        </p:spPr>
        <p:txBody>
          <a:bodyPr wrap="square" lIns="73152" tIns="73152" rIns="73152" bIns="73152" rtlCol="0" anchor="ctr">
            <a:noAutofit/>
          </a:bodyPr>
          <a:lstStyle/>
          <a:p>
            <a:pPr marL="0" indent="0" algn="ctr">
              <a:spcBef>
                <a:spcPts val="0"/>
              </a:spcBef>
              <a:spcAft>
                <a:spcPts val="0"/>
              </a:spcAft>
              <a:buNone/>
            </a:pPr>
            <a:r>
              <a:rPr lang="fr-FR" sz="1400" b="1" dirty="0">
                <a:solidFill>
                  <a:schemeClr val="tx2"/>
                </a:solidFill>
              </a:rPr>
              <a:t>Accès</a:t>
            </a:r>
          </a:p>
        </p:txBody>
      </p:sp>
      <p:sp>
        <p:nvSpPr>
          <p:cNvPr id="4" name="Pastille 4"/>
          <p:cNvSpPr/>
          <p:nvPr/>
        </p:nvSpPr>
        <p:spPr>
          <a:xfrm>
            <a:off x="3108960" y="2103120"/>
            <a:ext cx="1463040" cy="475488"/>
          </a:xfrm>
          <a:prstGeom prst="roundRect">
            <a:avLst>
              <a:gd name="adj" fmla="val 22000"/>
            </a:avLst>
          </a:prstGeom>
          <a:solidFill>
            <a:srgbClr val="FFFFFF"/>
          </a:solidFill>
          <a:ln w="12700">
            <a:solidFill>
              <a:schemeClr val="accent1"/>
            </a:solidFill>
          </a:ln>
        </p:spPr>
        <p:txBody>
          <a:bodyPr wrap="square" lIns="36576" tIns="36576" rIns="36576" bIns="36576" rtlCol="0" anchor="ctr">
            <a:noAutofit/>
          </a:bodyPr>
          <a:lstStyle/>
          <a:p>
            <a:pPr marL="0" indent="0" algn="ctr">
              <a:spcBef>
                <a:spcPts val="0"/>
              </a:spcBef>
              <a:spcAft>
                <a:spcPts val="0"/>
              </a:spcAft>
              <a:buNone/>
            </a:pPr>
            <a:r>
              <a:rPr lang="fr-FR" sz="1200" dirty="0">
                <a:solidFill>
                  <a:schemeClr val="tx2"/>
                </a:solidFill>
              </a:rPr>
              <a:t>Ingress NGINX</a:t>
            </a:r>
          </a:p>
        </p:txBody>
      </p:sp>
      <p:sp>
        <p:nvSpPr>
          <p:cNvPr id="5" name="Pastille 5"/>
          <p:cNvSpPr/>
          <p:nvPr/>
        </p:nvSpPr>
        <p:spPr>
          <a:xfrm>
            <a:off x="4681728" y="2103120"/>
            <a:ext cx="1051560" cy="475488"/>
          </a:xfrm>
          <a:prstGeom prst="roundRect">
            <a:avLst>
              <a:gd name="adj" fmla="val 22000"/>
            </a:avLst>
          </a:prstGeom>
          <a:solidFill>
            <a:srgbClr val="FFFFFF"/>
          </a:solidFill>
          <a:ln w="12700">
            <a:solidFill>
              <a:schemeClr val="accent1"/>
            </a:solidFill>
          </a:ln>
        </p:spPr>
        <p:txBody>
          <a:bodyPr wrap="square" lIns="36576" tIns="36576" rIns="36576" bIns="36576" rtlCol="0" anchor="ctr">
            <a:noAutofit/>
          </a:bodyPr>
          <a:lstStyle/>
          <a:p>
            <a:pPr marL="0" indent="0" algn="ctr">
              <a:spcBef>
                <a:spcPts val="0"/>
              </a:spcBef>
              <a:spcAft>
                <a:spcPts val="0"/>
              </a:spcAft>
              <a:buNone/>
            </a:pPr>
            <a:r>
              <a:rPr lang="fr-FR" sz="1200" dirty="0">
                <a:solidFill>
                  <a:schemeClr val="tx2"/>
                </a:solidFill>
              </a:rPr>
              <a:t>APIs REST</a:t>
            </a:r>
          </a:p>
        </p:txBody>
      </p:sp>
      <p:sp>
        <p:nvSpPr>
          <p:cNvPr id="6" name="Pastille 6"/>
          <p:cNvSpPr/>
          <p:nvPr/>
        </p:nvSpPr>
        <p:spPr>
          <a:xfrm>
            <a:off x="5843016" y="2103120"/>
            <a:ext cx="868680" cy="475488"/>
          </a:xfrm>
          <a:prstGeom prst="roundRect">
            <a:avLst>
              <a:gd name="adj" fmla="val 22000"/>
            </a:avLst>
          </a:prstGeom>
          <a:solidFill>
            <a:srgbClr val="FFFFFF"/>
          </a:solidFill>
          <a:ln w="12700">
            <a:solidFill>
              <a:schemeClr val="accent1"/>
            </a:solidFill>
          </a:ln>
        </p:spPr>
        <p:txBody>
          <a:bodyPr wrap="square" lIns="36576" tIns="36576" rIns="36576" bIns="36576" rtlCol="0" anchor="ctr">
            <a:noAutofit/>
          </a:bodyPr>
          <a:lstStyle/>
          <a:p>
            <a:pPr marL="0" indent="0" algn="ctr">
              <a:spcBef>
                <a:spcPts val="0"/>
              </a:spcBef>
              <a:spcAft>
                <a:spcPts val="0"/>
              </a:spcAft>
              <a:buNone/>
            </a:pPr>
            <a:r>
              <a:rPr lang="fr-FR" sz="1200" dirty="0">
                <a:solidFill>
                  <a:schemeClr val="tx2"/>
                </a:solidFill>
              </a:rPr>
              <a:t>noVNC</a:t>
            </a:r>
          </a:p>
        </p:txBody>
      </p:sp>
      <p:sp>
        <p:nvSpPr>
          <p:cNvPr id="7" name="Pastille 7"/>
          <p:cNvSpPr/>
          <p:nvPr/>
        </p:nvSpPr>
        <p:spPr>
          <a:xfrm>
            <a:off x="6821424" y="2103120"/>
            <a:ext cx="2194560" cy="475488"/>
          </a:xfrm>
          <a:prstGeom prst="roundRect">
            <a:avLst>
              <a:gd name="adj" fmla="val 22000"/>
            </a:avLst>
          </a:prstGeom>
          <a:solidFill>
            <a:srgbClr val="FFFFFF"/>
          </a:solidFill>
          <a:ln w="12700">
            <a:solidFill>
              <a:schemeClr val="accent1"/>
            </a:solidFill>
          </a:ln>
        </p:spPr>
        <p:txBody>
          <a:bodyPr wrap="square" lIns="36576" tIns="36576" rIns="36576" bIns="36576" rtlCol="0" anchor="ctr">
            <a:noAutofit/>
          </a:bodyPr>
          <a:lstStyle/>
          <a:p>
            <a:pPr marL="0" indent="0" algn="ctr">
              <a:spcBef>
                <a:spcPts val="0"/>
              </a:spcBef>
              <a:spcAft>
                <a:spcPts val="0"/>
              </a:spcAft>
              <a:buNone/>
            </a:pPr>
            <a:r>
              <a:rPr lang="fr-FR" sz="1200" dirty="0">
                <a:solidFill>
                  <a:schemeClr val="tx2"/>
                </a:solidFill>
                <a:latin typeface="Courier New"/>
                <a:cs typeface="Courier New"/>
              </a:rPr>
              <a:t>*.openstack.&lt;domaine&gt;</a:t>
            </a:r>
          </a:p>
        </p:txBody>
      </p:sp>
      <p:sp>
        <p:nvSpPr>
          <p:cNvPr id="8" name="Couche 8"/>
          <p:cNvSpPr/>
          <p:nvPr/>
        </p:nvSpPr>
        <p:spPr>
          <a:xfrm>
            <a:off x="1371600" y="2734056"/>
            <a:ext cx="1600200" cy="1106424"/>
          </a:xfrm>
          <a:prstGeom prst="rect">
            <a:avLst/>
          </a:prstGeom>
          <a:solidFill>
            <a:schemeClr val="accent2"/>
          </a:solidFill>
          <a:ln>
            <a:noFill/>
          </a:ln>
        </p:spPr>
        <p:txBody>
          <a:bodyPr wrap="square" lIns="73152" tIns="73152" rIns="73152" bIns="73152" rtlCol="0" anchor="ctr">
            <a:noAutofit/>
          </a:bodyPr>
          <a:lstStyle/>
          <a:p>
            <a:pPr marL="0" indent="0" algn="ctr">
              <a:spcBef>
                <a:spcPts val="0"/>
              </a:spcBef>
              <a:spcAft>
                <a:spcPts val="0"/>
              </a:spcAft>
              <a:buNone/>
            </a:pPr>
            <a:r>
              <a:rPr lang="fr-FR" sz="1400" b="1" dirty="0">
                <a:solidFill>
                  <a:schemeClr val="tx2"/>
                </a:solidFill>
              </a:rPr>
              <a:t>OpenStack</a:t>
            </a:r>
          </a:p>
        </p:txBody>
      </p:sp>
      <p:sp>
        <p:nvSpPr>
          <p:cNvPr id="9" name="Pastille 9"/>
          <p:cNvSpPr/>
          <p:nvPr/>
        </p:nvSpPr>
        <p:spPr>
          <a:xfrm>
            <a:off x="3108960" y="2734056"/>
            <a:ext cx="1051560" cy="475488"/>
          </a:xfrm>
          <a:prstGeom prst="roundRect">
            <a:avLst>
              <a:gd name="adj" fmla="val 22000"/>
            </a:avLst>
          </a:prstGeom>
          <a:solidFill>
            <a:srgbClr val="FFFFFF"/>
          </a:solidFill>
          <a:ln w="12700">
            <a:solidFill>
              <a:schemeClr val="accent1"/>
            </a:solidFill>
          </a:ln>
        </p:spPr>
        <p:txBody>
          <a:bodyPr wrap="square" lIns="36576" tIns="36576" rIns="36576" bIns="36576" rtlCol="0" anchor="ctr">
            <a:noAutofit/>
          </a:bodyPr>
          <a:lstStyle/>
          <a:p>
            <a:pPr marL="0" indent="0" algn="ctr">
              <a:spcBef>
                <a:spcPts val="0"/>
              </a:spcBef>
              <a:spcAft>
                <a:spcPts val="0"/>
              </a:spcAft>
              <a:buNone/>
            </a:pPr>
            <a:r>
              <a:rPr lang="fr-FR" sz="1200" dirty="0">
                <a:solidFill>
                  <a:schemeClr val="tx2"/>
                </a:solidFill>
              </a:rPr>
              <a:t>Keystone</a:t>
            </a:r>
          </a:p>
        </p:txBody>
      </p:sp>
      <p:sp>
        <p:nvSpPr>
          <p:cNvPr id="10" name="Pastille 10"/>
          <p:cNvSpPr/>
          <p:nvPr/>
        </p:nvSpPr>
        <p:spPr>
          <a:xfrm>
            <a:off x="4270248" y="2734056"/>
            <a:ext cx="868680" cy="475488"/>
          </a:xfrm>
          <a:prstGeom prst="roundRect">
            <a:avLst>
              <a:gd name="adj" fmla="val 22000"/>
            </a:avLst>
          </a:prstGeom>
          <a:solidFill>
            <a:srgbClr val="FFFFFF"/>
          </a:solidFill>
          <a:ln w="12700">
            <a:solidFill>
              <a:schemeClr val="accent1"/>
            </a:solidFill>
          </a:ln>
        </p:spPr>
        <p:txBody>
          <a:bodyPr wrap="square" lIns="36576" tIns="36576" rIns="36576" bIns="36576" rtlCol="0" anchor="ctr">
            <a:noAutofit/>
          </a:bodyPr>
          <a:lstStyle/>
          <a:p>
            <a:pPr marL="0" indent="0" algn="ctr">
              <a:spcBef>
                <a:spcPts val="0"/>
              </a:spcBef>
              <a:spcAft>
                <a:spcPts val="0"/>
              </a:spcAft>
              <a:buNone/>
            </a:pPr>
            <a:r>
              <a:rPr lang="fr-FR" sz="1200" dirty="0">
                <a:solidFill>
                  <a:schemeClr val="tx2"/>
                </a:solidFill>
              </a:rPr>
              <a:t>Glance</a:t>
            </a:r>
          </a:p>
        </p:txBody>
      </p:sp>
      <p:sp>
        <p:nvSpPr>
          <p:cNvPr id="11" name="Pastille 11"/>
          <p:cNvSpPr/>
          <p:nvPr/>
        </p:nvSpPr>
        <p:spPr>
          <a:xfrm>
            <a:off x="5248656" y="2734056"/>
            <a:ext cx="1097280" cy="475488"/>
          </a:xfrm>
          <a:prstGeom prst="roundRect">
            <a:avLst>
              <a:gd name="adj" fmla="val 22000"/>
            </a:avLst>
          </a:prstGeom>
          <a:solidFill>
            <a:srgbClr val="FFFFFF"/>
          </a:solidFill>
          <a:ln w="12700">
            <a:solidFill>
              <a:schemeClr val="accent1"/>
            </a:solidFill>
          </a:ln>
        </p:spPr>
        <p:txBody>
          <a:bodyPr wrap="square" lIns="36576" tIns="36576" rIns="36576" bIns="36576" rtlCol="0" anchor="ctr">
            <a:noAutofit/>
          </a:bodyPr>
          <a:lstStyle/>
          <a:p>
            <a:pPr marL="0" indent="0" algn="ctr">
              <a:spcBef>
                <a:spcPts val="0"/>
              </a:spcBef>
              <a:spcAft>
                <a:spcPts val="0"/>
              </a:spcAft>
              <a:buNone/>
            </a:pPr>
            <a:r>
              <a:rPr lang="fr-FR" sz="1200" dirty="0">
                <a:solidFill>
                  <a:schemeClr val="tx2"/>
                </a:solidFill>
              </a:rPr>
              <a:t>Placement</a:t>
            </a:r>
          </a:p>
        </p:txBody>
      </p:sp>
      <p:sp>
        <p:nvSpPr>
          <p:cNvPr id="12" name="Pastille 12"/>
          <p:cNvSpPr/>
          <p:nvPr/>
        </p:nvSpPr>
        <p:spPr>
          <a:xfrm>
            <a:off x="6455664" y="2734056"/>
            <a:ext cx="731520" cy="475488"/>
          </a:xfrm>
          <a:prstGeom prst="roundRect">
            <a:avLst>
              <a:gd name="adj" fmla="val 22000"/>
            </a:avLst>
          </a:prstGeom>
          <a:solidFill>
            <a:srgbClr val="FFFFFF"/>
          </a:solidFill>
          <a:ln w="12700">
            <a:solidFill>
              <a:schemeClr val="accent1"/>
            </a:solidFill>
          </a:ln>
        </p:spPr>
        <p:txBody>
          <a:bodyPr wrap="square" lIns="36576" tIns="36576" rIns="36576" bIns="36576" rtlCol="0" anchor="ctr">
            <a:noAutofit/>
          </a:bodyPr>
          <a:lstStyle/>
          <a:p>
            <a:pPr marL="0" indent="0" algn="ctr">
              <a:spcBef>
                <a:spcPts val="0"/>
              </a:spcBef>
              <a:spcAft>
                <a:spcPts val="0"/>
              </a:spcAft>
              <a:buNone/>
            </a:pPr>
            <a:r>
              <a:rPr lang="fr-FR" sz="1200" dirty="0">
                <a:solidFill>
                  <a:schemeClr val="tx2"/>
                </a:solidFill>
              </a:rPr>
              <a:t>Nova</a:t>
            </a:r>
          </a:p>
        </p:txBody>
      </p:sp>
      <p:sp>
        <p:nvSpPr>
          <p:cNvPr id="13" name="Pastille 13"/>
          <p:cNvSpPr/>
          <p:nvPr/>
        </p:nvSpPr>
        <p:spPr>
          <a:xfrm>
            <a:off x="7296912" y="2734056"/>
            <a:ext cx="960120" cy="475488"/>
          </a:xfrm>
          <a:prstGeom prst="roundRect">
            <a:avLst>
              <a:gd name="adj" fmla="val 22000"/>
            </a:avLst>
          </a:prstGeom>
          <a:solidFill>
            <a:srgbClr val="FFFFFF"/>
          </a:solidFill>
          <a:ln w="12700">
            <a:solidFill>
              <a:schemeClr val="accent1"/>
            </a:solidFill>
          </a:ln>
        </p:spPr>
        <p:txBody>
          <a:bodyPr wrap="square" lIns="36576" tIns="36576" rIns="36576" bIns="36576" rtlCol="0" anchor="ctr">
            <a:noAutofit/>
          </a:bodyPr>
          <a:lstStyle/>
          <a:p>
            <a:pPr marL="0" indent="0" algn="ctr">
              <a:spcBef>
                <a:spcPts val="0"/>
              </a:spcBef>
              <a:spcAft>
                <a:spcPts val="0"/>
              </a:spcAft>
              <a:buNone/>
            </a:pPr>
            <a:r>
              <a:rPr lang="fr-FR" sz="1200" dirty="0">
                <a:solidFill>
                  <a:schemeClr val="tx2"/>
                </a:solidFill>
              </a:rPr>
              <a:t>Neutron</a:t>
            </a:r>
          </a:p>
        </p:txBody>
      </p:sp>
      <p:sp>
        <p:nvSpPr>
          <p:cNvPr id="14" name="Pastille 14"/>
          <p:cNvSpPr/>
          <p:nvPr/>
        </p:nvSpPr>
        <p:spPr>
          <a:xfrm>
            <a:off x="3108960" y="3364992"/>
            <a:ext cx="868680" cy="475488"/>
          </a:xfrm>
          <a:prstGeom prst="roundRect">
            <a:avLst>
              <a:gd name="adj" fmla="val 22000"/>
            </a:avLst>
          </a:prstGeom>
          <a:solidFill>
            <a:srgbClr val="FFFFFF"/>
          </a:solidFill>
          <a:ln w="12700">
            <a:solidFill>
              <a:schemeClr val="accent1"/>
            </a:solidFill>
          </a:ln>
        </p:spPr>
        <p:txBody>
          <a:bodyPr wrap="square" lIns="36576" tIns="36576" rIns="36576" bIns="36576" rtlCol="0" anchor="ctr">
            <a:noAutofit/>
          </a:bodyPr>
          <a:lstStyle/>
          <a:p>
            <a:pPr marL="0" indent="0" algn="ctr">
              <a:spcBef>
                <a:spcPts val="0"/>
              </a:spcBef>
              <a:spcAft>
                <a:spcPts val="0"/>
              </a:spcAft>
              <a:buNone/>
            </a:pPr>
            <a:r>
              <a:rPr lang="fr-FR" sz="1200" dirty="0">
                <a:solidFill>
                  <a:schemeClr val="tx2"/>
                </a:solidFill>
              </a:rPr>
              <a:t>Cinder</a:t>
            </a:r>
          </a:p>
        </p:txBody>
      </p:sp>
      <p:sp>
        <p:nvSpPr>
          <p:cNvPr id="15" name="Pastille 15"/>
          <p:cNvSpPr/>
          <p:nvPr/>
        </p:nvSpPr>
        <p:spPr>
          <a:xfrm>
            <a:off x="4087368" y="3364992"/>
            <a:ext cx="960120" cy="475488"/>
          </a:xfrm>
          <a:prstGeom prst="roundRect">
            <a:avLst>
              <a:gd name="adj" fmla="val 22000"/>
            </a:avLst>
          </a:prstGeom>
          <a:solidFill>
            <a:srgbClr val="FFFFFF"/>
          </a:solidFill>
          <a:ln w="12700">
            <a:solidFill>
              <a:schemeClr val="accent1"/>
            </a:solidFill>
          </a:ln>
        </p:spPr>
        <p:txBody>
          <a:bodyPr wrap="square" lIns="36576" tIns="36576" rIns="36576" bIns="36576" rtlCol="0" anchor="ctr">
            <a:noAutofit/>
          </a:bodyPr>
          <a:lstStyle/>
          <a:p>
            <a:pPr marL="0" indent="0" algn="ctr">
              <a:spcBef>
                <a:spcPts val="0"/>
              </a:spcBef>
              <a:spcAft>
                <a:spcPts val="0"/>
              </a:spcAft>
              <a:buNone/>
            </a:pPr>
            <a:r>
              <a:rPr lang="fr-FR" sz="1200" dirty="0">
                <a:solidFill>
                  <a:schemeClr val="tx2"/>
                </a:solidFill>
              </a:rPr>
              <a:t>Horizon</a:t>
            </a:r>
          </a:p>
        </p:txBody>
      </p:sp>
      <p:sp>
        <p:nvSpPr>
          <p:cNvPr id="16" name="Pastille 16"/>
          <p:cNvSpPr/>
          <p:nvPr/>
        </p:nvSpPr>
        <p:spPr>
          <a:xfrm>
            <a:off x="5157216" y="3364992"/>
            <a:ext cx="685800" cy="475488"/>
          </a:xfrm>
          <a:prstGeom prst="roundRect">
            <a:avLst>
              <a:gd name="adj" fmla="val 22000"/>
            </a:avLst>
          </a:prstGeom>
          <a:solidFill>
            <a:srgbClr val="FFFFFF"/>
          </a:solidFill>
          <a:ln w="12700">
            <a:solidFill>
              <a:schemeClr val="accent1"/>
            </a:solidFill>
          </a:ln>
        </p:spPr>
        <p:txBody>
          <a:bodyPr wrap="square" lIns="36576" tIns="36576" rIns="36576" bIns="36576" rtlCol="0" anchor="ctr">
            <a:noAutofit/>
          </a:bodyPr>
          <a:lstStyle/>
          <a:p>
            <a:pPr marL="0" indent="0" algn="ctr">
              <a:spcBef>
                <a:spcPts val="0"/>
              </a:spcBef>
              <a:spcAft>
                <a:spcPts val="0"/>
              </a:spcAft>
              <a:buNone/>
            </a:pPr>
            <a:r>
              <a:rPr lang="fr-FR" sz="1200" dirty="0">
                <a:solidFill>
                  <a:schemeClr val="tx2"/>
                </a:solidFill>
              </a:rPr>
              <a:t>Heat</a:t>
            </a:r>
          </a:p>
        </p:txBody>
      </p:sp>
      <p:sp>
        <p:nvSpPr>
          <p:cNvPr id="17" name="Pastille 17"/>
          <p:cNvSpPr/>
          <p:nvPr/>
        </p:nvSpPr>
        <p:spPr>
          <a:xfrm>
            <a:off x="5952744" y="3364992"/>
            <a:ext cx="777240" cy="475488"/>
          </a:xfrm>
          <a:prstGeom prst="roundRect">
            <a:avLst>
              <a:gd name="adj" fmla="val 22000"/>
            </a:avLst>
          </a:prstGeom>
          <a:solidFill>
            <a:srgbClr val="FFFFFF"/>
          </a:solidFill>
          <a:ln w="12700">
            <a:solidFill>
              <a:schemeClr val="accent1"/>
            </a:solidFill>
          </a:ln>
        </p:spPr>
        <p:txBody>
          <a:bodyPr wrap="square" lIns="36576" tIns="36576" rIns="36576" bIns="36576" rtlCol="0" anchor="ctr">
            <a:noAutofit/>
          </a:bodyPr>
          <a:lstStyle/>
          <a:p>
            <a:pPr marL="0" indent="0" algn="ctr">
              <a:spcBef>
                <a:spcPts val="0"/>
              </a:spcBef>
              <a:spcAft>
                <a:spcPts val="0"/>
              </a:spcAft>
              <a:buNone/>
            </a:pPr>
            <a:r>
              <a:rPr lang="fr-FR" sz="1200" dirty="0">
                <a:solidFill>
                  <a:schemeClr val="tx2"/>
                </a:solidFill>
              </a:rPr>
              <a:t>Swift</a:t>
            </a:r>
          </a:p>
        </p:txBody>
      </p:sp>
      <p:sp>
        <p:nvSpPr>
          <p:cNvPr id="18" name="Pastille 18"/>
          <p:cNvSpPr/>
          <p:nvPr/>
        </p:nvSpPr>
        <p:spPr>
          <a:xfrm>
            <a:off x="6839712" y="3364992"/>
            <a:ext cx="777240" cy="475488"/>
          </a:xfrm>
          <a:prstGeom prst="roundRect">
            <a:avLst>
              <a:gd name="adj" fmla="val 22000"/>
            </a:avLst>
          </a:prstGeom>
          <a:solidFill>
            <a:srgbClr val="FFFFFF"/>
          </a:solidFill>
          <a:ln w="12700">
            <a:solidFill>
              <a:schemeClr val="accent1"/>
            </a:solidFill>
          </a:ln>
        </p:spPr>
        <p:txBody>
          <a:bodyPr wrap="square" lIns="36576" tIns="36576" rIns="36576" bIns="36576" rtlCol="0" anchor="ctr">
            <a:noAutofit/>
          </a:bodyPr>
          <a:lstStyle/>
          <a:p>
            <a:pPr marL="0" indent="0" algn="ctr">
              <a:spcBef>
                <a:spcPts val="0"/>
              </a:spcBef>
              <a:spcAft>
                <a:spcPts val="0"/>
              </a:spcAft>
              <a:buNone/>
            </a:pPr>
            <a:r>
              <a:rPr lang="fr-FR" sz="1200" dirty="0">
                <a:solidFill>
                  <a:schemeClr val="tx2"/>
                </a:solidFill>
              </a:rPr>
              <a:t>Trove</a:t>
            </a:r>
          </a:p>
        </p:txBody>
      </p:sp>
      <p:sp>
        <p:nvSpPr>
          <p:cNvPr id="19" name="Couche 19"/>
          <p:cNvSpPr/>
          <p:nvPr/>
        </p:nvSpPr>
        <p:spPr>
          <a:xfrm>
            <a:off x="1371600" y="3995928"/>
            <a:ext cx="1600200" cy="475488"/>
          </a:xfrm>
          <a:prstGeom prst="rect">
            <a:avLst/>
          </a:prstGeom>
          <a:solidFill>
            <a:schemeClr val="accent4"/>
          </a:solidFill>
          <a:ln>
            <a:noFill/>
          </a:ln>
        </p:spPr>
        <p:txBody>
          <a:bodyPr wrap="square" lIns="73152" tIns="73152" rIns="73152" bIns="73152" rtlCol="0" anchor="ctr">
            <a:noAutofit/>
          </a:bodyPr>
          <a:lstStyle/>
          <a:p>
            <a:pPr marL="0" indent="0" algn="ctr">
              <a:spcBef>
                <a:spcPts val="0"/>
              </a:spcBef>
              <a:spcAft>
                <a:spcPts val="0"/>
              </a:spcAft>
              <a:buNone/>
            </a:pPr>
            <a:r>
              <a:rPr lang="fr-FR" sz="1400" b="1" dirty="0">
                <a:solidFill>
                  <a:schemeClr val="tx2"/>
                </a:solidFill>
              </a:rPr>
              <a:t>Infra</a:t>
            </a:r>
          </a:p>
        </p:txBody>
      </p:sp>
      <p:sp>
        <p:nvSpPr>
          <p:cNvPr id="20" name="Pastille 20"/>
          <p:cNvSpPr/>
          <p:nvPr/>
        </p:nvSpPr>
        <p:spPr>
          <a:xfrm>
            <a:off x="3108960" y="3995928"/>
            <a:ext cx="1051560" cy="475488"/>
          </a:xfrm>
          <a:prstGeom prst="roundRect">
            <a:avLst>
              <a:gd name="adj" fmla="val 22000"/>
            </a:avLst>
          </a:prstGeom>
          <a:solidFill>
            <a:srgbClr val="FFFFFF"/>
          </a:solidFill>
          <a:ln w="12700">
            <a:solidFill>
              <a:schemeClr val="accent1"/>
            </a:solidFill>
          </a:ln>
        </p:spPr>
        <p:txBody>
          <a:bodyPr wrap="square" lIns="36576" tIns="36576" rIns="36576" bIns="36576" rtlCol="0" anchor="ctr">
            <a:noAutofit/>
          </a:bodyPr>
          <a:lstStyle/>
          <a:p>
            <a:pPr marL="0" indent="0" algn="ctr">
              <a:spcBef>
                <a:spcPts val="0"/>
              </a:spcBef>
              <a:spcAft>
                <a:spcPts val="0"/>
              </a:spcAft>
              <a:buNone/>
            </a:pPr>
            <a:r>
              <a:rPr lang="fr-FR" sz="1200" dirty="0">
                <a:solidFill>
                  <a:schemeClr val="tx2"/>
                </a:solidFill>
              </a:rPr>
              <a:t>MariaDB</a:t>
            </a:r>
          </a:p>
        </p:txBody>
      </p:sp>
      <p:sp>
        <p:nvSpPr>
          <p:cNvPr id="21" name="Pastille 21"/>
          <p:cNvSpPr/>
          <p:nvPr/>
        </p:nvSpPr>
        <p:spPr>
          <a:xfrm>
            <a:off x="4270248" y="3995928"/>
            <a:ext cx="1143000" cy="475488"/>
          </a:xfrm>
          <a:prstGeom prst="roundRect">
            <a:avLst>
              <a:gd name="adj" fmla="val 22000"/>
            </a:avLst>
          </a:prstGeom>
          <a:solidFill>
            <a:srgbClr val="FFFFFF"/>
          </a:solidFill>
          <a:ln w="12700">
            <a:solidFill>
              <a:schemeClr val="accent1"/>
            </a:solidFill>
          </a:ln>
        </p:spPr>
        <p:txBody>
          <a:bodyPr wrap="square" lIns="36576" tIns="36576" rIns="36576" bIns="36576" rtlCol="0" anchor="ctr">
            <a:noAutofit/>
          </a:bodyPr>
          <a:lstStyle/>
          <a:p>
            <a:pPr marL="0" indent="0" algn="ctr">
              <a:spcBef>
                <a:spcPts val="0"/>
              </a:spcBef>
              <a:spcAft>
                <a:spcPts val="0"/>
              </a:spcAft>
              <a:buNone/>
            </a:pPr>
            <a:r>
              <a:rPr lang="fr-FR" sz="1200" dirty="0">
                <a:solidFill>
                  <a:schemeClr val="tx2"/>
                </a:solidFill>
              </a:rPr>
              <a:t>RabbitMQ</a:t>
            </a:r>
          </a:p>
        </p:txBody>
      </p:sp>
      <p:sp>
        <p:nvSpPr>
          <p:cNvPr id="22" name="Pastille 22"/>
          <p:cNvSpPr/>
          <p:nvPr/>
        </p:nvSpPr>
        <p:spPr>
          <a:xfrm>
            <a:off x="5522976" y="3995928"/>
            <a:ext cx="1188720" cy="475488"/>
          </a:xfrm>
          <a:prstGeom prst="roundRect">
            <a:avLst>
              <a:gd name="adj" fmla="val 22000"/>
            </a:avLst>
          </a:prstGeom>
          <a:solidFill>
            <a:srgbClr val="FFFFFF"/>
          </a:solidFill>
          <a:ln w="12700">
            <a:solidFill>
              <a:schemeClr val="accent1"/>
            </a:solidFill>
          </a:ln>
        </p:spPr>
        <p:txBody>
          <a:bodyPr wrap="square" lIns="36576" tIns="36576" rIns="36576" bIns="36576" rtlCol="0" anchor="ctr">
            <a:noAutofit/>
          </a:bodyPr>
          <a:lstStyle/>
          <a:p>
            <a:pPr marL="0" indent="0" algn="ctr">
              <a:spcBef>
                <a:spcPts val="0"/>
              </a:spcBef>
              <a:spcAft>
                <a:spcPts val="0"/>
              </a:spcAft>
              <a:buNone/>
            </a:pPr>
            <a:r>
              <a:rPr lang="fr-FR" sz="1200" dirty="0">
                <a:solidFill>
                  <a:schemeClr val="tx2"/>
                </a:solidFill>
              </a:rPr>
              <a:t>Memcached</a:t>
            </a:r>
          </a:p>
        </p:txBody>
      </p:sp>
      <p:sp>
        <p:nvSpPr>
          <p:cNvPr id="23" name="Pastille 23"/>
          <p:cNvSpPr/>
          <p:nvPr/>
        </p:nvSpPr>
        <p:spPr>
          <a:xfrm>
            <a:off x="6821424" y="3995928"/>
            <a:ext cx="1325880" cy="475488"/>
          </a:xfrm>
          <a:prstGeom prst="roundRect">
            <a:avLst>
              <a:gd name="adj" fmla="val 22000"/>
            </a:avLst>
          </a:prstGeom>
          <a:solidFill>
            <a:srgbClr val="FFFFFF"/>
          </a:solidFill>
          <a:ln w="12700">
            <a:solidFill>
              <a:schemeClr val="accent1"/>
            </a:solidFill>
          </a:ln>
        </p:spPr>
        <p:txBody>
          <a:bodyPr wrap="square" lIns="36576" tIns="36576" rIns="36576" bIns="36576" rtlCol="0" anchor="ctr">
            <a:noAutofit/>
          </a:bodyPr>
          <a:lstStyle/>
          <a:p>
            <a:pPr marL="0" indent="0" algn="ctr">
              <a:spcBef>
                <a:spcPts val="0"/>
              </a:spcBef>
              <a:spcAft>
                <a:spcPts val="0"/>
              </a:spcAft>
              <a:buNone/>
            </a:pPr>
            <a:r>
              <a:rPr lang="fr-FR" sz="1200" dirty="0">
                <a:solidFill>
                  <a:schemeClr val="tx2"/>
                </a:solidFill>
              </a:rPr>
              <a:t>Open vSwitch</a:t>
            </a:r>
          </a:p>
        </p:txBody>
      </p:sp>
      <p:sp>
        <p:nvSpPr>
          <p:cNvPr id="24" name="Pastille 24"/>
          <p:cNvSpPr/>
          <p:nvPr/>
        </p:nvSpPr>
        <p:spPr>
          <a:xfrm>
            <a:off x="8257032" y="3995928"/>
            <a:ext cx="822960" cy="475488"/>
          </a:xfrm>
          <a:prstGeom prst="roundRect">
            <a:avLst>
              <a:gd name="adj" fmla="val 22000"/>
            </a:avLst>
          </a:prstGeom>
          <a:solidFill>
            <a:srgbClr val="FFFFFF"/>
          </a:solidFill>
          <a:ln w="12700">
            <a:solidFill>
              <a:schemeClr val="accent1"/>
            </a:solidFill>
          </a:ln>
        </p:spPr>
        <p:txBody>
          <a:bodyPr wrap="square" lIns="36576" tIns="36576" rIns="36576" bIns="36576" rtlCol="0" anchor="ctr">
            <a:noAutofit/>
          </a:bodyPr>
          <a:lstStyle/>
          <a:p>
            <a:pPr marL="0" indent="0" algn="ctr">
              <a:spcBef>
                <a:spcPts val="0"/>
              </a:spcBef>
              <a:spcAft>
                <a:spcPts val="0"/>
              </a:spcAft>
              <a:buNone/>
            </a:pPr>
            <a:r>
              <a:rPr lang="fr-FR" sz="1200" dirty="0">
                <a:solidFill>
                  <a:schemeClr val="tx2"/>
                </a:solidFill>
              </a:rPr>
              <a:t>Libvirt</a:t>
            </a:r>
          </a:p>
        </p:txBody>
      </p:sp>
      <p:sp>
        <p:nvSpPr>
          <p:cNvPr id="25" name="Couche 25"/>
          <p:cNvSpPr/>
          <p:nvPr/>
        </p:nvSpPr>
        <p:spPr>
          <a:xfrm>
            <a:off x="1371600" y="4626864"/>
            <a:ext cx="1600200" cy="475488"/>
          </a:xfrm>
          <a:prstGeom prst="rect">
            <a:avLst/>
          </a:prstGeom>
          <a:solidFill>
            <a:schemeClr val="accent3"/>
          </a:solidFill>
          <a:ln>
            <a:noFill/>
          </a:ln>
        </p:spPr>
        <p:txBody>
          <a:bodyPr wrap="square" lIns="73152" tIns="73152" rIns="73152" bIns="73152" rtlCol="0" anchor="ctr">
            <a:noAutofit/>
          </a:bodyPr>
          <a:lstStyle/>
          <a:p>
            <a:pPr marL="0" indent="0" algn="ctr">
              <a:spcBef>
                <a:spcPts val="0"/>
              </a:spcBef>
              <a:spcAft>
                <a:spcPts val="0"/>
              </a:spcAft>
              <a:buNone/>
            </a:pPr>
            <a:r>
              <a:rPr lang="fr-FR" sz="1400" b="1" dirty="0">
                <a:solidFill>
                  <a:schemeClr val="tx2"/>
                </a:solidFill>
              </a:rPr>
              <a:t>Stockage</a:t>
            </a:r>
          </a:p>
        </p:txBody>
      </p:sp>
      <p:sp>
        <p:nvSpPr>
          <p:cNvPr id="26" name="Pastille 26"/>
          <p:cNvSpPr/>
          <p:nvPr/>
        </p:nvSpPr>
        <p:spPr>
          <a:xfrm>
            <a:off x="3108960" y="4626864"/>
            <a:ext cx="3291840" cy="475488"/>
          </a:xfrm>
          <a:prstGeom prst="roundRect">
            <a:avLst>
              <a:gd name="adj" fmla="val 22000"/>
            </a:avLst>
          </a:prstGeom>
          <a:solidFill>
            <a:srgbClr val="FFFFFF"/>
          </a:solidFill>
          <a:ln w="12700">
            <a:solidFill>
              <a:schemeClr val="accent1"/>
            </a:solidFill>
          </a:ln>
        </p:spPr>
        <p:txBody>
          <a:bodyPr wrap="square" lIns="36576" tIns="36576" rIns="36576" bIns="36576" rtlCol="0" anchor="ctr">
            <a:noAutofit/>
          </a:bodyPr>
          <a:lstStyle/>
          <a:p>
            <a:pPr marL="0" indent="0" algn="ctr">
              <a:spcBef>
                <a:spcPts val="0"/>
              </a:spcBef>
              <a:spcAft>
                <a:spcPts val="0"/>
              </a:spcAft>
              <a:buNone/>
            </a:pPr>
            <a:r>
              <a:rPr lang="fr-FR" sz="1200" dirty="0">
                <a:solidFill>
                  <a:schemeClr val="tx2"/>
                </a:solidFill>
              </a:rPr>
              <a:t>Rook-Ceph · StorageClass « general »</a:t>
            </a:r>
          </a:p>
        </p:txBody>
      </p:sp>
      <p:sp>
        <p:nvSpPr>
          <p:cNvPr id="27" name="Pastille 27"/>
          <p:cNvSpPr/>
          <p:nvPr/>
        </p:nvSpPr>
        <p:spPr>
          <a:xfrm>
            <a:off x="6510528" y="4626864"/>
            <a:ext cx="2194560" cy="475488"/>
          </a:xfrm>
          <a:prstGeom prst="roundRect">
            <a:avLst>
              <a:gd name="adj" fmla="val 22000"/>
            </a:avLst>
          </a:prstGeom>
          <a:solidFill>
            <a:srgbClr val="FFFFFF"/>
          </a:solidFill>
          <a:ln w="12700">
            <a:solidFill>
              <a:schemeClr val="accent1"/>
            </a:solidFill>
          </a:ln>
        </p:spPr>
        <p:txBody>
          <a:bodyPr wrap="square" lIns="36576" tIns="36576" rIns="36576" bIns="36576" rtlCol="0" anchor="ctr">
            <a:noAutofit/>
          </a:bodyPr>
          <a:lstStyle/>
          <a:p>
            <a:pPr marL="0" indent="0" algn="ctr">
              <a:spcBef>
                <a:spcPts val="0"/>
              </a:spcBef>
              <a:spcAft>
                <a:spcPts val="0"/>
              </a:spcAft>
              <a:buNone/>
            </a:pPr>
            <a:r>
              <a:rPr lang="fr-FR" sz="1200" dirty="0">
                <a:solidFill>
                  <a:schemeClr val="tx2"/>
                </a:solidFill>
              </a:rPr>
              <a:t>NFS (NAS) pour Swift</a:t>
            </a:r>
          </a:p>
        </p:txBody>
      </p:sp>
      <p:sp>
        <p:nvSpPr>
          <p:cNvPr id="28" name="Kubernetes 28"/>
          <p:cNvSpPr/>
          <p:nvPr/>
        </p:nvSpPr>
        <p:spPr>
          <a:xfrm>
            <a:off x="1371600" y="5257800"/>
            <a:ext cx="7818120" cy="548640"/>
          </a:xfrm>
          <a:prstGeom prst="rect">
            <a:avLst/>
          </a:prstGeom>
          <a:solidFill>
            <a:schemeClr val="tx2"/>
          </a:solidFill>
          <a:ln>
            <a:noFill/>
          </a:ln>
        </p:spPr>
        <p:txBody>
          <a:bodyPr wrap="square" lIns="73152" tIns="73152" rIns="73152" bIns="73152" rtlCol="0" anchor="ctr">
            <a:noAutofit/>
          </a:bodyPr>
          <a:lstStyle/>
          <a:p>
            <a:pPr marL="0" indent="0" algn="ctr">
              <a:spcBef>
                <a:spcPts val="0"/>
              </a:spcBef>
              <a:spcAft>
                <a:spcPts val="0"/>
              </a:spcAft>
              <a:buNone/>
            </a:pPr>
            <a:r>
              <a:rPr lang="fr-FR" sz="1500" b="1" dirty="0">
                <a:solidFill>
                  <a:schemeClr val="bg2"/>
                </a:solidFill>
              </a:rPr>
              <a:t>Cluster Kubernetes</a:t>
            </a:r>
            <a:r>
              <a:rPr lang="fr-FR" sz="1400" dirty="0">
                <a:solidFill>
                  <a:schemeClr val="bg2"/>
                </a:solidFill>
              </a:rPr>
              <a:t>  ·  nœuds physiques du lab</a:t>
            </a:r>
          </a:p>
        </p:txBody>
      </p:sp>
      <p:pic>
        <p:nvPicPr>
          <p:cNvPr id="29" name="Logo 29" descr="logo_rke2_dark.png"/>
          <p:cNvPicPr>
            <a:picLocks noChangeAspect="1"/>
          </p:cNvPicPr>
          <p:nvPr/>
        </p:nvPicPr>
        <p:blipFill>
          <a:blip r:embed="rId2"/>
          <a:stretch>
            <a:fillRect/>
          </a:stretch>
        </p:blipFill>
        <p:spPr>
          <a:xfrm>
            <a:off x="1508760" y="5367528"/>
            <a:ext cx="1022665" cy="329184"/>
          </a:xfrm>
          <a:prstGeom prst="rect">
            <a:avLst/>
          </a:prstGeom>
        </p:spPr>
      </p:pic>
      <p:sp>
        <p:nvSpPr>
          <p:cNvPr id="30" name="GitOps 30"/>
          <p:cNvSpPr/>
          <p:nvPr/>
        </p:nvSpPr>
        <p:spPr>
          <a:xfrm>
            <a:off x="9418320" y="2103120"/>
            <a:ext cx="1874520" cy="3703320"/>
          </a:xfrm>
          <a:prstGeom prst="rect">
            <a:avLst/>
          </a:prstGeom>
          <a:solidFill>
            <a:srgbClr val="FFFFFF"/>
          </a:solidFill>
          <a:ln w="19050">
            <a:solidFill>
              <a:schemeClr val="tx2"/>
            </a:solidFill>
            <a:prstDash val="dash"/>
          </a:ln>
        </p:spPr>
        <p:txBody>
          <a:bodyPr wrap="square" lIns="137160" tIns="137160" rIns="137160" bIns="137160" rtlCol="0" anchor="t">
            <a:noAutofit/>
          </a:bodyPr>
          <a:lstStyle/>
          <a:p>
            <a:pPr marL="0" indent="0" algn="ctr">
              <a:spcBef>
                <a:spcPts val="0"/>
              </a:spcBef>
              <a:spcAft>
                <a:spcPts val="0"/>
              </a:spcAft>
              <a:buNone/>
            </a:pPr>
            <a:r>
              <a:rPr lang="fr-FR" sz="1600" b="1" dirty="0">
                <a:solidFill>
                  <a:schemeClr val="tx2"/>
                </a:solidFill>
              </a:rPr>
              <a:t>Git</a:t>
            </a:r>
          </a:p>
        </p:txBody>
      </p:sp>
      <p:cxnSp>
        <p:nvCxnSpPr>
          <p:cNvPr id="31" name="Flèche 31"/>
          <p:cNvCxnSpPr/>
          <p:nvPr/>
        </p:nvCxnSpPr>
        <p:spPr>
          <a:xfrm>
            <a:off x="10355580" y="2606040"/>
            <a:ext cx="0" cy="228600"/>
          </a:xfrm>
          <a:prstGeom prst="straightConnector1">
            <a:avLst/>
          </a:prstGeom>
          <a:ln w="19050">
            <a:solidFill>
              <a:schemeClr val="tx2"/>
            </a:solidFill>
            <a:tailEnd type="triangle" w="med" len="med"/>
          </a:ln>
        </p:spPr>
      </p:cxnSp>
      <p:pic>
        <p:nvPicPr>
          <p:cNvPr id="32" name="Logo 32" descr="logo_argo.png"/>
          <p:cNvPicPr>
            <a:picLocks noChangeAspect="1"/>
          </p:cNvPicPr>
          <p:nvPr/>
        </p:nvPicPr>
        <p:blipFill>
          <a:blip r:embed="rId3"/>
          <a:stretch>
            <a:fillRect/>
          </a:stretch>
        </p:blipFill>
        <p:spPr>
          <a:xfrm>
            <a:off x="10081260" y="2880360"/>
            <a:ext cx="555132" cy="713232"/>
          </a:xfrm>
          <a:prstGeom prst="rect">
            <a:avLst/>
          </a:prstGeom>
        </p:spPr>
      </p:pic>
      <p:sp>
        <p:nvSpPr>
          <p:cNvPr id="33" name="Texte 33"/>
          <p:cNvSpPr txBox="1"/>
          <p:nvPr/>
        </p:nvSpPr>
        <p:spPr>
          <a:xfrm>
            <a:off x="9418320" y="3630168"/>
            <a:ext cx="1874520" cy="274320"/>
          </a:xfrm>
          <a:prstGeom prst="rect">
            <a:avLst/>
          </a:prstGeom>
          <a:noFill/>
        </p:spPr>
        <p:txBody>
          <a:bodyPr wrap="square" lIns="0" tIns="0" rIns="0" bIns="0" rtlCol="0" anchor="t">
            <a:noAutofit/>
          </a:bodyPr>
          <a:lstStyle/>
          <a:p>
            <a:pPr marL="0" indent="0" algn="ctr">
              <a:spcBef>
                <a:spcPts val="0"/>
              </a:spcBef>
              <a:spcAft>
                <a:spcPts val="0"/>
              </a:spcAft>
              <a:buNone/>
            </a:pPr>
            <a:r>
              <a:rPr lang="fr-FR" sz="1300" b="1" dirty="0"/>
              <a:t>ArgoCD</a:t>
            </a:r>
          </a:p>
        </p:txBody>
      </p:sp>
      <p:cxnSp>
        <p:nvCxnSpPr>
          <p:cNvPr id="34" name="Flèche 34"/>
          <p:cNvCxnSpPr/>
          <p:nvPr/>
        </p:nvCxnSpPr>
        <p:spPr>
          <a:xfrm>
            <a:off x="10355580" y="3931920"/>
            <a:ext cx="0" cy="228600"/>
          </a:xfrm>
          <a:prstGeom prst="straightConnector1">
            <a:avLst/>
          </a:prstGeom>
          <a:ln w="19050">
            <a:solidFill>
              <a:schemeClr val="tx2"/>
            </a:solidFill>
            <a:tailEnd type="triangle" w="med" len="med"/>
          </a:ln>
        </p:spPr>
      </p:cxnSp>
      <p:pic>
        <p:nvPicPr>
          <p:cNvPr id="35" name="Logo 35" descr="logo_helm.png"/>
          <p:cNvPicPr>
            <a:picLocks noChangeAspect="1"/>
          </p:cNvPicPr>
          <p:nvPr/>
        </p:nvPicPr>
        <p:blipFill>
          <a:blip r:embed="rId4"/>
          <a:stretch>
            <a:fillRect/>
          </a:stretch>
        </p:blipFill>
        <p:spPr>
          <a:xfrm>
            <a:off x="10008108" y="4206240"/>
            <a:ext cx="694944" cy="694944"/>
          </a:xfrm>
          <a:prstGeom prst="rect">
            <a:avLst/>
          </a:prstGeom>
        </p:spPr>
      </p:pic>
      <p:sp>
        <p:nvSpPr>
          <p:cNvPr id="36" name="Texte 36"/>
          <p:cNvSpPr txBox="1"/>
          <p:nvPr/>
        </p:nvSpPr>
        <p:spPr>
          <a:xfrm>
            <a:off x="9418320" y="4983480"/>
            <a:ext cx="1874520" cy="548640"/>
          </a:xfrm>
          <a:prstGeom prst="rect">
            <a:avLst/>
          </a:prstGeom>
          <a:noFill/>
        </p:spPr>
        <p:txBody>
          <a:bodyPr wrap="square" lIns="0" tIns="0" rIns="0" bIns="0" rtlCol="0" anchor="t">
            <a:noAutofit/>
          </a:bodyPr>
          <a:lstStyle/>
          <a:p>
            <a:pPr marL="0" indent="0" algn="ctr">
              <a:spcBef>
                <a:spcPts val="0"/>
              </a:spcBef>
              <a:spcAft>
                <a:spcPts val="0"/>
              </a:spcAft>
              <a:buNone/>
            </a:pPr>
            <a:r>
              <a:rPr lang="fr-FR" sz="1100" i="1" dirty="0"/>
              <a:t>déploient chaque brique depuis le dépôt</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r>
              <a:rPr lang="fr-FR" dirty="0"/>
              <a:t>OpenStack posé sur Kubernetes</a:t>
            </a:r>
          </a:p>
        </p:txBody>
      </p:sp>
      <p:sp>
        <p:nvSpPr>
          <p:cNvPr id="3" name="Texte 3"/>
          <p:cNvSpPr txBox="1"/>
          <p:nvPr/>
        </p:nvSpPr>
        <p:spPr>
          <a:xfrm>
            <a:off x="1371600" y="1874520"/>
            <a:ext cx="1143000" cy="1188720"/>
          </a:xfrm>
          <a:prstGeom prst="rect">
            <a:avLst/>
          </a:prstGeom>
          <a:noFill/>
        </p:spPr>
        <p:txBody>
          <a:bodyPr wrap="square" lIns="0" tIns="0" rIns="0" bIns="0" rtlCol="0" anchor="ctr">
            <a:noAutofit/>
          </a:bodyPr>
          <a:lstStyle/>
          <a:p>
            <a:pPr marL="0" indent="0" algn="l">
              <a:spcBef>
                <a:spcPts val="0"/>
              </a:spcBef>
              <a:spcAft>
                <a:spcPts val="0"/>
              </a:spcAft>
              <a:buNone/>
            </a:pPr>
            <a:r>
              <a:rPr lang="fr-FR" sz="1400" b="1" dirty="0"/>
              <a:t>OpenStack</a:t>
            </a:r>
          </a:p>
          <a:p>
            <a:pPr marL="0" indent="0" algn="l">
              <a:spcBef>
                <a:spcPts val="0"/>
              </a:spcBef>
              <a:spcAft>
                <a:spcPts val="0"/>
              </a:spcAft>
              <a:buNone/>
            </a:pPr>
            <a:r>
              <a:rPr lang="fr-FR" sz="1000" i="1" dirty="0"/>
              <a:t>ce que voient les utilisateurs</a:t>
            </a:r>
          </a:p>
        </p:txBody>
      </p:sp>
      <p:sp>
        <p:nvSpPr>
          <p:cNvPr id="4" name="Texte 4"/>
          <p:cNvSpPr txBox="1"/>
          <p:nvPr/>
        </p:nvSpPr>
        <p:spPr>
          <a:xfrm>
            <a:off x="1371600" y="3154680"/>
            <a:ext cx="1143000" cy="228600"/>
          </a:xfrm>
          <a:prstGeom prst="rect">
            <a:avLst/>
          </a:prstGeom>
          <a:noFill/>
        </p:spPr>
        <p:txBody>
          <a:bodyPr wrap="square" lIns="0" tIns="0" rIns="0" bIns="0" rtlCol="0" anchor="ctr">
            <a:noAutofit/>
          </a:bodyPr>
          <a:lstStyle/>
          <a:p>
            <a:pPr marL="0" indent="0" algn="l">
              <a:spcBef>
                <a:spcPts val="0"/>
              </a:spcBef>
              <a:spcAft>
                <a:spcPts val="0"/>
              </a:spcAft>
              <a:buNone/>
            </a:pPr>
            <a:r>
              <a:rPr lang="fr-FR" sz="1100" i="1" dirty="0">
                <a:solidFill>
                  <a:schemeClr val="accent3"/>
                </a:solidFill>
              </a:rPr>
              <a:t>les labels décident qui va où</a:t>
            </a:r>
          </a:p>
        </p:txBody>
      </p:sp>
      <p:sp>
        <p:nvSpPr>
          <p:cNvPr id="5" name="Texte 5"/>
          <p:cNvSpPr txBox="1"/>
          <p:nvPr/>
        </p:nvSpPr>
        <p:spPr>
          <a:xfrm>
            <a:off x="1371600" y="3474720"/>
            <a:ext cx="1143000" cy="1188720"/>
          </a:xfrm>
          <a:prstGeom prst="rect">
            <a:avLst/>
          </a:prstGeom>
          <a:noFill/>
        </p:spPr>
        <p:txBody>
          <a:bodyPr wrap="square" lIns="0" tIns="0" rIns="0" bIns="0" rtlCol="0" anchor="ctr">
            <a:noAutofit/>
          </a:bodyPr>
          <a:lstStyle/>
          <a:p>
            <a:pPr marL="0" indent="0" algn="l">
              <a:spcBef>
                <a:spcPts val="0"/>
              </a:spcBef>
              <a:spcAft>
                <a:spcPts val="0"/>
              </a:spcAft>
              <a:buNone/>
            </a:pPr>
            <a:r>
              <a:rPr lang="fr-FR" sz="1400" b="1" dirty="0"/>
              <a:t>Kubernetes</a:t>
            </a:r>
          </a:p>
          <a:p>
            <a:pPr marL="0" indent="0" algn="l">
              <a:spcBef>
                <a:spcPts val="0"/>
              </a:spcBef>
              <a:spcAft>
                <a:spcPts val="0"/>
              </a:spcAft>
              <a:buNone/>
            </a:pPr>
            <a:r>
              <a:rPr lang="fr-FR" sz="1000" i="1" dirty="0"/>
              <a:t>les machines (RKE2)</a:t>
            </a:r>
          </a:p>
        </p:txBody>
      </p:sp>
      <p:sp>
        <p:nvSpPr>
          <p:cNvPr id="6" name="Role 6"/>
          <p:cNvSpPr/>
          <p:nvPr/>
        </p:nvSpPr>
        <p:spPr>
          <a:xfrm>
            <a:off x="2743200" y="1874520"/>
            <a:ext cx="2697480" cy="1188720"/>
          </a:xfrm>
          <a:prstGeom prst="roundRect">
            <a:avLst>
              <a:gd name="adj" fmla="val 8000"/>
            </a:avLst>
          </a:prstGeom>
          <a:solidFill>
            <a:schemeClr val="tx2"/>
          </a:solidFill>
          <a:ln>
            <a:noFill/>
          </a:ln>
        </p:spPr>
        <p:txBody>
          <a:bodyPr wrap="square" lIns="91440" tIns="91440" rIns="91440" bIns="91440" rtlCol="0" anchor="ctr">
            <a:noAutofit/>
          </a:bodyPr>
          <a:lstStyle/>
          <a:p>
            <a:pPr marL="0" indent="0" algn="ctr">
              <a:spcBef>
                <a:spcPts val="0"/>
              </a:spcBef>
              <a:spcAft>
                <a:spcPts val="600"/>
              </a:spcAft>
              <a:buNone/>
            </a:pPr>
            <a:r>
              <a:rPr lang="fr-FR" sz="1500" b="1" dirty="0">
                <a:solidFill>
                  <a:schemeClr val="bg2"/>
                </a:solidFill>
              </a:rPr>
              <a:t>Controller</a:t>
            </a:r>
          </a:p>
          <a:p>
            <a:pPr marL="0" indent="0" algn="ctr">
              <a:spcBef>
                <a:spcPts val="0"/>
              </a:spcBef>
              <a:spcAft>
                <a:spcPts val="0"/>
              </a:spcAft>
              <a:buNone/>
            </a:pPr>
            <a:r>
              <a:rPr lang="fr-FR" sz="1100" dirty="0">
                <a:solidFill>
                  <a:schemeClr val="bg2"/>
                </a:solidFill>
              </a:rPr>
              <a:t>Keystone · Nova API · Neutron</a:t>
            </a:r>
          </a:p>
          <a:p>
            <a:pPr marL="0" indent="0" algn="ctr">
              <a:spcBef>
                <a:spcPts val="0"/>
              </a:spcBef>
              <a:spcAft>
                <a:spcPts val="0"/>
              </a:spcAft>
              <a:buNone/>
            </a:pPr>
            <a:r>
              <a:rPr lang="fr-FR" sz="1100" dirty="0">
                <a:solidFill>
                  <a:schemeClr val="bg2"/>
                </a:solidFill>
              </a:rPr>
              <a:t>Glance · Cinder · Horizon</a:t>
            </a:r>
          </a:p>
          <a:p>
            <a:pPr marL="0" indent="0" algn="ctr">
              <a:spcBef>
                <a:spcPts val="0"/>
              </a:spcBef>
              <a:spcAft>
                <a:spcPts val="0"/>
              </a:spcAft>
              <a:buNone/>
            </a:pPr>
            <a:r>
              <a:rPr lang="fr-FR" sz="1100" dirty="0">
                <a:solidFill>
                  <a:schemeClr val="bg2"/>
                </a:solidFill>
              </a:rPr>
              <a:t>MariaDB · RabbitMQ</a:t>
            </a:r>
          </a:p>
        </p:txBody>
      </p:sp>
      <p:cxnSp>
        <p:nvCxnSpPr>
          <p:cNvPr id="7" name="Flèche 7"/>
          <p:cNvCxnSpPr/>
          <p:nvPr/>
        </p:nvCxnSpPr>
        <p:spPr>
          <a:xfrm flipV="1">
            <a:off x="4091940" y="3090672"/>
            <a:ext cx="0" cy="356616"/>
          </a:xfrm>
          <a:prstGeom prst="straightConnector1">
            <a:avLst/>
          </a:prstGeom>
          <a:ln w="25400">
            <a:solidFill>
              <a:schemeClr val="tx2"/>
            </a:solidFill>
            <a:tailEnd type="triangle" w="med" len="med"/>
          </a:ln>
        </p:spPr>
      </p:cxnSp>
      <p:sp>
        <p:nvSpPr>
          <p:cNvPr id="8" name="Worker 8"/>
          <p:cNvSpPr/>
          <p:nvPr/>
        </p:nvSpPr>
        <p:spPr>
          <a:xfrm>
            <a:off x="2743200" y="3474720"/>
            <a:ext cx="2697480" cy="1188720"/>
          </a:xfrm>
          <a:prstGeom prst="roundRect">
            <a:avLst>
              <a:gd name="adj" fmla="val 8000"/>
            </a:avLst>
          </a:prstGeom>
          <a:solidFill>
            <a:srgbClr val="FFFFFF"/>
          </a:solidFill>
          <a:ln w="15875">
            <a:solidFill>
              <a:schemeClr val="tx2"/>
            </a:solidFill>
          </a:ln>
        </p:spPr>
        <p:txBody>
          <a:bodyPr wrap="square" lIns="73152" tIns="73152" rIns="73152" bIns="73152" rtlCol="0" anchor="t">
            <a:noAutofit/>
          </a:bodyPr>
          <a:lstStyle/>
          <a:p>
            <a:endParaRPr lang="fr-FR"/>
          </a:p>
        </p:txBody>
      </p:sp>
      <p:pic>
        <p:nvPicPr>
          <p:cNvPr id="9" name="Logo 9" descr="ic_server_d.png"/>
          <p:cNvPicPr>
            <a:picLocks noChangeAspect="1"/>
          </p:cNvPicPr>
          <p:nvPr/>
        </p:nvPicPr>
        <p:blipFill>
          <a:blip r:embed="rId2"/>
          <a:stretch>
            <a:fillRect/>
          </a:stretch>
        </p:blipFill>
        <p:spPr>
          <a:xfrm>
            <a:off x="2880360" y="3602736"/>
            <a:ext cx="274320" cy="274320"/>
          </a:xfrm>
          <a:prstGeom prst="rect">
            <a:avLst/>
          </a:prstGeom>
        </p:spPr>
      </p:pic>
      <p:sp>
        <p:nvSpPr>
          <p:cNvPr id="10" name="Texte 10"/>
          <p:cNvSpPr txBox="1"/>
          <p:nvPr/>
        </p:nvSpPr>
        <p:spPr>
          <a:xfrm>
            <a:off x="3246120" y="3566160"/>
            <a:ext cx="2148840" cy="347472"/>
          </a:xfrm>
          <a:prstGeom prst="rect">
            <a:avLst/>
          </a:prstGeom>
          <a:noFill/>
        </p:spPr>
        <p:txBody>
          <a:bodyPr wrap="square" lIns="0" tIns="0" rIns="0" bIns="0" rtlCol="0" anchor="ctr">
            <a:noAutofit/>
          </a:bodyPr>
          <a:lstStyle/>
          <a:p>
            <a:pPr marL="0" indent="0" algn="l">
              <a:spcBef>
                <a:spcPts val="0"/>
              </a:spcBef>
              <a:spcAft>
                <a:spcPts val="0"/>
              </a:spcAft>
              <a:buNone/>
            </a:pPr>
            <a:r>
              <a:rPr lang="fr-FR" sz="1400" b="1" dirty="0"/>
              <a:t>Worker 1</a:t>
            </a:r>
          </a:p>
        </p:txBody>
      </p:sp>
      <p:pic>
        <p:nvPicPr>
          <p:cNvPr id="11" name="Logo 11" descr="ic_hdd.png"/>
          <p:cNvPicPr>
            <a:picLocks noChangeAspect="1"/>
          </p:cNvPicPr>
          <p:nvPr/>
        </p:nvPicPr>
        <p:blipFill>
          <a:blip r:embed="rId3"/>
          <a:stretch>
            <a:fillRect/>
          </a:stretch>
        </p:blipFill>
        <p:spPr>
          <a:xfrm>
            <a:off x="4663440" y="3611880"/>
            <a:ext cx="256032" cy="256032"/>
          </a:xfrm>
          <a:prstGeom prst="rect">
            <a:avLst/>
          </a:prstGeom>
        </p:spPr>
      </p:pic>
      <p:pic>
        <p:nvPicPr>
          <p:cNvPr id="12" name="Logo 12" descr="ic_hdd.png"/>
          <p:cNvPicPr>
            <a:picLocks noChangeAspect="1"/>
          </p:cNvPicPr>
          <p:nvPr/>
        </p:nvPicPr>
        <p:blipFill>
          <a:blip r:embed="rId3"/>
          <a:stretch>
            <a:fillRect/>
          </a:stretch>
        </p:blipFill>
        <p:spPr>
          <a:xfrm>
            <a:off x="5001768" y="3611880"/>
            <a:ext cx="256032" cy="256032"/>
          </a:xfrm>
          <a:prstGeom prst="rect">
            <a:avLst/>
          </a:prstGeom>
        </p:spPr>
      </p:pic>
      <p:cxnSp>
        <p:nvCxnSpPr>
          <p:cNvPr id="13" name="Flèche 13"/>
          <p:cNvCxnSpPr/>
          <p:nvPr/>
        </p:nvCxnSpPr>
        <p:spPr>
          <a:xfrm>
            <a:off x="4091940" y="4690872"/>
            <a:ext cx="0" cy="265176"/>
          </a:xfrm>
          <a:prstGeom prst="straightConnector1">
            <a:avLst/>
          </a:prstGeom>
          <a:ln w="22225">
            <a:solidFill>
              <a:schemeClr val="tx2"/>
            </a:solidFill>
            <a:tailEnd type="triangle" w="med" len="med"/>
          </a:ln>
        </p:spPr>
      </p:cxnSp>
      <p:sp>
        <p:nvSpPr>
          <p:cNvPr id="14" name="Texte 14"/>
          <p:cNvSpPr txBox="1"/>
          <p:nvPr/>
        </p:nvSpPr>
        <p:spPr>
          <a:xfrm>
            <a:off x="2880360" y="3950208"/>
            <a:ext cx="2423160" cy="640080"/>
          </a:xfrm>
          <a:prstGeom prst="rect">
            <a:avLst/>
          </a:prstGeom>
          <a:noFill/>
        </p:spPr>
        <p:txBody>
          <a:bodyPr wrap="square" lIns="0" tIns="0" rIns="0" bIns="0" rtlCol="0" anchor="t">
            <a:noAutofit/>
          </a:bodyPr>
          <a:lstStyle/>
          <a:p>
            <a:pPr marL="0" indent="0" algn="l">
              <a:spcBef>
                <a:spcPts val="0"/>
              </a:spcBef>
              <a:spcAft>
                <a:spcPts val="200"/>
              </a:spcAft>
              <a:buNone/>
            </a:pPr>
            <a:r>
              <a:rPr lang="fr-FR" sz="1000" dirty="0">
                <a:solidFill>
                  <a:schemeClr val="accent3"/>
                </a:solidFill>
                <a:latin typeface="Courier New"/>
                <a:cs typeface="Courier New"/>
              </a:rPr>
              <a:t>openstack-control-plane=enabled</a:t>
            </a:r>
          </a:p>
          <a:p>
            <a:pPr marL="0" indent="0" algn="l">
              <a:spcBef>
                <a:spcPts val="0"/>
              </a:spcBef>
              <a:spcAft>
                <a:spcPts val="200"/>
              </a:spcAft>
              <a:buNone/>
            </a:pPr>
            <a:r>
              <a:rPr lang="fr-FR" sz="1000" dirty="0">
                <a:solidFill>
                  <a:schemeClr val="accent3"/>
                </a:solidFill>
                <a:latin typeface="Courier New"/>
                <a:cs typeface="Courier New"/>
              </a:rPr>
              <a:t>openvswitch=enabled</a:t>
            </a:r>
          </a:p>
          <a:p>
            <a:pPr marL="0" indent="0" algn="l">
              <a:spcBef>
                <a:spcPts val="0"/>
              </a:spcBef>
              <a:spcAft>
                <a:spcPts val="200"/>
              </a:spcAft>
              <a:buNone/>
            </a:pPr>
            <a:r>
              <a:rPr lang="fr-FR" sz="1000" dirty="0">
                <a:solidFill>
                  <a:schemeClr val="accent3"/>
                </a:solidFill>
                <a:latin typeface="Courier New"/>
                <a:cs typeface="Courier New"/>
              </a:rPr>
              <a:t>l3-agent=enabled</a:t>
            </a:r>
          </a:p>
        </p:txBody>
      </p:sp>
      <p:sp>
        <p:nvSpPr>
          <p:cNvPr id="15" name="Role 15"/>
          <p:cNvSpPr/>
          <p:nvPr/>
        </p:nvSpPr>
        <p:spPr>
          <a:xfrm>
            <a:off x="5669280" y="1874520"/>
            <a:ext cx="2697480" cy="1188720"/>
          </a:xfrm>
          <a:prstGeom prst="roundRect">
            <a:avLst>
              <a:gd name="adj" fmla="val 8000"/>
            </a:avLst>
          </a:prstGeom>
          <a:solidFill>
            <a:srgbClr val="FFFFFF"/>
          </a:solidFill>
          <a:ln w="15875">
            <a:solidFill>
              <a:schemeClr val="tx2"/>
            </a:solidFill>
          </a:ln>
        </p:spPr>
        <p:txBody>
          <a:bodyPr wrap="square" lIns="91440" tIns="91440" rIns="91440" bIns="91440" rtlCol="0" anchor="t">
            <a:noAutofit/>
          </a:bodyPr>
          <a:lstStyle/>
          <a:p>
            <a:pPr marL="0" indent="0" algn="ctr">
              <a:spcBef>
                <a:spcPts val="0"/>
              </a:spcBef>
              <a:spcAft>
                <a:spcPts val="0"/>
              </a:spcAft>
              <a:buNone/>
            </a:pPr>
            <a:r>
              <a:rPr lang="fr-FR" sz="1500" b="1" dirty="0"/>
              <a:t>Compute</a:t>
            </a:r>
          </a:p>
        </p:txBody>
      </p:sp>
      <p:sp>
        <p:nvSpPr>
          <p:cNvPr id="16" name="Icone 16"/>
          <p:cNvSpPr/>
          <p:nvPr/>
        </p:nvSpPr>
        <p:spPr>
          <a:xfrm>
            <a:off x="6057900" y="2286000"/>
            <a:ext cx="438912" cy="438912"/>
          </a:xfrm>
          <a:prstGeom prst="ellipse">
            <a:avLst/>
          </a:prstGeom>
          <a:solidFill>
            <a:schemeClr val="accent5"/>
          </a:solidFill>
          <a:ln>
            <a:noFill/>
          </a:ln>
        </p:spPr>
        <p:txBody>
          <a:bodyPr wrap="square" lIns="73152" tIns="73152" rIns="73152" bIns="73152" rtlCol="0" anchor="t">
            <a:noAutofit/>
          </a:bodyPr>
          <a:lstStyle/>
          <a:p>
            <a:endParaRPr lang="fr-FR"/>
          </a:p>
        </p:txBody>
      </p:sp>
      <p:pic>
        <p:nvPicPr>
          <p:cNvPr id="17" name="Logo 17" descr="ic_display_l.png"/>
          <p:cNvPicPr>
            <a:picLocks noChangeAspect="1"/>
          </p:cNvPicPr>
          <p:nvPr/>
        </p:nvPicPr>
        <p:blipFill>
          <a:blip r:embed="rId4"/>
          <a:stretch>
            <a:fillRect/>
          </a:stretch>
        </p:blipFill>
        <p:spPr>
          <a:xfrm>
            <a:off x="6163239" y="2391339"/>
            <a:ext cx="228234" cy="228234"/>
          </a:xfrm>
          <a:prstGeom prst="rect">
            <a:avLst/>
          </a:prstGeom>
        </p:spPr>
      </p:pic>
      <p:sp>
        <p:nvSpPr>
          <p:cNvPr id="18" name="Texte 18"/>
          <p:cNvSpPr txBox="1"/>
          <p:nvPr/>
        </p:nvSpPr>
        <p:spPr>
          <a:xfrm>
            <a:off x="5957316" y="2752344"/>
            <a:ext cx="640080" cy="219456"/>
          </a:xfrm>
          <a:prstGeom prst="rect">
            <a:avLst/>
          </a:prstGeom>
          <a:noFill/>
        </p:spPr>
        <p:txBody>
          <a:bodyPr wrap="square" lIns="0" tIns="0" rIns="0" bIns="0" rtlCol="0" anchor="t">
            <a:noAutofit/>
          </a:bodyPr>
          <a:lstStyle/>
          <a:p>
            <a:pPr marL="0" indent="0" algn="ctr">
              <a:spcBef>
                <a:spcPts val="0"/>
              </a:spcBef>
              <a:spcAft>
                <a:spcPts val="0"/>
              </a:spcAft>
              <a:buNone/>
            </a:pPr>
            <a:r>
              <a:rPr lang="fr-FR" sz="1000" b="1" dirty="0">
                <a:solidFill>
                  <a:schemeClr val="tx2"/>
                </a:solidFill>
              </a:rPr>
              <a:t>VM</a:t>
            </a:r>
          </a:p>
        </p:txBody>
      </p:sp>
      <p:sp>
        <p:nvSpPr>
          <p:cNvPr id="19" name="Icone 19"/>
          <p:cNvSpPr/>
          <p:nvPr/>
        </p:nvSpPr>
        <p:spPr>
          <a:xfrm>
            <a:off x="6743700" y="2286000"/>
            <a:ext cx="438912" cy="438912"/>
          </a:xfrm>
          <a:prstGeom prst="ellipse">
            <a:avLst/>
          </a:prstGeom>
          <a:solidFill>
            <a:schemeClr val="accent5"/>
          </a:solidFill>
          <a:ln>
            <a:noFill/>
          </a:ln>
        </p:spPr>
        <p:txBody>
          <a:bodyPr wrap="square" lIns="73152" tIns="73152" rIns="73152" bIns="73152" rtlCol="0" anchor="t">
            <a:noAutofit/>
          </a:bodyPr>
          <a:lstStyle/>
          <a:p>
            <a:endParaRPr lang="fr-FR"/>
          </a:p>
        </p:txBody>
      </p:sp>
      <p:pic>
        <p:nvPicPr>
          <p:cNvPr id="20" name="Logo 20" descr="ic_display_l.png"/>
          <p:cNvPicPr>
            <a:picLocks noChangeAspect="1"/>
          </p:cNvPicPr>
          <p:nvPr/>
        </p:nvPicPr>
        <p:blipFill>
          <a:blip r:embed="rId4"/>
          <a:stretch>
            <a:fillRect/>
          </a:stretch>
        </p:blipFill>
        <p:spPr>
          <a:xfrm>
            <a:off x="6849039" y="2391339"/>
            <a:ext cx="228234" cy="228234"/>
          </a:xfrm>
          <a:prstGeom prst="rect">
            <a:avLst/>
          </a:prstGeom>
        </p:spPr>
      </p:pic>
      <p:sp>
        <p:nvSpPr>
          <p:cNvPr id="21" name="Texte 21"/>
          <p:cNvSpPr txBox="1"/>
          <p:nvPr/>
        </p:nvSpPr>
        <p:spPr>
          <a:xfrm>
            <a:off x="6643116" y="2752344"/>
            <a:ext cx="640080" cy="219456"/>
          </a:xfrm>
          <a:prstGeom prst="rect">
            <a:avLst/>
          </a:prstGeom>
          <a:noFill/>
        </p:spPr>
        <p:txBody>
          <a:bodyPr wrap="square" lIns="0" tIns="0" rIns="0" bIns="0" rtlCol="0" anchor="t">
            <a:noAutofit/>
          </a:bodyPr>
          <a:lstStyle/>
          <a:p>
            <a:pPr marL="0" indent="0" algn="ctr">
              <a:spcBef>
                <a:spcPts val="0"/>
              </a:spcBef>
              <a:spcAft>
                <a:spcPts val="0"/>
              </a:spcAft>
              <a:buNone/>
            </a:pPr>
            <a:r>
              <a:rPr lang="fr-FR" sz="1000" b="1" dirty="0">
                <a:solidFill>
                  <a:schemeClr val="tx2"/>
                </a:solidFill>
              </a:rPr>
              <a:t>VM</a:t>
            </a:r>
          </a:p>
        </p:txBody>
      </p:sp>
      <p:sp>
        <p:nvSpPr>
          <p:cNvPr id="22" name="Icone 22"/>
          <p:cNvSpPr/>
          <p:nvPr/>
        </p:nvSpPr>
        <p:spPr>
          <a:xfrm>
            <a:off x="7429500" y="2286000"/>
            <a:ext cx="438912" cy="438912"/>
          </a:xfrm>
          <a:prstGeom prst="ellipse">
            <a:avLst/>
          </a:prstGeom>
          <a:solidFill>
            <a:schemeClr val="accent5"/>
          </a:solidFill>
          <a:ln>
            <a:noFill/>
          </a:ln>
        </p:spPr>
        <p:txBody>
          <a:bodyPr wrap="square" lIns="73152" tIns="73152" rIns="73152" bIns="73152" rtlCol="0" anchor="t">
            <a:noAutofit/>
          </a:bodyPr>
          <a:lstStyle/>
          <a:p>
            <a:endParaRPr lang="fr-FR"/>
          </a:p>
        </p:txBody>
      </p:sp>
      <p:pic>
        <p:nvPicPr>
          <p:cNvPr id="23" name="Logo 23" descr="ic_display_l.png"/>
          <p:cNvPicPr>
            <a:picLocks noChangeAspect="1"/>
          </p:cNvPicPr>
          <p:nvPr/>
        </p:nvPicPr>
        <p:blipFill>
          <a:blip r:embed="rId4"/>
          <a:stretch>
            <a:fillRect/>
          </a:stretch>
        </p:blipFill>
        <p:spPr>
          <a:xfrm>
            <a:off x="7534839" y="2391339"/>
            <a:ext cx="228234" cy="228234"/>
          </a:xfrm>
          <a:prstGeom prst="rect">
            <a:avLst/>
          </a:prstGeom>
        </p:spPr>
      </p:pic>
      <p:sp>
        <p:nvSpPr>
          <p:cNvPr id="24" name="Texte 24"/>
          <p:cNvSpPr txBox="1"/>
          <p:nvPr/>
        </p:nvSpPr>
        <p:spPr>
          <a:xfrm>
            <a:off x="7328916" y="2752344"/>
            <a:ext cx="640080" cy="219456"/>
          </a:xfrm>
          <a:prstGeom prst="rect">
            <a:avLst/>
          </a:prstGeom>
          <a:noFill/>
        </p:spPr>
        <p:txBody>
          <a:bodyPr wrap="square" lIns="0" tIns="0" rIns="0" bIns="0" rtlCol="0" anchor="t">
            <a:noAutofit/>
          </a:bodyPr>
          <a:lstStyle/>
          <a:p>
            <a:pPr marL="0" indent="0" algn="ctr">
              <a:spcBef>
                <a:spcPts val="0"/>
              </a:spcBef>
              <a:spcAft>
                <a:spcPts val="0"/>
              </a:spcAft>
              <a:buNone/>
            </a:pPr>
            <a:r>
              <a:rPr lang="fr-FR" sz="1000" b="1" dirty="0">
                <a:solidFill>
                  <a:schemeClr val="tx2"/>
                </a:solidFill>
              </a:rPr>
              <a:t>VM</a:t>
            </a:r>
          </a:p>
        </p:txBody>
      </p:sp>
      <p:cxnSp>
        <p:nvCxnSpPr>
          <p:cNvPr id="25" name="Flèche 25"/>
          <p:cNvCxnSpPr/>
          <p:nvPr/>
        </p:nvCxnSpPr>
        <p:spPr>
          <a:xfrm flipV="1">
            <a:off x="7018020" y="3090672"/>
            <a:ext cx="0" cy="356616"/>
          </a:xfrm>
          <a:prstGeom prst="straightConnector1">
            <a:avLst/>
          </a:prstGeom>
          <a:ln w="25400">
            <a:solidFill>
              <a:schemeClr val="tx2"/>
            </a:solidFill>
            <a:tailEnd type="triangle" w="med" len="med"/>
          </a:ln>
        </p:spPr>
      </p:cxnSp>
      <p:sp>
        <p:nvSpPr>
          <p:cNvPr id="26" name="Worker 26"/>
          <p:cNvSpPr/>
          <p:nvPr/>
        </p:nvSpPr>
        <p:spPr>
          <a:xfrm>
            <a:off x="5669280" y="3474720"/>
            <a:ext cx="2697480" cy="1188720"/>
          </a:xfrm>
          <a:prstGeom prst="roundRect">
            <a:avLst>
              <a:gd name="adj" fmla="val 8000"/>
            </a:avLst>
          </a:prstGeom>
          <a:solidFill>
            <a:srgbClr val="FFFFFF"/>
          </a:solidFill>
          <a:ln w="15875">
            <a:solidFill>
              <a:schemeClr val="tx2"/>
            </a:solidFill>
          </a:ln>
        </p:spPr>
        <p:txBody>
          <a:bodyPr wrap="square" lIns="73152" tIns="73152" rIns="73152" bIns="73152" rtlCol="0" anchor="t">
            <a:noAutofit/>
          </a:bodyPr>
          <a:lstStyle/>
          <a:p>
            <a:endParaRPr lang="fr-FR"/>
          </a:p>
        </p:txBody>
      </p:sp>
      <p:pic>
        <p:nvPicPr>
          <p:cNvPr id="27" name="Logo 27" descr="ic_server_d.png"/>
          <p:cNvPicPr>
            <a:picLocks noChangeAspect="1"/>
          </p:cNvPicPr>
          <p:nvPr/>
        </p:nvPicPr>
        <p:blipFill>
          <a:blip r:embed="rId2"/>
          <a:stretch>
            <a:fillRect/>
          </a:stretch>
        </p:blipFill>
        <p:spPr>
          <a:xfrm>
            <a:off x="5806440" y="3602736"/>
            <a:ext cx="274320" cy="274320"/>
          </a:xfrm>
          <a:prstGeom prst="rect">
            <a:avLst/>
          </a:prstGeom>
        </p:spPr>
      </p:pic>
      <p:sp>
        <p:nvSpPr>
          <p:cNvPr id="28" name="Texte 28"/>
          <p:cNvSpPr txBox="1"/>
          <p:nvPr/>
        </p:nvSpPr>
        <p:spPr>
          <a:xfrm>
            <a:off x="6172200" y="3566160"/>
            <a:ext cx="2148840" cy="347472"/>
          </a:xfrm>
          <a:prstGeom prst="rect">
            <a:avLst/>
          </a:prstGeom>
          <a:noFill/>
        </p:spPr>
        <p:txBody>
          <a:bodyPr wrap="square" lIns="0" tIns="0" rIns="0" bIns="0" rtlCol="0" anchor="ctr">
            <a:noAutofit/>
          </a:bodyPr>
          <a:lstStyle/>
          <a:p>
            <a:pPr marL="0" indent="0" algn="l">
              <a:spcBef>
                <a:spcPts val="0"/>
              </a:spcBef>
              <a:spcAft>
                <a:spcPts val="0"/>
              </a:spcAft>
              <a:buNone/>
            </a:pPr>
            <a:r>
              <a:rPr lang="fr-FR" sz="1400" b="1" dirty="0"/>
              <a:t>Worker 2</a:t>
            </a:r>
          </a:p>
        </p:txBody>
      </p:sp>
      <p:pic>
        <p:nvPicPr>
          <p:cNvPr id="29" name="Logo 29" descr="ic_hdd.png"/>
          <p:cNvPicPr>
            <a:picLocks noChangeAspect="1"/>
          </p:cNvPicPr>
          <p:nvPr/>
        </p:nvPicPr>
        <p:blipFill>
          <a:blip r:embed="rId3"/>
          <a:stretch>
            <a:fillRect/>
          </a:stretch>
        </p:blipFill>
        <p:spPr>
          <a:xfrm>
            <a:off x="7589520" y="3611880"/>
            <a:ext cx="256032" cy="256032"/>
          </a:xfrm>
          <a:prstGeom prst="rect">
            <a:avLst/>
          </a:prstGeom>
        </p:spPr>
      </p:pic>
      <p:pic>
        <p:nvPicPr>
          <p:cNvPr id="30" name="Logo 30" descr="ic_hdd.png"/>
          <p:cNvPicPr>
            <a:picLocks noChangeAspect="1"/>
          </p:cNvPicPr>
          <p:nvPr/>
        </p:nvPicPr>
        <p:blipFill>
          <a:blip r:embed="rId3"/>
          <a:stretch>
            <a:fillRect/>
          </a:stretch>
        </p:blipFill>
        <p:spPr>
          <a:xfrm>
            <a:off x="7927848" y="3611880"/>
            <a:ext cx="256032" cy="256032"/>
          </a:xfrm>
          <a:prstGeom prst="rect">
            <a:avLst/>
          </a:prstGeom>
        </p:spPr>
      </p:pic>
      <p:cxnSp>
        <p:nvCxnSpPr>
          <p:cNvPr id="31" name="Flèche 31"/>
          <p:cNvCxnSpPr/>
          <p:nvPr/>
        </p:nvCxnSpPr>
        <p:spPr>
          <a:xfrm>
            <a:off x="7018020" y="4690872"/>
            <a:ext cx="0" cy="265176"/>
          </a:xfrm>
          <a:prstGeom prst="straightConnector1">
            <a:avLst/>
          </a:prstGeom>
          <a:ln w="22225">
            <a:solidFill>
              <a:schemeClr val="tx2"/>
            </a:solidFill>
            <a:tailEnd type="triangle" w="med" len="med"/>
          </a:ln>
        </p:spPr>
      </p:cxnSp>
      <p:sp>
        <p:nvSpPr>
          <p:cNvPr id="32" name="Texte 32"/>
          <p:cNvSpPr txBox="1"/>
          <p:nvPr/>
        </p:nvSpPr>
        <p:spPr>
          <a:xfrm>
            <a:off x="5806440" y="3950208"/>
            <a:ext cx="2423160" cy="640080"/>
          </a:xfrm>
          <a:prstGeom prst="rect">
            <a:avLst/>
          </a:prstGeom>
          <a:noFill/>
        </p:spPr>
        <p:txBody>
          <a:bodyPr wrap="square" lIns="0" tIns="0" rIns="0" bIns="0" rtlCol="0" anchor="t">
            <a:noAutofit/>
          </a:bodyPr>
          <a:lstStyle/>
          <a:p>
            <a:pPr marL="0" indent="0" algn="l">
              <a:spcBef>
                <a:spcPts val="0"/>
              </a:spcBef>
              <a:spcAft>
                <a:spcPts val="200"/>
              </a:spcAft>
              <a:buNone/>
            </a:pPr>
            <a:r>
              <a:rPr lang="fr-FR" sz="1000" dirty="0">
                <a:solidFill>
                  <a:schemeClr val="accent3"/>
                </a:solidFill>
                <a:latin typeface="Courier New"/>
                <a:cs typeface="Courier New"/>
              </a:rPr>
              <a:t>openstack-compute-node=enabled</a:t>
            </a:r>
          </a:p>
          <a:p>
            <a:pPr marL="0" indent="0" algn="l">
              <a:spcBef>
                <a:spcPts val="0"/>
              </a:spcBef>
              <a:spcAft>
                <a:spcPts val="200"/>
              </a:spcAft>
              <a:buNone/>
            </a:pPr>
            <a:r>
              <a:rPr lang="fr-FR" sz="1000" dirty="0">
                <a:solidFill>
                  <a:schemeClr val="accent3"/>
                </a:solidFill>
                <a:latin typeface="Courier New"/>
                <a:cs typeface="Courier New"/>
              </a:rPr>
              <a:t>openvswitch=enabled</a:t>
            </a:r>
          </a:p>
        </p:txBody>
      </p:sp>
      <p:sp>
        <p:nvSpPr>
          <p:cNvPr id="33" name="Role 33"/>
          <p:cNvSpPr/>
          <p:nvPr/>
        </p:nvSpPr>
        <p:spPr>
          <a:xfrm>
            <a:off x="8595360" y="1874520"/>
            <a:ext cx="2697480" cy="1188720"/>
          </a:xfrm>
          <a:prstGeom prst="roundRect">
            <a:avLst>
              <a:gd name="adj" fmla="val 8000"/>
            </a:avLst>
          </a:prstGeom>
          <a:solidFill>
            <a:srgbClr val="FFFFFF"/>
          </a:solidFill>
          <a:ln w="15875">
            <a:solidFill>
              <a:schemeClr val="tx2"/>
            </a:solidFill>
          </a:ln>
        </p:spPr>
        <p:txBody>
          <a:bodyPr wrap="square" lIns="91440" tIns="91440" rIns="91440" bIns="91440" rtlCol="0" anchor="t">
            <a:noAutofit/>
          </a:bodyPr>
          <a:lstStyle/>
          <a:p>
            <a:pPr marL="0" indent="0" algn="ctr">
              <a:spcBef>
                <a:spcPts val="0"/>
              </a:spcBef>
              <a:spcAft>
                <a:spcPts val="0"/>
              </a:spcAft>
              <a:buNone/>
            </a:pPr>
            <a:r>
              <a:rPr lang="fr-FR" sz="1500" b="1" dirty="0"/>
              <a:t>Compute</a:t>
            </a:r>
          </a:p>
        </p:txBody>
      </p:sp>
      <p:sp>
        <p:nvSpPr>
          <p:cNvPr id="34" name="Icone 34"/>
          <p:cNvSpPr/>
          <p:nvPr/>
        </p:nvSpPr>
        <p:spPr>
          <a:xfrm>
            <a:off x="8983980" y="2286000"/>
            <a:ext cx="438912" cy="438912"/>
          </a:xfrm>
          <a:prstGeom prst="ellipse">
            <a:avLst/>
          </a:prstGeom>
          <a:solidFill>
            <a:schemeClr val="accent5"/>
          </a:solidFill>
          <a:ln>
            <a:noFill/>
          </a:ln>
        </p:spPr>
        <p:txBody>
          <a:bodyPr wrap="square" lIns="73152" tIns="73152" rIns="73152" bIns="73152" rtlCol="0" anchor="t">
            <a:noAutofit/>
          </a:bodyPr>
          <a:lstStyle/>
          <a:p>
            <a:endParaRPr lang="fr-FR"/>
          </a:p>
        </p:txBody>
      </p:sp>
      <p:pic>
        <p:nvPicPr>
          <p:cNvPr id="35" name="Logo 35" descr="ic_display_l.png"/>
          <p:cNvPicPr>
            <a:picLocks noChangeAspect="1"/>
          </p:cNvPicPr>
          <p:nvPr/>
        </p:nvPicPr>
        <p:blipFill>
          <a:blip r:embed="rId4"/>
          <a:stretch>
            <a:fillRect/>
          </a:stretch>
        </p:blipFill>
        <p:spPr>
          <a:xfrm>
            <a:off x="9089319" y="2391339"/>
            <a:ext cx="228234" cy="228234"/>
          </a:xfrm>
          <a:prstGeom prst="rect">
            <a:avLst/>
          </a:prstGeom>
        </p:spPr>
      </p:pic>
      <p:sp>
        <p:nvSpPr>
          <p:cNvPr id="36" name="Texte 36"/>
          <p:cNvSpPr txBox="1"/>
          <p:nvPr/>
        </p:nvSpPr>
        <p:spPr>
          <a:xfrm>
            <a:off x="8883396" y="2752344"/>
            <a:ext cx="640080" cy="219456"/>
          </a:xfrm>
          <a:prstGeom prst="rect">
            <a:avLst/>
          </a:prstGeom>
          <a:noFill/>
        </p:spPr>
        <p:txBody>
          <a:bodyPr wrap="square" lIns="0" tIns="0" rIns="0" bIns="0" rtlCol="0" anchor="t">
            <a:noAutofit/>
          </a:bodyPr>
          <a:lstStyle/>
          <a:p>
            <a:pPr marL="0" indent="0" algn="ctr">
              <a:spcBef>
                <a:spcPts val="0"/>
              </a:spcBef>
              <a:spcAft>
                <a:spcPts val="0"/>
              </a:spcAft>
              <a:buNone/>
            </a:pPr>
            <a:r>
              <a:rPr lang="fr-FR" sz="1000" b="1" dirty="0">
                <a:solidFill>
                  <a:schemeClr val="tx2"/>
                </a:solidFill>
              </a:rPr>
              <a:t>VM</a:t>
            </a:r>
          </a:p>
        </p:txBody>
      </p:sp>
      <p:sp>
        <p:nvSpPr>
          <p:cNvPr id="37" name="Icone 37"/>
          <p:cNvSpPr/>
          <p:nvPr/>
        </p:nvSpPr>
        <p:spPr>
          <a:xfrm>
            <a:off x="9669780" y="2286000"/>
            <a:ext cx="438912" cy="438912"/>
          </a:xfrm>
          <a:prstGeom prst="ellipse">
            <a:avLst/>
          </a:prstGeom>
          <a:solidFill>
            <a:schemeClr val="accent5"/>
          </a:solidFill>
          <a:ln>
            <a:noFill/>
          </a:ln>
        </p:spPr>
        <p:txBody>
          <a:bodyPr wrap="square" lIns="73152" tIns="73152" rIns="73152" bIns="73152" rtlCol="0" anchor="t">
            <a:noAutofit/>
          </a:bodyPr>
          <a:lstStyle/>
          <a:p>
            <a:endParaRPr lang="fr-FR"/>
          </a:p>
        </p:txBody>
      </p:sp>
      <p:pic>
        <p:nvPicPr>
          <p:cNvPr id="38" name="Logo 38" descr="ic_display_l.png"/>
          <p:cNvPicPr>
            <a:picLocks noChangeAspect="1"/>
          </p:cNvPicPr>
          <p:nvPr/>
        </p:nvPicPr>
        <p:blipFill>
          <a:blip r:embed="rId4"/>
          <a:stretch>
            <a:fillRect/>
          </a:stretch>
        </p:blipFill>
        <p:spPr>
          <a:xfrm>
            <a:off x="9775119" y="2391339"/>
            <a:ext cx="228234" cy="228234"/>
          </a:xfrm>
          <a:prstGeom prst="rect">
            <a:avLst/>
          </a:prstGeom>
        </p:spPr>
      </p:pic>
      <p:sp>
        <p:nvSpPr>
          <p:cNvPr id="39" name="Texte 39"/>
          <p:cNvSpPr txBox="1"/>
          <p:nvPr/>
        </p:nvSpPr>
        <p:spPr>
          <a:xfrm>
            <a:off x="9569196" y="2752344"/>
            <a:ext cx="640080" cy="219456"/>
          </a:xfrm>
          <a:prstGeom prst="rect">
            <a:avLst/>
          </a:prstGeom>
          <a:noFill/>
        </p:spPr>
        <p:txBody>
          <a:bodyPr wrap="square" lIns="0" tIns="0" rIns="0" bIns="0" rtlCol="0" anchor="t">
            <a:noAutofit/>
          </a:bodyPr>
          <a:lstStyle/>
          <a:p>
            <a:pPr marL="0" indent="0" algn="ctr">
              <a:spcBef>
                <a:spcPts val="0"/>
              </a:spcBef>
              <a:spcAft>
                <a:spcPts val="0"/>
              </a:spcAft>
              <a:buNone/>
            </a:pPr>
            <a:r>
              <a:rPr lang="fr-FR" sz="1000" b="1" dirty="0">
                <a:solidFill>
                  <a:schemeClr val="tx2"/>
                </a:solidFill>
              </a:rPr>
              <a:t>VM</a:t>
            </a:r>
          </a:p>
        </p:txBody>
      </p:sp>
      <p:sp>
        <p:nvSpPr>
          <p:cNvPr id="40" name="Icone 40"/>
          <p:cNvSpPr/>
          <p:nvPr/>
        </p:nvSpPr>
        <p:spPr>
          <a:xfrm>
            <a:off x="10355580" y="2286000"/>
            <a:ext cx="438912" cy="438912"/>
          </a:xfrm>
          <a:prstGeom prst="ellipse">
            <a:avLst/>
          </a:prstGeom>
          <a:solidFill>
            <a:schemeClr val="accent5"/>
          </a:solidFill>
          <a:ln>
            <a:noFill/>
          </a:ln>
        </p:spPr>
        <p:txBody>
          <a:bodyPr wrap="square" lIns="73152" tIns="73152" rIns="73152" bIns="73152" rtlCol="0" anchor="t">
            <a:noAutofit/>
          </a:bodyPr>
          <a:lstStyle/>
          <a:p>
            <a:endParaRPr lang="fr-FR"/>
          </a:p>
        </p:txBody>
      </p:sp>
      <p:pic>
        <p:nvPicPr>
          <p:cNvPr id="41" name="Logo 41" descr="ic_display_l.png"/>
          <p:cNvPicPr>
            <a:picLocks noChangeAspect="1"/>
          </p:cNvPicPr>
          <p:nvPr/>
        </p:nvPicPr>
        <p:blipFill>
          <a:blip r:embed="rId4"/>
          <a:stretch>
            <a:fillRect/>
          </a:stretch>
        </p:blipFill>
        <p:spPr>
          <a:xfrm>
            <a:off x="10460919" y="2391339"/>
            <a:ext cx="228234" cy="228234"/>
          </a:xfrm>
          <a:prstGeom prst="rect">
            <a:avLst/>
          </a:prstGeom>
        </p:spPr>
      </p:pic>
      <p:sp>
        <p:nvSpPr>
          <p:cNvPr id="42" name="Texte 42"/>
          <p:cNvSpPr txBox="1"/>
          <p:nvPr/>
        </p:nvSpPr>
        <p:spPr>
          <a:xfrm>
            <a:off x="10254996" y="2752344"/>
            <a:ext cx="640080" cy="219456"/>
          </a:xfrm>
          <a:prstGeom prst="rect">
            <a:avLst/>
          </a:prstGeom>
          <a:noFill/>
        </p:spPr>
        <p:txBody>
          <a:bodyPr wrap="square" lIns="0" tIns="0" rIns="0" bIns="0" rtlCol="0" anchor="t">
            <a:noAutofit/>
          </a:bodyPr>
          <a:lstStyle/>
          <a:p>
            <a:pPr marL="0" indent="0" algn="ctr">
              <a:spcBef>
                <a:spcPts val="0"/>
              </a:spcBef>
              <a:spcAft>
                <a:spcPts val="0"/>
              </a:spcAft>
              <a:buNone/>
            </a:pPr>
            <a:r>
              <a:rPr lang="fr-FR" sz="1000" b="1" dirty="0">
                <a:solidFill>
                  <a:schemeClr val="tx2"/>
                </a:solidFill>
              </a:rPr>
              <a:t>VM</a:t>
            </a:r>
          </a:p>
        </p:txBody>
      </p:sp>
      <p:cxnSp>
        <p:nvCxnSpPr>
          <p:cNvPr id="43" name="Flèche 43"/>
          <p:cNvCxnSpPr/>
          <p:nvPr/>
        </p:nvCxnSpPr>
        <p:spPr>
          <a:xfrm flipV="1">
            <a:off x="9944100" y="3090672"/>
            <a:ext cx="0" cy="356616"/>
          </a:xfrm>
          <a:prstGeom prst="straightConnector1">
            <a:avLst/>
          </a:prstGeom>
          <a:ln w="25400">
            <a:solidFill>
              <a:schemeClr val="tx2"/>
            </a:solidFill>
            <a:tailEnd type="triangle" w="med" len="med"/>
          </a:ln>
        </p:spPr>
      </p:cxnSp>
      <p:sp>
        <p:nvSpPr>
          <p:cNvPr id="44" name="Worker 44"/>
          <p:cNvSpPr/>
          <p:nvPr/>
        </p:nvSpPr>
        <p:spPr>
          <a:xfrm>
            <a:off x="8595360" y="3474720"/>
            <a:ext cx="2697480" cy="1188720"/>
          </a:xfrm>
          <a:prstGeom prst="roundRect">
            <a:avLst>
              <a:gd name="adj" fmla="val 8000"/>
            </a:avLst>
          </a:prstGeom>
          <a:solidFill>
            <a:srgbClr val="FFFFFF"/>
          </a:solidFill>
          <a:ln w="15875">
            <a:solidFill>
              <a:schemeClr val="tx2"/>
            </a:solidFill>
          </a:ln>
        </p:spPr>
        <p:txBody>
          <a:bodyPr wrap="square" lIns="73152" tIns="73152" rIns="73152" bIns="73152" rtlCol="0" anchor="t">
            <a:noAutofit/>
          </a:bodyPr>
          <a:lstStyle/>
          <a:p>
            <a:endParaRPr lang="fr-FR"/>
          </a:p>
        </p:txBody>
      </p:sp>
      <p:pic>
        <p:nvPicPr>
          <p:cNvPr id="45" name="Logo 45" descr="ic_server_d.png"/>
          <p:cNvPicPr>
            <a:picLocks noChangeAspect="1"/>
          </p:cNvPicPr>
          <p:nvPr/>
        </p:nvPicPr>
        <p:blipFill>
          <a:blip r:embed="rId2"/>
          <a:stretch>
            <a:fillRect/>
          </a:stretch>
        </p:blipFill>
        <p:spPr>
          <a:xfrm>
            <a:off x="8732520" y="3602736"/>
            <a:ext cx="274320" cy="274320"/>
          </a:xfrm>
          <a:prstGeom prst="rect">
            <a:avLst/>
          </a:prstGeom>
        </p:spPr>
      </p:pic>
      <p:sp>
        <p:nvSpPr>
          <p:cNvPr id="46" name="Texte 46"/>
          <p:cNvSpPr txBox="1"/>
          <p:nvPr/>
        </p:nvSpPr>
        <p:spPr>
          <a:xfrm>
            <a:off x="9098280" y="3566160"/>
            <a:ext cx="2148840" cy="347472"/>
          </a:xfrm>
          <a:prstGeom prst="rect">
            <a:avLst/>
          </a:prstGeom>
          <a:noFill/>
        </p:spPr>
        <p:txBody>
          <a:bodyPr wrap="square" lIns="0" tIns="0" rIns="0" bIns="0" rtlCol="0" anchor="ctr">
            <a:noAutofit/>
          </a:bodyPr>
          <a:lstStyle/>
          <a:p>
            <a:pPr marL="0" indent="0" algn="l">
              <a:spcBef>
                <a:spcPts val="0"/>
              </a:spcBef>
              <a:spcAft>
                <a:spcPts val="0"/>
              </a:spcAft>
              <a:buNone/>
            </a:pPr>
            <a:r>
              <a:rPr lang="fr-FR" sz="1400" b="1" dirty="0"/>
              <a:t>Worker 3</a:t>
            </a:r>
          </a:p>
        </p:txBody>
      </p:sp>
      <p:pic>
        <p:nvPicPr>
          <p:cNvPr id="47" name="Logo 47" descr="ic_hdd.png"/>
          <p:cNvPicPr>
            <a:picLocks noChangeAspect="1"/>
          </p:cNvPicPr>
          <p:nvPr/>
        </p:nvPicPr>
        <p:blipFill>
          <a:blip r:embed="rId3"/>
          <a:stretch>
            <a:fillRect/>
          </a:stretch>
        </p:blipFill>
        <p:spPr>
          <a:xfrm>
            <a:off x="10515600" y="3611880"/>
            <a:ext cx="256032" cy="256032"/>
          </a:xfrm>
          <a:prstGeom prst="rect">
            <a:avLst/>
          </a:prstGeom>
        </p:spPr>
      </p:pic>
      <p:pic>
        <p:nvPicPr>
          <p:cNvPr id="48" name="Logo 48" descr="ic_hdd.png"/>
          <p:cNvPicPr>
            <a:picLocks noChangeAspect="1"/>
          </p:cNvPicPr>
          <p:nvPr/>
        </p:nvPicPr>
        <p:blipFill>
          <a:blip r:embed="rId3"/>
          <a:stretch>
            <a:fillRect/>
          </a:stretch>
        </p:blipFill>
        <p:spPr>
          <a:xfrm>
            <a:off x="10853928" y="3611880"/>
            <a:ext cx="256032" cy="256032"/>
          </a:xfrm>
          <a:prstGeom prst="rect">
            <a:avLst/>
          </a:prstGeom>
        </p:spPr>
      </p:pic>
      <p:cxnSp>
        <p:nvCxnSpPr>
          <p:cNvPr id="49" name="Flèche 49"/>
          <p:cNvCxnSpPr/>
          <p:nvPr/>
        </p:nvCxnSpPr>
        <p:spPr>
          <a:xfrm>
            <a:off x="9944100" y="4690872"/>
            <a:ext cx="0" cy="265176"/>
          </a:xfrm>
          <a:prstGeom prst="straightConnector1">
            <a:avLst/>
          </a:prstGeom>
          <a:ln w="22225">
            <a:solidFill>
              <a:schemeClr val="tx2"/>
            </a:solidFill>
            <a:tailEnd type="triangle" w="med" len="med"/>
          </a:ln>
        </p:spPr>
      </p:cxnSp>
      <p:sp>
        <p:nvSpPr>
          <p:cNvPr id="50" name="Texte 50"/>
          <p:cNvSpPr txBox="1"/>
          <p:nvPr/>
        </p:nvSpPr>
        <p:spPr>
          <a:xfrm>
            <a:off x="8732520" y="3950208"/>
            <a:ext cx="2423160" cy="640080"/>
          </a:xfrm>
          <a:prstGeom prst="rect">
            <a:avLst/>
          </a:prstGeom>
          <a:noFill/>
        </p:spPr>
        <p:txBody>
          <a:bodyPr wrap="square" lIns="0" tIns="0" rIns="0" bIns="0" rtlCol="0" anchor="t">
            <a:noAutofit/>
          </a:bodyPr>
          <a:lstStyle/>
          <a:p>
            <a:pPr marL="0" indent="0" algn="l">
              <a:spcBef>
                <a:spcPts val="0"/>
              </a:spcBef>
              <a:spcAft>
                <a:spcPts val="200"/>
              </a:spcAft>
              <a:buNone/>
            </a:pPr>
            <a:r>
              <a:rPr lang="fr-FR" sz="1000" dirty="0">
                <a:solidFill>
                  <a:schemeClr val="accent3"/>
                </a:solidFill>
                <a:latin typeface="Courier New"/>
                <a:cs typeface="Courier New"/>
              </a:rPr>
              <a:t>openstack-compute-node=enabled</a:t>
            </a:r>
          </a:p>
          <a:p>
            <a:pPr marL="0" indent="0" algn="l">
              <a:spcBef>
                <a:spcPts val="0"/>
              </a:spcBef>
              <a:spcAft>
                <a:spcPts val="200"/>
              </a:spcAft>
              <a:buNone/>
            </a:pPr>
            <a:r>
              <a:rPr lang="fr-FR" sz="1000" dirty="0">
                <a:solidFill>
                  <a:schemeClr val="accent3"/>
                </a:solidFill>
                <a:latin typeface="Courier New"/>
                <a:cs typeface="Courier New"/>
              </a:rPr>
              <a:t>openvswitch=enabled</a:t>
            </a:r>
          </a:p>
        </p:txBody>
      </p:sp>
      <p:sp>
        <p:nvSpPr>
          <p:cNvPr id="51" name="Texte 51"/>
          <p:cNvSpPr txBox="1"/>
          <p:nvPr/>
        </p:nvSpPr>
        <p:spPr>
          <a:xfrm>
            <a:off x="1371600" y="4983480"/>
            <a:ext cx="1143000" cy="502920"/>
          </a:xfrm>
          <a:prstGeom prst="rect">
            <a:avLst/>
          </a:prstGeom>
          <a:noFill/>
        </p:spPr>
        <p:txBody>
          <a:bodyPr wrap="square" lIns="0" tIns="0" rIns="0" bIns="0" rtlCol="0" anchor="ctr">
            <a:noAutofit/>
          </a:bodyPr>
          <a:lstStyle/>
          <a:p>
            <a:pPr marL="0" indent="0" algn="l">
              <a:spcBef>
                <a:spcPts val="0"/>
              </a:spcBef>
              <a:spcAft>
                <a:spcPts val="0"/>
              </a:spcAft>
              <a:buNone/>
            </a:pPr>
            <a:r>
              <a:rPr lang="fr-FR" sz="1400" b="1" dirty="0"/>
              <a:t>Stockage</a:t>
            </a:r>
          </a:p>
          <a:p>
            <a:pPr marL="0" indent="0" algn="l">
              <a:spcBef>
                <a:spcPts val="0"/>
              </a:spcBef>
              <a:spcAft>
                <a:spcPts val="0"/>
              </a:spcAft>
              <a:buNone/>
            </a:pPr>
            <a:r>
              <a:rPr lang="fr-FR" sz="1000" i="1" dirty="0"/>
              <a:t>les disques des workers</a:t>
            </a:r>
          </a:p>
        </p:txBody>
      </p:sp>
      <p:sp>
        <p:nvSpPr>
          <p:cNvPr id="52" name="Ceph 52"/>
          <p:cNvSpPr/>
          <p:nvPr/>
        </p:nvSpPr>
        <p:spPr>
          <a:xfrm>
            <a:off x="2743200" y="4983480"/>
            <a:ext cx="8549640" cy="502920"/>
          </a:xfrm>
          <a:prstGeom prst="roundRect">
            <a:avLst>
              <a:gd name="adj" fmla="val 10000"/>
            </a:avLst>
          </a:prstGeom>
          <a:solidFill>
            <a:schemeClr val="tx2"/>
          </a:solidFill>
          <a:ln>
            <a:noFill/>
          </a:ln>
        </p:spPr>
        <p:txBody>
          <a:bodyPr wrap="square" lIns="91440" tIns="91440" rIns="91440" bIns="91440" rtlCol="0" anchor="ctr">
            <a:noAutofit/>
          </a:bodyPr>
          <a:lstStyle/>
          <a:p>
            <a:pPr marL="0" indent="0" algn="ctr">
              <a:spcBef>
                <a:spcPts val="0"/>
              </a:spcBef>
              <a:spcAft>
                <a:spcPts val="0"/>
              </a:spcAft>
              <a:buNone/>
            </a:pPr>
            <a:r>
              <a:rPr lang="fr-FR" sz="1500" b="1" dirty="0">
                <a:solidFill>
                  <a:schemeClr val="bg2"/>
                </a:solidFill>
              </a:rPr>
              <a:t>Ceph</a:t>
            </a:r>
            <a:r>
              <a:rPr lang="fr-FR" sz="1200" dirty="0">
                <a:solidFill>
                  <a:schemeClr val="bg2"/>
                </a:solidFill>
              </a:rPr>
              <a:t> (via Rook)   met en commun les disques des workers : disques des VMs (Cinder), images (Glance)</a:t>
            </a:r>
          </a:p>
        </p:txBody>
      </p:sp>
      <p:cxnSp>
        <p:nvCxnSpPr>
          <p:cNvPr id="53" name="Flèche 53"/>
          <p:cNvCxnSpPr/>
          <p:nvPr/>
        </p:nvCxnSpPr>
        <p:spPr>
          <a:xfrm flipV="1">
            <a:off x="2651760" y="2468880"/>
            <a:ext cx="0" cy="2766060"/>
          </a:xfrm>
          <a:prstGeom prst="straightConnector1">
            <a:avLst/>
          </a:prstGeom>
          <a:ln w="22225">
            <a:solidFill>
              <a:schemeClr val="tx2"/>
            </a:solidFill>
            <a:prstDash val="dash"/>
            <a:tailEnd type="triangle" w="med" len="med"/>
          </a:ln>
        </p:spPr>
      </p:cxnSp>
      <p:sp>
        <p:nvSpPr>
          <p:cNvPr id="54" name="Texte 54"/>
          <p:cNvSpPr txBox="1"/>
          <p:nvPr/>
        </p:nvSpPr>
        <p:spPr>
          <a:xfrm>
            <a:off x="1371600" y="5596128"/>
            <a:ext cx="9921240" cy="320040"/>
          </a:xfrm>
          <a:prstGeom prst="rect">
            <a:avLst/>
          </a:prstGeom>
          <a:noFill/>
        </p:spPr>
        <p:txBody>
          <a:bodyPr wrap="square" lIns="0" tIns="0" rIns="0" bIns="0" rtlCol="0" anchor="t">
            <a:noAutofit/>
          </a:bodyPr>
          <a:lstStyle/>
          <a:p>
            <a:pPr marL="0" indent="0" algn="l">
              <a:spcBef>
                <a:spcPts val="0"/>
              </a:spcBef>
              <a:spcAft>
                <a:spcPts val="0"/>
              </a:spcAft>
              <a:buNone/>
            </a:pPr>
            <a:r>
              <a:rPr lang="fr-FR" sz="1200" i="1" dirty="0"/>
              <a:t>openvswitch=enabled sur tous les workers : chacun reçoit l'agent réseau OVS et le bridge br-ex.</a:t>
            </a:r>
          </a:p>
        </p:txBody>
      </p:sp>
      <p:sp>
        <p:nvSpPr>
          <p:cNvPr id="55" name="Texte 55"/>
          <p:cNvSpPr txBox="1"/>
          <p:nvPr/>
        </p:nvSpPr>
        <p:spPr>
          <a:xfrm>
            <a:off x="1371600" y="5897880"/>
            <a:ext cx="9921240" cy="274320"/>
          </a:xfrm>
          <a:prstGeom prst="rect">
            <a:avLst/>
          </a:prstGeom>
          <a:noFill/>
        </p:spPr>
        <p:txBody>
          <a:bodyPr wrap="square" lIns="0" tIns="0" rIns="0" bIns="0" rtlCol="0" anchor="t">
            <a:noAutofit/>
          </a:bodyPr>
          <a:lstStyle/>
          <a:p>
            <a:pPr marL="0" indent="0" algn="l">
              <a:spcBef>
                <a:spcPts val="0"/>
              </a:spcBef>
              <a:spcAft>
                <a:spcPts val="0"/>
              </a:spcAft>
              <a:buNone/>
            </a:pPr>
            <a:r>
              <a:rPr lang="fr-FR" sz="1100" b="1" dirty="0">
                <a:solidFill>
                  <a:srgbClr val="E28394"/>
                </a:solidFill>
              </a:rPr>
              <a:t>À compléter : </a:t>
            </a:r>
            <a:r>
              <a:rPr lang="fr-FR" sz="1100" i="1" dirty="0"/>
              <a:t>ta topologie réelle (nombre de workers, noms) — ici un exemple à 3 workers</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r>
              <a:rPr lang="fr-FR" dirty="0"/>
              <a:t>Le stockage d'OpenStack : Ceph</a:t>
            </a:r>
          </a:p>
        </p:txBody>
      </p:sp>
      <p:sp>
        <p:nvSpPr>
          <p:cNvPr id="3" name="Usage 3"/>
          <p:cNvSpPr/>
          <p:nvPr/>
        </p:nvSpPr>
        <p:spPr>
          <a:xfrm>
            <a:off x="1371600" y="1920240"/>
            <a:ext cx="3154680" cy="777240"/>
          </a:xfrm>
          <a:prstGeom prst="roundRect">
            <a:avLst>
              <a:gd name="adj" fmla="val 10000"/>
            </a:avLst>
          </a:prstGeom>
          <a:solidFill>
            <a:srgbClr val="FFFFFF"/>
          </a:solidFill>
          <a:ln w="15875">
            <a:solidFill>
              <a:schemeClr val="tx2"/>
            </a:solidFill>
          </a:ln>
        </p:spPr>
        <p:txBody>
          <a:bodyPr wrap="square" lIns="73152" tIns="73152" rIns="73152" bIns="73152" rtlCol="0" anchor="ctr">
            <a:noAutofit/>
          </a:bodyPr>
          <a:lstStyle/>
          <a:p>
            <a:pPr marL="0" indent="0" algn="ctr">
              <a:spcBef>
                <a:spcPts val="0"/>
              </a:spcBef>
              <a:spcAft>
                <a:spcPts val="200"/>
              </a:spcAft>
              <a:buNone/>
            </a:pPr>
            <a:r>
              <a:rPr lang="fr-FR" sz="1500" b="1" dirty="0"/>
              <a:t>Cinder</a:t>
            </a:r>
          </a:p>
          <a:p>
            <a:pPr marL="0" indent="0" algn="ctr">
              <a:spcBef>
                <a:spcPts val="0"/>
              </a:spcBef>
              <a:spcAft>
                <a:spcPts val="0"/>
              </a:spcAft>
              <a:buNone/>
            </a:pPr>
            <a:r>
              <a:rPr lang="fr-FR" sz="1200" dirty="0"/>
              <a:t>les disques des VMs</a:t>
            </a:r>
          </a:p>
        </p:txBody>
      </p:sp>
      <p:cxnSp>
        <p:nvCxnSpPr>
          <p:cNvPr id="4" name="Flèche 4"/>
          <p:cNvCxnSpPr/>
          <p:nvPr/>
        </p:nvCxnSpPr>
        <p:spPr>
          <a:xfrm>
            <a:off x="2948940" y="2715768"/>
            <a:ext cx="0" cy="329184"/>
          </a:xfrm>
          <a:prstGeom prst="straightConnector1">
            <a:avLst/>
          </a:prstGeom>
          <a:ln w="22225">
            <a:solidFill>
              <a:schemeClr val="tx2"/>
            </a:solidFill>
            <a:tailEnd type="triangle" w="med" len="med"/>
          </a:ln>
        </p:spPr>
      </p:cxnSp>
      <p:sp>
        <p:nvSpPr>
          <p:cNvPr id="5" name="Usage 5"/>
          <p:cNvSpPr/>
          <p:nvPr/>
        </p:nvSpPr>
        <p:spPr>
          <a:xfrm>
            <a:off x="4754880" y="1920240"/>
            <a:ext cx="3154680" cy="777240"/>
          </a:xfrm>
          <a:prstGeom prst="roundRect">
            <a:avLst>
              <a:gd name="adj" fmla="val 10000"/>
            </a:avLst>
          </a:prstGeom>
          <a:solidFill>
            <a:srgbClr val="FFFFFF"/>
          </a:solidFill>
          <a:ln w="15875">
            <a:solidFill>
              <a:schemeClr val="tx2"/>
            </a:solidFill>
          </a:ln>
        </p:spPr>
        <p:txBody>
          <a:bodyPr wrap="square" lIns="73152" tIns="73152" rIns="73152" bIns="73152" rtlCol="0" anchor="ctr">
            <a:noAutofit/>
          </a:bodyPr>
          <a:lstStyle/>
          <a:p>
            <a:pPr marL="0" indent="0" algn="ctr">
              <a:spcBef>
                <a:spcPts val="0"/>
              </a:spcBef>
              <a:spcAft>
                <a:spcPts val="200"/>
              </a:spcAft>
              <a:buNone/>
            </a:pPr>
            <a:r>
              <a:rPr lang="fr-FR" sz="1500" b="1" dirty="0"/>
              <a:t>Glance</a:t>
            </a:r>
          </a:p>
          <a:p>
            <a:pPr marL="0" indent="0" algn="ctr">
              <a:spcBef>
                <a:spcPts val="0"/>
              </a:spcBef>
              <a:spcAft>
                <a:spcPts val="0"/>
              </a:spcAft>
              <a:buNone/>
            </a:pPr>
            <a:r>
              <a:rPr lang="fr-FR" sz="1200" dirty="0"/>
              <a:t>les images de VM</a:t>
            </a:r>
          </a:p>
        </p:txBody>
      </p:sp>
      <p:cxnSp>
        <p:nvCxnSpPr>
          <p:cNvPr id="6" name="Flèche 6"/>
          <p:cNvCxnSpPr/>
          <p:nvPr/>
        </p:nvCxnSpPr>
        <p:spPr>
          <a:xfrm>
            <a:off x="6332220" y="2715768"/>
            <a:ext cx="0" cy="329184"/>
          </a:xfrm>
          <a:prstGeom prst="straightConnector1">
            <a:avLst/>
          </a:prstGeom>
          <a:ln w="22225">
            <a:solidFill>
              <a:schemeClr val="tx2"/>
            </a:solidFill>
            <a:tailEnd type="triangle" w="med" len="med"/>
          </a:ln>
        </p:spPr>
      </p:cxnSp>
      <p:sp>
        <p:nvSpPr>
          <p:cNvPr id="7" name="Usage 7"/>
          <p:cNvSpPr/>
          <p:nvPr/>
        </p:nvSpPr>
        <p:spPr>
          <a:xfrm>
            <a:off x="8138160" y="1920240"/>
            <a:ext cx="3154680" cy="777240"/>
          </a:xfrm>
          <a:prstGeom prst="roundRect">
            <a:avLst>
              <a:gd name="adj" fmla="val 10000"/>
            </a:avLst>
          </a:prstGeom>
          <a:solidFill>
            <a:srgbClr val="FFFFFF"/>
          </a:solidFill>
          <a:ln w="15875">
            <a:solidFill>
              <a:schemeClr val="tx2"/>
            </a:solidFill>
          </a:ln>
        </p:spPr>
        <p:txBody>
          <a:bodyPr wrap="square" lIns="73152" tIns="73152" rIns="73152" bIns="73152" rtlCol="0" anchor="ctr">
            <a:noAutofit/>
          </a:bodyPr>
          <a:lstStyle/>
          <a:p>
            <a:pPr marL="0" indent="0" algn="ctr">
              <a:spcBef>
                <a:spcPts val="0"/>
              </a:spcBef>
              <a:spcAft>
                <a:spcPts val="200"/>
              </a:spcAft>
              <a:buNone/>
            </a:pPr>
            <a:r>
              <a:rPr lang="fr-FR" sz="1500" b="1" dirty="0"/>
              <a:t>Kubernetes (PVC)</a:t>
            </a:r>
          </a:p>
          <a:p>
            <a:pPr marL="0" indent="0" algn="ctr">
              <a:spcBef>
                <a:spcPts val="0"/>
              </a:spcBef>
              <a:spcAft>
                <a:spcPts val="0"/>
              </a:spcAft>
              <a:buNone/>
            </a:pPr>
            <a:r>
              <a:rPr lang="fr-FR" sz="1200" dirty="0"/>
              <a:t>MariaDB, RabbitMQ…</a:t>
            </a:r>
          </a:p>
        </p:txBody>
      </p:sp>
      <p:cxnSp>
        <p:nvCxnSpPr>
          <p:cNvPr id="8" name="Flèche 8"/>
          <p:cNvCxnSpPr/>
          <p:nvPr/>
        </p:nvCxnSpPr>
        <p:spPr>
          <a:xfrm>
            <a:off x="9715500" y="2715768"/>
            <a:ext cx="0" cy="329184"/>
          </a:xfrm>
          <a:prstGeom prst="straightConnector1">
            <a:avLst/>
          </a:prstGeom>
          <a:ln w="22225">
            <a:solidFill>
              <a:schemeClr val="tx2"/>
            </a:solidFill>
            <a:tailEnd type="triangle" w="med" len="med"/>
          </a:ln>
        </p:spPr>
      </p:cxnSp>
      <p:sp>
        <p:nvSpPr>
          <p:cNvPr id="9" name="Ceph 9"/>
          <p:cNvSpPr/>
          <p:nvPr/>
        </p:nvSpPr>
        <p:spPr>
          <a:xfrm>
            <a:off x="1371600" y="3063240"/>
            <a:ext cx="9921240" cy="685800"/>
          </a:xfrm>
          <a:prstGeom prst="roundRect">
            <a:avLst>
              <a:gd name="adj" fmla="val 10000"/>
            </a:avLst>
          </a:prstGeom>
          <a:solidFill>
            <a:schemeClr val="tx2"/>
          </a:solidFill>
          <a:ln>
            <a:noFill/>
          </a:ln>
        </p:spPr>
        <p:txBody>
          <a:bodyPr wrap="square" lIns="73152" tIns="73152" rIns="73152" bIns="73152" rtlCol="0" anchor="ctr">
            <a:noAutofit/>
          </a:bodyPr>
          <a:lstStyle/>
          <a:p>
            <a:pPr marL="0" indent="0" algn="ctr">
              <a:spcBef>
                <a:spcPts val="0"/>
              </a:spcBef>
              <a:spcAft>
                <a:spcPts val="0"/>
              </a:spcAft>
              <a:buNone/>
            </a:pPr>
            <a:r>
              <a:rPr lang="fr-FR" sz="1700" b="1" dirty="0">
                <a:solidFill>
                  <a:schemeClr val="bg2"/>
                </a:solidFill>
              </a:rPr>
              <a:t>Ceph</a:t>
            </a:r>
            <a:r>
              <a:rPr lang="fr-FR" sz="1300" dirty="0">
                <a:solidFill>
                  <a:schemeClr val="bg2"/>
                </a:solidFill>
              </a:rPr>
              <a:t> (RADOS)</a:t>
            </a:r>
            <a:r>
              <a:rPr lang="fr-FR" sz="1400" dirty="0">
                <a:solidFill>
                  <a:schemeClr val="bg2"/>
                </a:solidFill>
              </a:rPr>
              <a:t>   un seul grand stockage, réparti sur tous les disques</a:t>
            </a:r>
          </a:p>
        </p:txBody>
      </p:sp>
      <p:cxnSp>
        <p:nvCxnSpPr>
          <p:cNvPr id="10" name="Flèche 10"/>
          <p:cNvCxnSpPr/>
          <p:nvPr/>
        </p:nvCxnSpPr>
        <p:spPr>
          <a:xfrm flipV="1">
            <a:off x="2948940" y="3776472"/>
            <a:ext cx="0" cy="338328"/>
          </a:xfrm>
          <a:prstGeom prst="straightConnector1">
            <a:avLst/>
          </a:prstGeom>
          <a:ln w="22225">
            <a:solidFill>
              <a:schemeClr val="tx2"/>
            </a:solidFill>
            <a:tailEnd type="triangle" w="med" len="med"/>
          </a:ln>
        </p:spPr>
      </p:cxnSp>
      <p:sp>
        <p:nvSpPr>
          <p:cNvPr id="11" name="Serveur 11"/>
          <p:cNvSpPr/>
          <p:nvPr/>
        </p:nvSpPr>
        <p:spPr>
          <a:xfrm>
            <a:off x="1371600" y="4142232"/>
            <a:ext cx="3154680" cy="1417320"/>
          </a:xfrm>
          <a:prstGeom prst="roundRect">
            <a:avLst>
              <a:gd name="adj" fmla="val 8000"/>
            </a:avLst>
          </a:prstGeom>
          <a:solidFill>
            <a:srgbClr val="FFFFFF"/>
          </a:solidFill>
          <a:ln w="15875">
            <a:solidFill>
              <a:schemeClr val="tx2"/>
            </a:solidFill>
          </a:ln>
        </p:spPr>
        <p:txBody>
          <a:bodyPr wrap="square" lIns="73152" tIns="73152" rIns="73152" bIns="73152" rtlCol="0" anchor="t">
            <a:noAutofit/>
          </a:bodyPr>
          <a:lstStyle/>
          <a:p>
            <a:endParaRPr lang="fr-FR"/>
          </a:p>
        </p:txBody>
      </p:sp>
      <p:pic>
        <p:nvPicPr>
          <p:cNvPr id="12" name="Logo 12" descr="ic_server_d.png"/>
          <p:cNvPicPr>
            <a:picLocks noChangeAspect="1"/>
          </p:cNvPicPr>
          <p:nvPr/>
        </p:nvPicPr>
        <p:blipFill>
          <a:blip r:embed="rId2"/>
          <a:stretch>
            <a:fillRect/>
          </a:stretch>
        </p:blipFill>
        <p:spPr>
          <a:xfrm>
            <a:off x="1508760" y="4251960"/>
            <a:ext cx="274320" cy="274320"/>
          </a:xfrm>
          <a:prstGeom prst="rect">
            <a:avLst/>
          </a:prstGeom>
        </p:spPr>
      </p:pic>
      <p:sp>
        <p:nvSpPr>
          <p:cNvPr id="13" name="Texte 13"/>
          <p:cNvSpPr txBox="1"/>
          <p:nvPr/>
        </p:nvSpPr>
        <p:spPr>
          <a:xfrm>
            <a:off x="1874520" y="4215384"/>
            <a:ext cx="1828800" cy="347472"/>
          </a:xfrm>
          <a:prstGeom prst="rect">
            <a:avLst/>
          </a:prstGeom>
          <a:noFill/>
        </p:spPr>
        <p:txBody>
          <a:bodyPr wrap="square" lIns="0" tIns="0" rIns="0" bIns="0" rtlCol="0" anchor="ctr">
            <a:noAutofit/>
          </a:bodyPr>
          <a:lstStyle/>
          <a:p>
            <a:pPr marL="0" indent="0" algn="l">
              <a:spcBef>
                <a:spcPts val="0"/>
              </a:spcBef>
              <a:spcAft>
                <a:spcPts val="0"/>
              </a:spcAft>
              <a:buNone/>
            </a:pPr>
            <a:r>
              <a:rPr lang="fr-FR" sz="1400" b="1" dirty="0"/>
              <a:t>Worker 1</a:t>
            </a:r>
            <a:r>
              <a:rPr lang="fr-FR" sz="1100" dirty="0">
                <a:solidFill>
                  <a:schemeClr val="accent3"/>
                </a:solidFill>
              </a:rPr>
              <a:t>  (MON)</a:t>
            </a:r>
          </a:p>
        </p:txBody>
      </p:sp>
      <p:sp>
        <p:nvSpPr>
          <p:cNvPr id="14" name="Texte 14"/>
          <p:cNvSpPr txBox="1"/>
          <p:nvPr/>
        </p:nvSpPr>
        <p:spPr>
          <a:xfrm>
            <a:off x="1371600" y="5212080"/>
            <a:ext cx="3154680" cy="256032"/>
          </a:xfrm>
          <a:prstGeom prst="rect">
            <a:avLst/>
          </a:prstGeom>
          <a:noFill/>
        </p:spPr>
        <p:txBody>
          <a:bodyPr wrap="square" lIns="0" tIns="0" rIns="0" bIns="0" rtlCol="0" anchor="t">
            <a:noAutofit/>
          </a:bodyPr>
          <a:lstStyle/>
          <a:p>
            <a:pPr marL="0" indent="0" algn="ctr">
              <a:spcBef>
                <a:spcPts val="0"/>
              </a:spcBef>
              <a:spcAft>
                <a:spcPts val="0"/>
              </a:spcAft>
              <a:buNone/>
            </a:pPr>
            <a:r>
              <a:rPr lang="fr-FR" sz="1100" dirty="0">
                <a:solidFill>
                  <a:schemeClr val="accent3"/>
                </a:solidFill>
              </a:rPr>
              <a:t>3 disques (OSD)</a:t>
            </a:r>
          </a:p>
        </p:txBody>
      </p:sp>
      <p:pic>
        <p:nvPicPr>
          <p:cNvPr id="15" name="Logo 15" descr="ic_hdd.png"/>
          <p:cNvPicPr>
            <a:picLocks noChangeAspect="1"/>
          </p:cNvPicPr>
          <p:nvPr/>
        </p:nvPicPr>
        <p:blipFill>
          <a:blip r:embed="rId3"/>
          <a:stretch>
            <a:fillRect/>
          </a:stretch>
        </p:blipFill>
        <p:spPr>
          <a:xfrm>
            <a:off x="1905000" y="4754880"/>
            <a:ext cx="411480" cy="411480"/>
          </a:xfrm>
          <a:prstGeom prst="rect">
            <a:avLst/>
          </a:prstGeom>
        </p:spPr>
      </p:pic>
      <p:pic>
        <p:nvPicPr>
          <p:cNvPr id="16" name="Logo 16" descr="ic_hdd.png"/>
          <p:cNvPicPr>
            <a:picLocks noChangeAspect="1"/>
          </p:cNvPicPr>
          <p:nvPr/>
        </p:nvPicPr>
        <p:blipFill>
          <a:blip r:embed="rId3"/>
          <a:stretch>
            <a:fillRect/>
          </a:stretch>
        </p:blipFill>
        <p:spPr>
          <a:xfrm>
            <a:off x="2743200" y="4754880"/>
            <a:ext cx="411480" cy="411480"/>
          </a:xfrm>
          <a:prstGeom prst="rect">
            <a:avLst/>
          </a:prstGeom>
        </p:spPr>
      </p:pic>
      <p:pic>
        <p:nvPicPr>
          <p:cNvPr id="17" name="Logo 17" descr="ic_hdd.png"/>
          <p:cNvPicPr>
            <a:picLocks noChangeAspect="1"/>
          </p:cNvPicPr>
          <p:nvPr/>
        </p:nvPicPr>
        <p:blipFill>
          <a:blip r:embed="rId3"/>
          <a:stretch>
            <a:fillRect/>
          </a:stretch>
        </p:blipFill>
        <p:spPr>
          <a:xfrm>
            <a:off x="3581400" y="4754880"/>
            <a:ext cx="411480" cy="411480"/>
          </a:xfrm>
          <a:prstGeom prst="rect">
            <a:avLst/>
          </a:prstGeom>
        </p:spPr>
      </p:pic>
      <p:cxnSp>
        <p:nvCxnSpPr>
          <p:cNvPr id="18" name="Flèche 18"/>
          <p:cNvCxnSpPr/>
          <p:nvPr/>
        </p:nvCxnSpPr>
        <p:spPr>
          <a:xfrm flipV="1">
            <a:off x="6332220" y="3776472"/>
            <a:ext cx="0" cy="338328"/>
          </a:xfrm>
          <a:prstGeom prst="straightConnector1">
            <a:avLst/>
          </a:prstGeom>
          <a:ln w="22225">
            <a:solidFill>
              <a:schemeClr val="tx2"/>
            </a:solidFill>
            <a:tailEnd type="triangle" w="med" len="med"/>
          </a:ln>
        </p:spPr>
      </p:cxnSp>
      <p:sp>
        <p:nvSpPr>
          <p:cNvPr id="19" name="Serveur 19"/>
          <p:cNvSpPr/>
          <p:nvPr/>
        </p:nvSpPr>
        <p:spPr>
          <a:xfrm>
            <a:off x="4754880" y="4142232"/>
            <a:ext cx="3154680" cy="1417320"/>
          </a:xfrm>
          <a:prstGeom prst="roundRect">
            <a:avLst>
              <a:gd name="adj" fmla="val 8000"/>
            </a:avLst>
          </a:prstGeom>
          <a:solidFill>
            <a:srgbClr val="FFFFFF"/>
          </a:solidFill>
          <a:ln w="15875">
            <a:solidFill>
              <a:schemeClr val="tx2"/>
            </a:solidFill>
          </a:ln>
        </p:spPr>
        <p:txBody>
          <a:bodyPr wrap="square" lIns="73152" tIns="73152" rIns="73152" bIns="73152" rtlCol="0" anchor="t">
            <a:noAutofit/>
          </a:bodyPr>
          <a:lstStyle/>
          <a:p>
            <a:endParaRPr lang="fr-FR"/>
          </a:p>
        </p:txBody>
      </p:sp>
      <p:pic>
        <p:nvPicPr>
          <p:cNvPr id="20" name="Logo 20" descr="ic_server_d.png"/>
          <p:cNvPicPr>
            <a:picLocks noChangeAspect="1"/>
          </p:cNvPicPr>
          <p:nvPr/>
        </p:nvPicPr>
        <p:blipFill>
          <a:blip r:embed="rId2"/>
          <a:stretch>
            <a:fillRect/>
          </a:stretch>
        </p:blipFill>
        <p:spPr>
          <a:xfrm>
            <a:off x="4892040" y="4251960"/>
            <a:ext cx="274320" cy="274320"/>
          </a:xfrm>
          <a:prstGeom prst="rect">
            <a:avLst/>
          </a:prstGeom>
        </p:spPr>
      </p:pic>
      <p:sp>
        <p:nvSpPr>
          <p:cNvPr id="21" name="Texte 21"/>
          <p:cNvSpPr txBox="1"/>
          <p:nvPr/>
        </p:nvSpPr>
        <p:spPr>
          <a:xfrm>
            <a:off x="5257800" y="4215384"/>
            <a:ext cx="1828800" cy="347472"/>
          </a:xfrm>
          <a:prstGeom prst="rect">
            <a:avLst/>
          </a:prstGeom>
          <a:noFill/>
        </p:spPr>
        <p:txBody>
          <a:bodyPr wrap="square" lIns="0" tIns="0" rIns="0" bIns="0" rtlCol="0" anchor="ctr">
            <a:noAutofit/>
          </a:bodyPr>
          <a:lstStyle/>
          <a:p>
            <a:pPr marL="0" indent="0" algn="l">
              <a:spcBef>
                <a:spcPts val="0"/>
              </a:spcBef>
              <a:spcAft>
                <a:spcPts val="0"/>
              </a:spcAft>
              <a:buNone/>
            </a:pPr>
            <a:r>
              <a:rPr lang="fr-FR" sz="1400" b="1" dirty="0"/>
              <a:t>Worker 2</a:t>
            </a:r>
            <a:r>
              <a:rPr lang="fr-FR" sz="1100" dirty="0">
                <a:solidFill>
                  <a:schemeClr val="accent3"/>
                </a:solidFill>
              </a:rPr>
              <a:t>  (MON)</a:t>
            </a:r>
          </a:p>
        </p:txBody>
      </p:sp>
      <p:sp>
        <p:nvSpPr>
          <p:cNvPr id="22" name="Texte 22"/>
          <p:cNvSpPr txBox="1"/>
          <p:nvPr/>
        </p:nvSpPr>
        <p:spPr>
          <a:xfrm>
            <a:off x="4754880" y="5212080"/>
            <a:ext cx="3154680" cy="256032"/>
          </a:xfrm>
          <a:prstGeom prst="rect">
            <a:avLst/>
          </a:prstGeom>
          <a:noFill/>
        </p:spPr>
        <p:txBody>
          <a:bodyPr wrap="square" lIns="0" tIns="0" rIns="0" bIns="0" rtlCol="0" anchor="t">
            <a:noAutofit/>
          </a:bodyPr>
          <a:lstStyle/>
          <a:p>
            <a:pPr marL="0" indent="0" algn="ctr">
              <a:spcBef>
                <a:spcPts val="0"/>
              </a:spcBef>
              <a:spcAft>
                <a:spcPts val="0"/>
              </a:spcAft>
              <a:buNone/>
            </a:pPr>
            <a:r>
              <a:rPr lang="fr-FR" sz="1100" dirty="0">
                <a:solidFill>
                  <a:schemeClr val="accent3"/>
                </a:solidFill>
              </a:rPr>
              <a:t>3 disques (OSD)</a:t>
            </a:r>
          </a:p>
        </p:txBody>
      </p:sp>
      <p:pic>
        <p:nvPicPr>
          <p:cNvPr id="23" name="Logo 23" descr="ic_hdd.png"/>
          <p:cNvPicPr>
            <a:picLocks noChangeAspect="1"/>
          </p:cNvPicPr>
          <p:nvPr/>
        </p:nvPicPr>
        <p:blipFill>
          <a:blip r:embed="rId3"/>
          <a:stretch>
            <a:fillRect/>
          </a:stretch>
        </p:blipFill>
        <p:spPr>
          <a:xfrm>
            <a:off x="5288280" y="4754880"/>
            <a:ext cx="411480" cy="411480"/>
          </a:xfrm>
          <a:prstGeom prst="rect">
            <a:avLst/>
          </a:prstGeom>
        </p:spPr>
      </p:pic>
      <p:pic>
        <p:nvPicPr>
          <p:cNvPr id="24" name="Logo 24" descr="ic_hdd.png"/>
          <p:cNvPicPr>
            <a:picLocks noChangeAspect="1"/>
          </p:cNvPicPr>
          <p:nvPr/>
        </p:nvPicPr>
        <p:blipFill>
          <a:blip r:embed="rId3"/>
          <a:stretch>
            <a:fillRect/>
          </a:stretch>
        </p:blipFill>
        <p:spPr>
          <a:xfrm>
            <a:off x="6126480" y="4754880"/>
            <a:ext cx="411480" cy="411480"/>
          </a:xfrm>
          <a:prstGeom prst="rect">
            <a:avLst/>
          </a:prstGeom>
        </p:spPr>
      </p:pic>
      <p:pic>
        <p:nvPicPr>
          <p:cNvPr id="25" name="Logo 25" descr="ic_hdd.png"/>
          <p:cNvPicPr>
            <a:picLocks noChangeAspect="1"/>
          </p:cNvPicPr>
          <p:nvPr/>
        </p:nvPicPr>
        <p:blipFill>
          <a:blip r:embed="rId3"/>
          <a:stretch>
            <a:fillRect/>
          </a:stretch>
        </p:blipFill>
        <p:spPr>
          <a:xfrm>
            <a:off x="6964680" y="4754880"/>
            <a:ext cx="411480" cy="411480"/>
          </a:xfrm>
          <a:prstGeom prst="rect">
            <a:avLst/>
          </a:prstGeom>
        </p:spPr>
      </p:pic>
      <p:cxnSp>
        <p:nvCxnSpPr>
          <p:cNvPr id="26" name="Flèche 26"/>
          <p:cNvCxnSpPr/>
          <p:nvPr/>
        </p:nvCxnSpPr>
        <p:spPr>
          <a:xfrm flipV="1">
            <a:off x="9715500" y="3776472"/>
            <a:ext cx="0" cy="338328"/>
          </a:xfrm>
          <a:prstGeom prst="straightConnector1">
            <a:avLst/>
          </a:prstGeom>
          <a:ln w="22225">
            <a:solidFill>
              <a:schemeClr val="tx2"/>
            </a:solidFill>
            <a:tailEnd type="triangle" w="med" len="med"/>
          </a:ln>
        </p:spPr>
      </p:cxnSp>
      <p:sp>
        <p:nvSpPr>
          <p:cNvPr id="27" name="Serveur 27"/>
          <p:cNvSpPr/>
          <p:nvPr/>
        </p:nvSpPr>
        <p:spPr>
          <a:xfrm>
            <a:off x="8138160" y="4142232"/>
            <a:ext cx="3154680" cy="1417320"/>
          </a:xfrm>
          <a:prstGeom prst="roundRect">
            <a:avLst>
              <a:gd name="adj" fmla="val 8000"/>
            </a:avLst>
          </a:prstGeom>
          <a:solidFill>
            <a:srgbClr val="FFFFFF"/>
          </a:solidFill>
          <a:ln w="15875">
            <a:solidFill>
              <a:schemeClr val="tx2"/>
            </a:solidFill>
          </a:ln>
        </p:spPr>
        <p:txBody>
          <a:bodyPr wrap="square" lIns="73152" tIns="73152" rIns="73152" bIns="73152" rtlCol="0" anchor="t">
            <a:noAutofit/>
          </a:bodyPr>
          <a:lstStyle/>
          <a:p>
            <a:endParaRPr lang="fr-FR"/>
          </a:p>
        </p:txBody>
      </p:sp>
      <p:pic>
        <p:nvPicPr>
          <p:cNvPr id="28" name="Logo 28" descr="ic_server_d.png"/>
          <p:cNvPicPr>
            <a:picLocks noChangeAspect="1"/>
          </p:cNvPicPr>
          <p:nvPr/>
        </p:nvPicPr>
        <p:blipFill>
          <a:blip r:embed="rId2"/>
          <a:stretch>
            <a:fillRect/>
          </a:stretch>
        </p:blipFill>
        <p:spPr>
          <a:xfrm>
            <a:off x="8275320" y="4251960"/>
            <a:ext cx="274320" cy="274320"/>
          </a:xfrm>
          <a:prstGeom prst="rect">
            <a:avLst/>
          </a:prstGeom>
        </p:spPr>
      </p:pic>
      <p:sp>
        <p:nvSpPr>
          <p:cNvPr id="29" name="Texte 29"/>
          <p:cNvSpPr txBox="1"/>
          <p:nvPr/>
        </p:nvSpPr>
        <p:spPr>
          <a:xfrm>
            <a:off x="8641080" y="4215384"/>
            <a:ext cx="1828800" cy="347472"/>
          </a:xfrm>
          <a:prstGeom prst="rect">
            <a:avLst/>
          </a:prstGeom>
          <a:noFill/>
        </p:spPr>
        <p:txBody>
          <a:bodyPr wrap="square" lIns="0" tIns="0" rIns="0" bIns="0" rtlCol="0" anchor="ctr">
            <a:noAutofit/>
          </a:bodyPr>
          <a:lstStyle/>
          <a:p>
            <a:pPr marL="0" indent="0" algn="l">
              <a:spcBef>
                <a:spcPts val="0"/>
              </a:spcBef>
              <a:spcAft>
                <a:spcPts val="0"/>
              </a:spcAft>
              <a:buNone/>
            </a:pPr>
            <a:r>
              <a:rPr lang="fr-FR" sz="1400" b="1" dirty="0"/>
              <a:t>Worker 3</a:t>
            </a:r>
            <a:r>
              <a:rPr lang="fr-FR" sz="1100" dirty="0">
                <a:solidFill>
                  <a:schemeClr val="accent3"/>
                </a:solidFill>
              </a:rPr>
              <a:t>  (MON)</a:t>
            </a:r>
          </a:p>
        </p:txBody>
      </p:sp>
      <p:sp>
        <p:nvSpPr>
          <p:cNvPr id="30" name="Texte 30"/>
          <p:cNvSpPr txBox="1"/>
          <p:nvPr/>
        </p:nvSpPr>
        <p:spPr>
          <a:xfrm>
            <a:off x="8138160" y="5212080"/>
            <a:ext cx="3154680" cy="256032"/>
          </a:xfrm>
          <a:prstGeom prst="rect">
            <a:avLst/>
          </a:prstGeom>
          <a:noFill/>
        </p:spPr>
        <p:txBody>
          <a:bodyPr wrap="square" lIns="0" tIns="0" rIns="0" bIns="0" rtlCol="0" anchor="t">
            <a:noAutofit/>
          </a:bodyPr>
          <a:lstStyle/>
          <a:p>
            <a:pPr marL="0" indent="0" algn="ctr">
              <a:spcBef>
                <a:spcPts val="0"/>
              </a:spcBef>
              <a:spcAft>
                <a:spcPts val="0"/>
              </a:spcAft>
              <a:buNone/>
            </a:pPr>
            <a:r>
              <a:rPr lang="fr-FR" sz="1100" dirty="0">
                <a:solidFill>
                  <a:schemeClr val="accent3"/>
                </a:solidFill>
              </a:rPr>
              <a:t>3 disques (OSD)</a:t>
            </a:r>
          </a:p>
        </p:txBody>
      </p:sp>
      <p:pic>
        <p:nvPicPr>
          <p:cNvPr id="31" name="Logo 31" descr="ic_hdd.png"/>
          <p:cNvPicPr>
            <a:picLocks noChangeAspect="1"/>
          </p:cNvPicPr>
          <p:nvPr/>
        </p:nvPicPr>
        <p:blipFill>
          <a:blip r:embed="rId3"/>
          <a:stretch>
            <a:fillRect/>
          </a:stretch>
        </p:blipFill>
        <p:spPr>
          <a:xfrm>
            <a:off x="8671560" y="4754880"/>
            <a:ext cx="411480" cy="411480"/>
          </a:xfrm>
          <a:prstGeom prst="rect">
            <a:avLst/>
          </a:prstGeom>
        </p:spPr>
      </p:pic>
      <p:pic>
        <p:nvPicPr>
          <p:cNvPr id="32" name="Logo 32" descr="ic_hdd.png"/>
          <p:cNvPicPr>
            <a:picLocks noChangeAspect="1"/>
          </p:cNvPicPr>
          <p:nvPr/>
        </p:nvPicPr>
        <p:blipFill>
          <a:blip r:embed="rId3"/>
          <a:stretch>
            <a:fillRect/>
          </a:stretch>
        </p:blipFill>
        <p:spPr>
          <a:xfrm>
            <a:off x="9509760" y="4754880"/>
            <a:ext cx="411480" cy="411480"/>
          </a:xfrm>
          <a:prstGeom prst="rect">
            <a:avLst/>
          </a:prstGeom>
        </p:spPr>
      </p:pic>
      <p:pic>
        <p:nvPicPr>
          <p:cNvPr id="33" name="Logo 33" descr="ic_hdd.png"/>
          <p:cNvPicPr>
            <a:picLocks noChangeAspect="1"/>
          </p:cNvPicPr>
          <p:nvPr/>
        </p:nvPicPr>
        <p:blipFill>
          <a:blip r:embed="rId3"/>
          <a:stretch>
            <a:fillRect/>
          </a:stretch>
        </p:blipFill>
        <p:spPr>
          <a:xfrm>
            <a:off x="10347960" y="4754880"/>
            <a:ext cx="411480" cy="411480"/>
          </a:xfrm>
          <a:prstGeom prst="rect">
            <a:avLst/>
          </a:prstGeom>
        </p:spPr>
      </p:pic>
      <p:sp>
        <p:nvSpPr>
          <p:cNvPr id="34" name="Texte 34"/>
          <p:cNvSpPr txBox="1"/>
          <p:nvPr/>
        </p:nvSpPr>
        <p:spPr>
          <a:xfrm>
            <a:off x="1371600" y="5715000"/>
            <a:ext cx="9921240" cy="411480"/>
          </a:xfrm>
          <a:prstGeom prst="rect">
            <a:avLst/>
          </a:prstGeom>
          <a:noFill/>
        </p:spPr>
        <p:txBody>
          <a:bodyPr wrap="square" lIns="0" tIns="0" rIns="0" bIns="0" rtlCol="0" anchor="t">
            <a:noAutofit/>
          </a:bodyPr>
          <a:lstStyle/>
          <a:p>
            <a:pPr marL="0" indent="0" algn="l">
              <a:spcBef>
                <a:spcPts val="0"/>
              </a:spcBef>
              <a:spcAft>
                <a:spcPts val="0"/>
              </a:spcAft>
              <a:buNone/>
            </a:pPr>
            <a:r>
              <a:rPr lang="fr-FR" sz="1500" b="1" dirty="0"/>
              <a:t>Chaque donnée est copiée sur 3 workers différents : </a:t>
            </a:r>
            <a:r>
              <a:rPr lang="fr-FR" sz="1500" dirty="0"/>
              <a:t>un disque ou un worker tombe, rien n'est perdu.</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r>
              <a:rPr lang="fr-FR" dirty="0"/>
              <a:t>Rook-Ceph</a:t>
            </a:r>
          </a:p>
        </p:txBody>
      </p:sp>
      <p:sp>
        <p:nvSpPr>
          <p:cNvPr id="3" name="Rook 3"/>
          <p:cNvSpPr/>
          <p:nvPr/>
        </p:nvSpPr>
        <p:spPr>
          <a:xfrm>
            <a:off x="1371600" y="2057400"/>
            <a:ext cx="2148840" cy="1097280"/>
          </a:xfrm>
          <a:prstGeom prst="roundRect">
            <a:avLst>
              <a:gd name="adj" fmla="val 10000"/>
            </a:avLst>
          </a:prstGeom>
          <a:solidFill>
            <a:srgbClr val="FFFFFF"/>
          </a:solidFill>
          <a:ln w="15875">
            <a:solidFill>
              <a:schemeClr val="tx2"/>
            </a:solidFill>
          </a:ln>
        </p:spPr>
        <p:txBody>
          <a:bodyPr wrap="square" lIns="91440" tIns="91440" rIns="91440" bIns="91440" rtlCol="0" anchor="ctr">
            <a:noAutofit/>
          </a:bodyPr>
          <a:lstStyle/>
          <a:p>
            <a:pPr marL="0" indent="0" algn="ctr">
              <a:spcBef>
                <a:spcPts val="0"/>
              </a:spcBef>
              <a:spcAft>
                <a:spcPts val="400"/>
              </a:spcAft>
              <a:buNone/>
            </a:pPr>
            <a:r>
              <a:rPr lang="fr-FR" sz="1500" b="1" dirty="0"/>
              <a:t>CephCluster</a:t>
            </a:r>
          </a:p>
          <a:p>
            <a:pPr marL="0" indent="0" algn="ctr">
              <a:spcBef>
                <a:spcPts val="0"/>
              </a:spcBef>
              <a:spcAft>
                <a:spcPts val="0"/>
              </a:spcAft>
              <a:buNone/>
            </a:pPr>
            <a:r>
              <a:rPr lang="fr-FR" sz="1200" dirty="0"/>
              <a:t>un manifeste YAML (CRD)</a:t>
            </a:r>
          </a:p>
        </p:txBody>
      </p:sp>
      <p:cxnSp>
        <p:nvCxnSpPr>
          <p:cNvPr id="4" name="Flèche 4"/>
          <p:cNvCxnSpPr/>
          <p:nvPr/>
        </p:nvCxnSpPr>
        <p:spPr>
          <a:xfrm>
            <a:off x="3547872" y="2606040"/>
            <a:ext cx="283464" cy="0"/>
          </a:xfrm>
          <a:prstGeom prst="straightConnector1">
            <a:avLst/>
          </a:prstGeom>
          <a:ln w="25400">
            <a:solidFill>
              <a:schemeClr val="tx2"/>
            </a:solidFill>
            <a:tailEnd type="triangle" w="med" len="med"/>
          </a:ln>
        </p:spPr>
      </p:cxnSp>
      <p:sp>
        <p:nvSpPr>
          <p:cNvPr id="5" name="Rook 5"/>
          <p:cNvSpPr/>
          <p:nvPr/>
        </p:nvSpPr>
        <p:spPr>
          <a:xfrm>
            <a:off x="3858768" y="2057400"/>
            <a:ext cx="2148840" cy="1097280"/>
          </a:xfrm>
          <a:prstGeom prst="roundRect">
            <a:avLst>
              <a:gd name="adj" fmla="val 10000"/>
            </a:avLst>
          </a:prstGeom>
          <a:solidFill>
            <a:srgbClr val="FFFFFF"/>
          </a:solidFill>
          <a:ln w="15875">
            <a:solidFill>
              <a:schemeClr val="tx2"/>
            </a:solidFill>
          </a:ln>
        </p:spPr>
        <p:txBody>
          <a:bodyPr wrap="square" lIns="91440" tIns="91440" rIns="91440" bIns="91440" rtlCol="0" anchor="ctr">
            <a:noAutofit/>
          </a:bodyPr>
          <a:lstStyle/>
          <a:p>
            <a:pPr marL="0" indent="0" algn="ctr">
              <a:spcBef>
                <a:spcPts val="0"/>
              </a:spcBef>
              <a:spcAft>
                <a:spcPts val="400"/>
              </a:spcAft>
              <a:buNone/>
            </a:pPr>
            <a:r>
              <a:rPr lang="fr-FR" sz="1500" b="1" dirty="0"/>
              <a:t>Opérateur Rook</a:t>
            </a:r>
          </a:p>
          <a:p>
            <a:pPr marL="0" indent="0" algn="ctr">
              <a:spcBef>
                <a:spcPts val="0"/>
              </a:spcBef>
              <a:spcAft>
                <a:spcPts val="0"/>
              </a:spcAft>
              <a:buNone/>
            </a:pPr>
            <a:r>
              <a:rPr lang="fr-FR" sz="1200" dirty="0"/>
              <a:t>surveille et réconcilie</a:t>
            </a:r>
          </a:p>
        </p:txBody>
      </p:sp>
      <p:cxnSp>
        <p:nvCxnSpPr>
          <p:cNvPr id="6" name="Flèche 6"/>
          <p:cNvCxnSpPr/>
          <p:nvPr/>
        </p:nvCxnSpPr>
        <p:spPr>
          <a:xfrm>
            <a:off x="6035040" y="2606040"/>
            <a:ext cx="283464" cy="0"/>
          </a:xfrm>
          <a:prstGeom prst="straightConnector1">
            <a:avLst/>
          </a:prstGeom>
          <a:ln w="25400">
            <a:solidFill>
              <a:schemeClr val="tx2"/>
            </a:solidFill>
            <a:tailEnd type="triangle" w="med" len="med"/>
          </a:ln>
        </p:spPr>
      </p:cxnSp>
      <p:sp>
        <p:nvSpPr>
          <p:cNvPr id="7" name="Rook 7"/>
          <p:cNvSpPr/>
          <p:nvPr/>
        </p:nvSpPr>
        <p:spPr>
          <a:xfrm>
            <a:off x="6345936" y="2057400"/>
            <a:ext cx="2148840" cy="1097280"/>
          </a:xfrm>
          <a:prstGeom prst="roundRect">
            <a:avLst>
              <a:gd name="adj" fmla="val 10000"/>
            </a:avLst>
          </a:prstGeom>
          <a:solidFill>
            <a:srgbClr val="FFFFFF"/>
          </a:solidFill>
          <a:ln w="15875">
            <a:solidFill>
              <a:schemeClr val="tx2"/>
            </a:solidFill>
          </a:ln>
        </p:spPr>
        <p:txBody>
          <a:bodyPr wrap="square" lIns="91440" tIns="91440" rIns="91440" bIns="91440" rtlCol="0" anchor="ctr">
            <a:noAutofit/>
          </a:bodyPr>
          <a:lstStyle/>
          <a:p>
            <a:pPr marL="0" indent="0" algn="ctr">
              <a:spcBef>
                <a:spcPts val="0"/>
              </a:spcBef>
              <a:spcAft>
                <a:spcPts val="400"/>
              </a:spcAft>
              <a:buNone/>
            </a:pPr>
            <a:r>
              <a:rPr lang="fr-FR" sz="1500" b="1" dirty="0"/>
              <a:t>Pods Ceph</a:t>
            </a:r>
          </a:p>
          <a:p>
            <a:pPr marL="0" indent="0" algn="ctr">
              <a:spcBef>
                <a:spcPts val="0"/>
              </a:spcBef>
              <a:spcAft>
                <a:spcPts val="0"/>
              </a:spcAft>
              <a:buNone/>
            </a:pPr>
            <a:r>
              <a:rPr lang="fr-FR" sz="1200" dirty="0"/>
              <a:t>MON · MGR · OSD sur les disques des nœuds</a:t>
            </a:r>
          </a:p>
        </p:txBody>
      </p:sp>
      <p:cxnSp>
        <p:nvCxnSpPr>
          <p:cNvPr id="8" name="Flèche 8"/>
          <p:cNvCxnSpPr/>
          <p:nvPr/>
        </p:nvCxnSpPr>
        <p:spPr>
          <a:xfrm>
            <a:off x="8522208" y="2606040"/>
            <a:ext cx="283464" cy="0"/>
          </a:xfrm>
          <a:prstGeom prst="straightConnector1">
            <a:avLst/>
          </a:prstGeom>
          <a:ln w="25400">
            <a:solidFill>
              <a:schemeClr val="tx2"/>
            </a:solidFill>
            <a:tailEnd type="triangle" w="med" len="med"/>
          </a:ln>
        </p:spPr>
      </p:cxnSp>
      <p:sp>
        <p:nvSpPr>
          <p:cNvPr id="9" name="Rook 9"/>
          <p:cNvSpPr/>
          <p:nvPr/>
        </p:nvSpPr>
        <p:spPr>
          <a:xfrm>
            <a:off x="8833104" y="2057400"/>
            <a:ext cx="2148840" cy="1097280"/>
          </a:xfrm>
          <a:prstGeom prst="roundRect">
            <a:avLst>
              <a:gd name="adj" fmla="val 10000"/>
            </a:avLst>
          </a:prstGeom>
          <a:solidFill>
            <a:srgbClr val="FFFFFF"/>
          </a:solidFill>
          <a:ln w="15875">
            <a:solidFill>
              <a:schemeClr val="tx2"/>
            </a:solidFill>
          </a:ln>
        </p:spPr>
        <p:txBody>
          <a:bodyPr wrap="square" lIns="91440" tIns="91440" rIns="91440" bIns="91440" rtlCol="0" anchor="ctr">
            <a:noAutofit/>
          </a:bodyPr>
          <a:lstStyle/>
          <a:p>
            <a:pPr marL="0" indent="0" algn="ctr">
              <a:spcBef>
                <a:spcPts val="0"/>
              </a:spcBef>
              <a:spcAft>
                <a:spcPts val="400"/>
              </a:spcAft>
              <a:buNone/>
            </a:pPr>
            <a:r>
              <a:rPr lang="fr-FR" sz="1500" b="1" dirty="0"/>
              <a:t>StorageClass</a:t>
            </a:r>
          </a:p>
          <a:p>
            <a:pPr marL="0" indent="0" algn="ctr">
              <a:spcBef>
                <a:spcPts val="0"/>
              </a:spcBef>
              <a:spcAft>
                <a:spcPts val="0"/>
              </a:spcAft>
              <a:buNone/>
            </a:pPr>
            <a:r>
              <a:rPr lang="fr-FR" sz="1200" dirty="0"/>
              <a:t>« general » : volumes RBD via CSI</a:t>
            </a:r>
          </a:p>
        </p:txBody>
      </p:sp>
      <p:sp>
        <p:nvSpPr>
          <p:cNvPr id="10" name="Texte 10"/>
          <p:cNvSpPr txBox="1"/>
          <p:nvPr/>
        </p:nvSpPr>
        <p:spPr>
          <a:xfrm>
            <a:off x="1371600" y="3337560"/>
            <a:ext cx="9921240" cy="365760"/>
          </a:xfrm>
          <a:prstGeom prst="rect">
            <a:avLst/>
          </a:prstGeom>
          <a:noFill/>
        </p:spPr>
        <p:txBody>
          <a:bodyPr wrap="square" lIns="0" tIns="0" rIns="0" bIns="0" rtlCol="0" anchor="t">
            <a:noAutofit/>
          </a:bodyPr>
          <a:lstStyle/>
          <a:p>
            <a:pPr marL="0" indent="0" algn="l">
              <a:spcBef>
                <a:spcPts val="0"/>
              </a:spcBef>
              <a:spcAft>
                <a:spcPts val="0"/>
              </a:spcAft>
              <a:buNone/>
            </a:pPr>
            <a:r>
              <a:rPr lang="fr-FR" sz="1400" i="1" dirty="0"/>
              <a:t>Rook : Ceph piloté par Kubernetes, comme n'importe quelle appli. On décrit, l'opérateur fait.</a:t>
            </a:r>
          </a:p>
        </p:txBody>
      </p:sp>
      <p:sp>
        <p:nvSpPr>
          <p:cNvPr id="11" name="Texte 11"/>
          <p:cNvSpPr txBox="1"/>
          <p:nvPr/>
        </p:nvSpPr>
        <p:spPr>
          <a:xfrm>
            <a:off x="1371600" y="3977640"/>
            <a:ext cx="9921240" cy="365760"/>
          </a:xfrm>
          <a:prstGeom prst="rect">
            <a:avLst/>
          </a:prstGeom>
          <a:noFill/>
        </p:spPr>
        <p:txBody>
          <a:bodyPr wrap="square" lIns="0" tIns="0" rIns="0" bIns="0" rtlCol="0" anchor="t">
            <a:noAutofit/>
          </a:bodyPr>
          <a:lstStyle/>
          <a:p>
            <a:pPr marL="0" indent="0" algn="l">
              <a:spcBef>
                <a:spcPts val="0"/>
              </a:spcBef>
              <a:spcAft>
                <a:spcPts val="0"/>
              </a:spcAft>
              <a:buNone/>
            </a:pPr>
            <a:r>
              <a:rPr lang="fr-FR" sz="1700" b="1" dirty="0"/>
              <a:t>Côté OpenStack-Helm</a:t>
            </a:r>
          </a:p>
        </p:txBody>
      </p:sp>
      <p:sp>
        <p:nvSpPr>
          <p:cNvPr id="12" name="Texte 12"/>
          <p:cNvSpPr txBox="1"/>
          <p:nvPr/>
        </p:nvSpPr>
        <p:spPr>
          <a:xfrm>
            <a:off x="1371600" y="4434840"/>
            <a:ext cx="9921240" cy="1645920"/>
          </a:xfrm>
          <a:prstGeom prst="rect">
            <a:avLst/>
          </a:prstGeom>
          <a:noFill/>
        </p:spPr>
        <p:txBody>
          <a:bodyPr wrap="square" lIns="0" tIns="0" rIns="0" bIns="0" rtlCol="0" anchor="t">
            <a:noAutofit/>
          </a:bodyPr>
          <a:lstStyle/>
          <a:p>
            <a:pPr marL="228600" indent="-228600" algn="l">
              <a:spcBef>
                <a:spcPts val="0"/>
              </a:spcBef>
              <a:spcAft>
                <a:spcPts val="800"/>
              </a:spcAft>
              <a:buFont typeface="Arial"/>
              <a:buChar char="•"/>
            </a:pPr>
            <a:r>
              <a:rPr lang="fr-FR" sz="1400" b="1" dirty="0"/>
              <a:t>ceph-adapter-rook : </a:t>
            </a:r>
            <a:r>
              <a:rPr lang="fr-FR" sz="1400" dirty="0"/>
              <a:t>copie la config Ceph (ceph-etc) et la clé client dans le namespace openstack</a:t>
            </a:r>
          </a:p>
          <a:p>
            <a:pPr marL="228600" indent="-228600" algn="l">
              <a:spcBef>
                <a:spcPts val="0"/>
              </a:spcBef>
              <a:spcAft>
                <a:spcPts val="800"/>
              </a:spcAft>
              <a:buFont typeface="Arial"/>
              <a:buChar char="•"/>
            </a:pPr>
            <a:r>
              <a:rPr lang="fr-FR" sz="1400" b="1" dirty="0"/>
              <a:t>Les PVC : </a:t>
            </a:r>
            <a:r>
              <a:rPr lang="fr-FR" sz="1400" dirty="0"/>
              <a:t>MariaDB, RabbitMQ, Glance… sur la StorageClass « general »</a:t>
            </a:r>
          </a:p>
          <a:p>
            <a:pPr marL="228600" indent="-228600" algn="l">
              <a:spcBef>
                <a:spcPts val="0"/>
              </a:spcBef>
              <a:spcAft>
                <a:spcPts val="800"/>
              </a:spcAft>
              <a:buFont typeface="Arial"/>
              <a:buChar char="•"/>
            </a:pPr>
            <a:r>
              <a:rPr lang="fr-FR" sz="1400" b="1" dirty="0"/>
              <a:t>Cinder : </a:t>
            </a:r>
            <a:r>
              <a:rPr lang="fr-FR" sz="1400" dirty="0"/>
              <a:t>crée les disques des VMs directement en volumes RBD dans Ceph</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r>
              <a:rPr lang="fr-FR" dirty="0"/>
              <a:t>Anatomie d'un override</a:t>
            </a:r>
          </a:p>
        </p:txBody>
      </p:sp>
      <p:sp>
        <p:nvSpPr>
          <p:cNvPr id="3" name="Code 3"/>
          <p:cNvSpPr/>
          <p:nvPr/>
        </p:nvSpPr>
        <p:spPr>
          <a:xfrm>
            <a:off x="1371600" y="2057400"/>
            <a:ext cx="5120640" cy="2926080"/>
          </a:xfrm>
          <a:prstGeom prst="rect">
            <a:avLst/>
          </a:prstGeom>
          <a:solidFill>
            <a:schemeClr val="tx2"/>
          </a:solidFill>
          <a:ln>
            <a:noFill/>
          </a:ln>
        </p:spPr>
        <p:txBody>
          <a:bodyPr wrap="square" lIns="137160" tIns="137160" rIns="137160" bIns="137160" rtlCol="0" anchor="t">
            <a:noAutofit/>
          </a:bodyPr>
          <a:lstStyle/>
          <a:p>
            <a:pPr marL="0" indent="0" algn="l">
              <a:lnSpc>
                <a:spcPct val="100000"/>
              </a:lnSpc>
              <a:spcBef>
                <a:spcPts val="0"/>
              </a:spcBef>
              <a:spcAft>
                <a:spcPts val="0"/>
              </a:spcAft>
              <a:buNone/>
            </a:pPr>
            <a:r>
              <a:rPr lang="fr-FR" sz="1000" dirty="0">
                <a:solidFill>
                  <a:schemeClr val="bg2"/>
                </a:solidFill>
                <a:latin typeface="Courier New"/>
                <a:cs typeface="Courier New"/>
              </a:rPr>
              <a:t>images:</a:t>
            </a:r>
          </a:p>
          <a:p>
            <a:pPr marL="0" indent="0" algn="l">
              <a:lnSpc>
                <a:spcPct val="100000"/>
              </a:lnSpc>
              <a:spcBef>
                <a:spcPts val="0"/>
              </a:spcBef>
              <a:spcAft>
                <a:spcPts val="0"/>
              </a:spcAft>
              <a:buNone/>
            </a:pPr>
            <a:r>
              <a:rPr lang="fr-FR" sz="1000" dirty="0">
                <a:solidFill>
                  <a:schemeClr val="bg2"/>
                </a:solidFill>
                <a:latin typeface="Courier New"/>
                <a:cs typeface="Courier New"/>
              </a:rPr>
              <a:t>  tags:</a:t>
            </a:r>
          </a:p>
          <a:p>
            <a:pPr marL="0" indent="0" algn="l">
              <a:lnSpc>
                <a:spcPct val="100000"/>
              </a:lnSpc>
              <a:spcBef>
                <a:spcPts val="0"/>
              </a:spcBef>
              <a:spcAft>
                <a:spcPts val="0"/>
              </a:spcAft>
              <a:buNone/>
            </a:pPr>
            <a:r>
              <a:rPr lang="fr-FR" sz="1000" dirty="0">
                <a:solidFill>
                  <a:schemeClr val="bg2"/>
                </a:solidFill>
                <a:latin typeface="Courier New"/>
                <a:cs typeface="Courier New"/>
              </a:rPr>
              <a:t>    nova_api: quay.io/airshipit/nova:2026.1-ubuntu_noble</a:t>
            </a:r>
          </a:p>
          <a:p>
            <a:pPr marL="0" indent="0" algn="l">
              <a:lnSpc>
                <a:spcPct val="100000"/>
              </a:lnSpc>
              <a:spcBef>
                <a:spcPts val="0"/>
              </a:spcBef>
              <a:spcAft>
                <a:spcPts val="0"/>
              </a:spcAft>
              <a:buNone/>
            </a:pPr>
            <a:r>
              <a:rPr lang="fr-FR" sz="1000" dirty="0">
                <a:solidFill>
                  <a:schemeClr val="bg2"/>
                </a:solidFill>
                <a:latin typeface="Courier New"/>
                <a:cs typeface="Courier New"/>
              </a:rPr>
              <a:t>    nova_compute: quay.io/airshipit/nova:2026.1-ubuntu_noble</a:t>
            </a:r>
          </a:p>
          <a:p>
            <a:pPr marL="0" indent="0" algn="l">
              <a:lnSpc>
                <a:spcPct val="100000"/>
              </a:lnSpc>
              <a:spcBef>
                <a:spcPts val="0"/>
              </a:spcBef>
              <a:spcAft>
                <a:spcPts val="0"/>
              </a:spcAft>
              <a:buNone/>
            </a:pPr>
            <a:r>
              <a:rPr lang="fr-FR" sz="1000" dirty="0">
                <a:solidFill>
                  <a:schemeClr val="bg2"/>
                </a:solidFill>
                <a:latin typeface="Courier New"/>
                <a:cs typeface="Courier New"/>
              </a:rPr>
              <a:t> </a:t>
            </a:r>
          </a:p>
          <a:p>
            <a:pPr marL="0" indent="0" algn="l">
              <a:lnSpc>
                <a:spcPct val="100000"/>
              </a:lnSpc>
              <a:spcBef>
                <a:spcPts val="0"/>
              </a:spcBef>
              <a:spcAft>
                <a:spcPts val="0"/>
              </a:spcAft>
              <a:buNone/>
            </a:pPr>
            <a:r>
              <a:rPr lang="fr-FR" sz="1000" dirty="0">
                <a:solidFill>
                  <a:schemeClr val="bg2"/>
                </a:solidFill>
                <a:latin typeface="Courier New"/>
                <a:cs typeface="Courier New"/>
              </a:rPr>
              <a:t>endpoints:</a:t>
            </a:r>
          </a:p>
          <a:p>
            <a:pPr marL="0" indent="0" algn="l">
              <a:lnSpc>
                <a:spcPct val="100000"/>
              </a:lnSpc>
              <a:spcBef>
                <a:spcPts val="0"/>
              </a:spcBef>
              <a:spcAft>
                <a:spcPts val="0"/>
              </a:spcAft>
              <a:buNone/>
            </a:pPr>
            <a:r>
              <a:rPr lang="fr-FR" sz="1000" dirty="0">
                <a:solidFill>
                  <a:schemeClr val="bg2"/>
                </a:solidFill>
                <a:latin typeface="Courier New"/>
                <a:cs typeface="Courier New"/>
              </a:rPr>
              <a:t>  identity:</a:t>
            </a:r>
          </a:p>
          <a:p>
            <a:pPr marL="0" indent="0" algn="l">
              <a:lnSpc>
                <a:spcPct val="100000"/>
              </a:lnSpc>
              <a:spcBef>
                <a:spcPts val="0"/>
              </a:spcBef>
              <a:spcAft>
                <a:spcPts val="0"/>
              </a:spcAft>
              <a:buNone/>
            </a:pPr>
            <a:r>
              <a:rPr lang="fr-FR" sz="1000" dirty="0">
                <a:solidFill>
                  <a:schemeClr val="bg2"/>
                </a:solidFill>
                <a:latin typeface="Courier New"/>
                <a:cs typeface="Courier New"/>
              </a:rPr>
              <a:t>    host_fqdn_override:</a:t>
            </a:r>
          </a:p>
          <a:p>
            <a:pPr marL="0" indent="0" algn="l">
              <a:lnSpc>
                <a:spcPct val="100000"/>
              </a:lnSpc>
              <a:spcBef>
                <a:spcPts val="0"/>
              </a:spcBef>
              <a:spcAft>
                <a:spcPts val="0"/>
              </a:spcAft>
              <a:buNone/>
            </a:pPr>
            <a:r>
              <a:rPr lang="fr-FR" sz="1000" dirty="0">
                <a:solidFill>
                  <a:schemeClr val="bg2"/>
                </a:solidFill>
                <a:latin typeface="Courier New"/>
                <a:cs typeface="Courier New"/>
              </a:rPr>
              <a:t>      default: keystone.openstack.&lt;domaine&gt;</a:t>
            </a:r>
          </a:p>
          <a:p>
            <a:pPr marL="0" indent="0" algn="l">
              <a:lnSpc>
                <a:spcPct val="100000"/>
              </a:lnSpc>
              <a:spcBef>
                <a:spcPts val="0"/>
              </a:spcBef>
              <a:spcAft>
                <a:spcPts val="0"/>
              </a:spcAft>
              <a:buNone/>
            </a:pPr>
            <a:r>
              <a:rPr lang="fr-FR" sz="1000" dirty="0">
                <a:solidFill>
                  <a:schemeClr val="bg2"/>
                </a:solidFill>
                <a:latin typeface="Courier New"/>
                <a:cs typeface="Courier New"/>
              </a:rPr>
              <a:t>      internal: keystone-api.openstack.svc.cluster.local</a:t>
            </a:r>
          </a:p>
          <a:p>
            <a:pPr marL="0" indent="0" algn="l">
              <a:lnSpc>
                <a:spcPct val="100000"/>
              </a:lnSpc>
              <a:spcBef>
                <a:spcPts val="0"/>
              </a:spcBef>
              <a:spcAft>
                <a:spcPts val="0"/>
              </a:spcAft>
              <a:buNone/>
            </a:pPr>
            <a:r>
              <a:rPr lang="fr-FR" sz="1000" dirty="0">
                <a:solidFill>
                  <a:schemeClr val="bg2"/>
                </a:solidFill>
                <a:latin typeface="Courier New"/>
                <a:cs typeface="Courier New"/>
              </a:rPr>
              <a:t>    scheme:</a:t>
            </a:r>
          </a:p>
          <a:p>
            <a:pPr marL="0" indent="0" algn="l">
              <a:lnSpc>
                <a:spcPct val="100000"/>
              </a:lnSpc>
              <a:spcBef>
                <a:spcPts val="0"/>
              </a:spcBef>
              <a:spcAft>
                <a:spcPts val="0"/>
              </a:spcAft>
              <a:buNone/>
            </a:pPr>
            <a:r>
              <a:rPr lang="fr-FR" sz="1000" dirty="0">
                <a:solidFill>
                  <a:schemeClr val="bg2"/>
                </a:solidFill>
                <a:latin typeface="Courier New"/>
                <a:cs typeface="Courier New"/>
              </a:rPr>
              <a:t>      default: https</a:t>
            </a:r>
          </a:p>
          <a:p>
            <a:pPr marL="0" indent="0" algn="l">
              <a:lnSpc>
                <a:spcPct val="100000"/>
              </a:lnSpc>
              <a:spcBef>
                <a:spcPts val="0"/>
              </a:spcBef>
              <a:spcAft>
                <a:spcPts val="0"/>
              </a:spcAft>
              <a:buNone/>
            </a:pPr>
            <a:r>
              <a:rPr lang="fr-FR" sz="1000" dirty="0">
                <a:solidFill>
                  <a:schemeClr val="bg2"/>
                </a:solidFill>
                <a:latin typeface="Courier New"/>
                <a:cs typeface="Courier New"/>
              </a:rPr>
              <a:t>      internal: http</a:t>
            </a:r>
          </a:p>
          <a:p>
            <a:pPr marL="0" indent="0" algn="l">
              <a:lnSpc>
                <a:spcPct val="100000"/>
              </a:lnSpc>
              <a:spcBef>
                <a:spcPts val="0"/>
              </a:spcBef>
              <a:spcAft>
                <a:spcPts val="0"/>
              </a:spcAft>
              <a:buNone/>
            </a:pPr>
            <a:r>
              <a:rPr lang="fr-FR" sz="1000" dirty="0">
                <a:solidFill>
                  <a:schemeClr val="bg2"/>
                </a:solidFill>
                <a:latin typeface="Courier New"/>
                <a:cs typeface="Courier New"/>
              </a:rPr>
              <a:t>  image:      # glance … idem</a:t>
            </a:r>
          </a:p>
          <a:p>
            <a:pPr marL="0" indent="0" algn="l">
              <a:lnSpc>
                <a:spcPct val="100000"/>
              </a:lnSpc>
              <a:spcBef>
                <a:spcPts val="0"/>
              </a:spcBef>
              <a:spcAft>
                <a:spcPts val="0"/>
              </a:spcAft>
              <a:buNone/>
            </a:pPr>
            <a:r>
              <a:rPr lang="fr-FR" sz="1000" dirty="0">
                <a:solidFill>
                  <a:schemeClr val="bg2"/>
                </a:solidFill>
                <a:latin typeface="Courier New"/>
                <a:cs typeface="Courier New"/>
              </a:rPr>
              <a:t>  network:    # neutron … idem</a:t>
            </a:r>
          </a:p>
        </p:txBody>
      </p:sp>
      <p:sp>
        <p:nvSpPr>
          <p:cNvPr id="4" name="Numero 4"/>
          <p:cNvSpPr/>
          <p:nvPr/>
        </p:nvSpPr>
        <p:spPr>
          <a:xfrm>
            <a:off x="6766560" y="2057400"/>
            <a:ext cx="457200" cy="457200"/>
          </a:xfrm>
          <a:prstGeom prst="ellipse">
            <a:avLst/>
          </a:prstGeom>
          <a:solidFill>
            <a:schemeClr val="accent2"/>
          </a:solidFill>
          <a:ln>
            <a:noFill/>
          </a:ln>
        </p:spPr>
        <p:txBody>
          <a:bodyPr wrap="square" lIns="0" tIns="0" rIns="0" bIns="0" rtlCol="0" anchor="ctr">
            <a:noAutofit/>
          </a:bodyPr>
          <a:lstStyle/>
          <a:p>
            <a:pPr marL="0" indent="0" algn="ctr">
              <a:spcBef>
                <a:spcPts val="0"/>
              </a:spcBef>
              <a:spcAft>
                <a:spcPts val="0"/>
              </a:spcAft>
              <a:buNone/>
            </a:pPr>
            <a:r>
              <a:rPr lang="fr-FR" sz="1600" b="1" dirty="0">
                <a:solidFill>
                  <a:schemeClr val="tx2"/>
                </a:solidFill>
              </a:rPr>
              <a:t>1</a:t>
            </a:r>
          </a:p>
        </p:txBody>
      </p:sp>
      <p:sp>
        <p:nvSpPr>
          <p:cNvPr id="5" name="Texte 5"/>
          <p:cNvSpPr txBox="1"/>
          <p:nvPr/>
        </p:nvSpPr>
        <p:spPr>
          <a:xfrm>
            <a:off x="7406640" y="2103120"/>
            <a:ext cx="3886200" cy="1234440"/>
          </a:xfrm>
          <a:prstGeom prst="rect">
            <a:avLst/>
          </a:prstGeom>
          <a:noFill/>
        </p:spPr>
        <p:txBody>
          <a:bodyPr wrap="square" lIns="0" tIns="0" rIns="0" bIns="0" rtlCol="0" anchor="t">
            <a:noAutofit/>
          </a:bodyPr>
          <a:lstStyle/>
          <a:p>
            <a:pPr marL="0" indent="0" algn="l">
              <a:spcBef>
                <a:spcPts val="0"/>
              </a:spcBef>
              <a:spcAft>
                <a:spcPts val="400"/>
              </a:spcAft>
              <a:buNone/>
            </a:pPr>
            <a:r>
              <a:rPr lang="fr-FR" sz="1600" b="1" dirty="0"/>
              <a:t>Les images</a:t>
            </a:r>
          </a:p>
          <a:p>
            <a:pPr marL="0" indent="0" algn="l">
              <a:spcBef>
                <a:spcPts val="0"/>
              </a:spcBef>
              <a:spcAft>
                <a:spcPts val="0"/>
              </a:spcAft>
              <a:buNone/>
            </a:pPr>
            <a:r>
              <a:rPr lang="fr-FR" sz="1300" dirty="0"/>
              <a:t>La version d'OpenStack (2026.1) et l'OS de base (Ubuntu Noble), image par image.</a:t>
            </a:r>
          </a:p>
        </p:txBody>
      </p:sp>
      <p:sp>
        <p:nvSpPr>
          <p:cNvPr id="6" name="Numero 6"/>
          <p:cNvSpPr/>
          <p:nvPr/>
        </p:nvSpPr>
        <p:spPr>
          <a:xfrm>
            <a:off x="6766560" y="3429000"/>
            <a:ext cx="457200" cy="457200"/>
          </a:xfrm>
          <a:prstGeom prst="ellipse">
            <a:avLst/>
          </a:prstGeom>
          <a:solidFill>
            <a:schemeClr val="accent2"/>
          </a:solidFill>
          <a:ln>
            <a:noFill/>
          </a:ln>
        </p:spPr>
        <p:txBody>
          <a:bodyPr wrap="square" lIns="0" tIns="0" rIns="0" bIns="0" rtlCol="0" anchor="ctr">
            <a:noAutofit/>
          </a:bodyPr>
          <a:lstStyle/>
          <a:p>
            <a:pPr marL="0" indent="0" algn="ctr">
              <a:spcBef>
                <a:spcPts val="0"/>
              </a:spcBef>
              <a:spcAft>
                <a:spcPts val="0"/>
              </a:spcAft>
              <a:buNone/>
            </a:pPr>
            <a:r>
              <a:rPr lang="fr-FR" sz="1600" b="1" dirty="0">
                <a:solidFill>
                  <a:schemeClr val="tx2"/>
                </a:solidFill>
              </a:rPr>
              <a:t>2</a:t>
            </a:r>
          </a:p>
        </p:txBody>
      </p:sp>
      <p:sp>
        <p:nvSpPr>
          <p:cNvPr id="7" name="Texte 7"/>
          <p:cNvSpPr txBox="1"/>
          <p:nvPr/>
        </p:nvSpPr>
        <p:spPr>
          <a:xfrm>
            <a:off x="7406640" y="3474720"/>
            <a:ext cx="3886200" cy="1234440"/>
          </a:xfrm>
          <a:prstGeom prst="rect">
            <a:avLst/>
          </a:prstGeom>
          <a:noFill/>
        </p:spPr>
        <p:txBody>
          <a:bodyPr wrap="square" lIns="0" tIns="0" rIns="0" bIns="0" rtlCol="0" anchor="t">
            <a:noAutofit/>
          </a:bodyPr>
          <a:lstStyle/>
          <a:p>
            <a:pPr marL="0" indent="0" algn="l">
              <a:spcBef>
                <a:spcPts val="0"/>
              </a:spcBef>
              <a:spcAft>
                <a:spcPts val="400"/>
              </a:spcAft>
              <a:buNone/>
            </a:pPr>
            <a:r>
              <a:rPr lang="fr-FR" sz="1600" b="1" dirty="0"/>
              <a:t>Les endpoints</a:t>
            </a:r>
          </a:p>
          <a:p>
            <a:pPr marL="0" indent="0" algn="l">
              <a:spcBef>
                <a:spcPts val="0"/>
              </a:spcBef>
              <a:spcAft>
                <a:spcPts val="0"/>
              </a:spcAft>
              <a:buNone/>
            </a:pPr>
            <a:r>
              <a:rPr lang="fr-FR" sz="1300" dirty="0"/>
              <a:t>Pour chaque service : l'adresse publique (HTTPS, via l'Ingress) et l'adresse interne au cluster (HTTP).</a:t>
            </a:r>
          </a:p>
        </p:txBody>
      </p:sp>
      <p:sp>
        <p:nvSpPr>
          <p:cNvPr id="8" name="Numero 8"/>
          <p:cNvSpPr/>
          <p:nvPr/>
        </p:nvSpPr>
        <p:spPr>
          <a:xfrm>
            <a:off x="6766560" y="4800600"/>
            <a:ext cx="457200" cy="457200"/>
          </a:xfrm>
          <a:prstGeom prst="ellipse">
            <a:avLst/>
          </a:prstGeom>
          <a:solidFill>
            <a:schemeClr val="accent6"/>
          </a:solidFill>
          <a:ln>
            <a:noFill/>
          </a:ln>
        </p:spPr>
        <p:txBody>
          <a:bodyPr wrap="square" lIns="0" tIns="0" rIns="0" bIns="0" rtlCol="0" anchor="ctr">
            <a:noAutofit/>
          </a:bodyPr>
          <a:lstStyle/>
          <a:p>
            <a:pPr marL="0" indent="0" algn="ctr">
              <a:spcBef>
                <a:spcPts val="0"/>
              </a:spcBef>
              <a:spcAft>
                <a:spcPts val="0"/>
              </a:spcAft>
              <a:buNone/>
            </a:pPr>
            <a:r>
              <a:rPr lang="fr-FR" sz="1600" b="1" dirty="0">
                <a:solidFill>
                  <a:schemeClr val="tx2"/>
                </a:solidFill>
              </a:rPr>
              <a:t>3</a:t>
            </a:r>
          </a:p>
        </p:txBody>
      </p:sp>
      <p:sp>
        <p:nvSpPr>
          <p:cNvPr id="9" name="Texte 9"/>
          <p:cNvSpPr txBox="1"/>
          <p:nvPr/>
        </p:nvSpPr>
        <p:spPr>
          <a:xfrm>
            <a:off x="7406640" y="4846320"/>
            <a:ext cx="3886200" cy="1234440"/>
          </a:xfrm>
          <a:prstGeom prst="rect">
            <a:avLst/>
          </a:prstGeom>
          <a:noFill/>
        </p:spPr>
        <p:txBody>
          <a:bodyPr wrap="square" lIns="0" tIns="0" rIns="0" bIns="0" rtlCol="0" anchor="t">
            <a:noAutofit/>
          </a:bodyPr>
          <a:lstStyle/>
          <a:p>
            <a:pPr marL="0" indent="0" algn="l">
              <a:spcBef>
                <a:spcPts val="0"/>
              </a:spcBef>
              <a:spcAft>
                <a:spcPts val="400"/>
              </a:spcAft>
              <a:buNone/>
            </a:pPr>
            <a:r>
              <a:rPr lang="fr-FR" sz="1600" b="1" dirty="0"/>
              <a:t>Le piège</a:t>
            </a:r>
          </a:p>
          <a:p>
            <a:pPr marL="0" indent="0" algn="l">
              <a:spcBef>
                <a:spcPts val="0"/>
              </a:spcBef>
              <a:spcAft>
                <a:spcPts val="0"/>
              </a:spcAft>
              <a:buNone/>
            </a:pPr>
            <a:r>
              <a:rPr lang="fr-FR" sz="1300" dirty="0"/>
              <a:t>Ce bloc endpoints est recopié dans chaque chart : Keystone, Nova, Neutron… Il faut le garder cohérent partout.</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r>
              <a:rPr lang="fr-FR" dirty="0"/>
              <a:t>Le réseau : Neutron simple</a:t>
            </a:r>
          </a:p>
        </p:txBody>
      </p:sp>
      <p:sp>
        <p:nvSpPr>
          <p:cNvPr id="3" name="Texte 3"/>
          <p:cNvSpPr txBox="1"/>
          <p:nvPr/>
        </p:nvSpPr>
        <p:spPr>
          <a:xfrm>
            <a:off x="1371600" y="2057400"/>
            <a:ext cx="4206240" cy="2743200"/>
          </a:xfrm>
          <a:prstGeom prst="rect">
            <a:avLst/>
          </a:prstGeom>
          <a:noFill/>
        </p:spPr>
        <p:txBody>
          <a:bodyPr wrap="square" lIns="0" tIns="0" rIns="0" bIns="0" rtlCol="0" anchor="t">
            <a:noAutofit/>
          </a:bodyPr>
          <a:lstStyle/>
          <a:p>
            <a:pPr marL="228600" indent="-228600" algn="l">
              <a:spcBef>
                <a:spcPts val="0"/>
              </a:spcBef>
              <a:spcAft>
                <a:spcPts val="900"/>
              </a:spcAft>
              <a:buFont typeface="Arial"/>
              <a:buChar char="•"/>
            </a:pPr>
            <a:r>
              <a:rPr lang="fr-FR" sz="1500" b="1" dirty="0"/>
              <a:t>Un seul réseau « flat » provider : </a:t>
            </a:r>
            <a:r>
              <a:rPr lang="fr-FR" sz="1400" dirty="0">
                <a:latin typeface="Courier New"/>
                <a:cs typeface="Courier New"/>
              </a:rPr>
              <a:t>public</a:t>
            </a:r>
          </a:p>
          <a:p>
            <a:pPr marL="228600" indent="-228600" algn="l">
              <a:spcBef>
                <a:spcPts val="0"/>
              </a:spcBef>
              <a:spcAft>
                <a:spcPts val="900"/>
              </a:spcAft>
              <a:buFont typeface="Arial"/>
              <a:buChar char="•"/>
            </a:pPr>
            <a:r>
              <a:rPr lang="fr-FR" sz="1500" dirty="0"/>
              <a:t>Mappé sur le bridge OVS </a:t>
            </a:r>
            <a:r>
              <a:rPr lang="fr-FR" sz="1400" dirty="0">
                <a:latin typeface="Courier New"/>
                <a:cs typeface="Courier New"/>
              </a:rPr>
              <a:t>br-ex</a:t>
            </a:r>
          </a:p>
          <a:p>
            <a:pPr marL="228600" indent="-228600" algn="l">
              <a:spcBef>
                <a:spcPts val="0"/>
              </a:spcBef>
              <a:spcAft>
                <a:spcPts val="900"/>
              </a:spcAft>
              <a:buFont typeface="Arial"/>
              <a:buChar char="•"/>
            </a:pPr>
            <a:r>
              <a:rPr lang="fr-FR" sz="1500" dirty="0"/>
              <a:t>Pas de réseaux tenant (VXLAN), pas de L3 HA</a:t>
            </a:r>
          </a:p>
          <a:p>
            <a:pPr marL="228600" indent="-228600" algn="l">
              <a:spcBef>
                <a:spcPts val="0"/>
              </a:spcBef>
              <a:spcAft>
                <a:spcPts val="900"/>
              </a:spcAft>
              <a:buFont typeface="Arial"/>
              <a:buChar char="•"/>
            </a:pPr>
            <a:r>
              <a:rPr lang="fr-FR" sz="1500" dirty="0"/>
              <a:t>Les VMs prennent une IP directement sur le LAN du lab</a:t>
            </a:r>
          </a:p>
        </p:txBody>
      </p:sp>
      <p:sp>
        <p:nvSpPr>
          <p:cNvPr id="4" name="Etape reseau 4"/>
          <p:cNvSpPr/>
          <p:nvPr/>
        </p:nvSpPr>
        <p:spPr>
          <a:xfrm>
            <a:off x="5943600" y="2148840"/>
            <a:ext cx="2194560" cy="502920"/>
          </a:xfrm>
          <a:prstGeom prst="roundRect">
            <a:avLst>
              <a:gd name="adj" fmla="val 18000"/>
            </a:avLst>
          </a:prstGeom>
          <a:solidFill>
            <a:schemeClr val="accent5"/>
          </a:solidFill>
          <a:ln>
            <a:noFill/>
          </a:ln>
        </p:spPr>
        <p:txBody>
          <a:bodyPr wrap="square" lIns="73152" tIns="73152" rIns="73152" bIns="73152" rtlCol="0" anchor="ctr">
            <a:noAutofit/>
          </a:bodyPr>
          <a:lstStyle/>
          <a:p>
            <a:pPr marL="0" indent="0" algn="ctr">
              <a:spcBef>
                <a:spcPts val="0"/>
              </a:spcBef>
              <a:spcAft>
                <a:spcPts val="0"/>
              </a:spcAft>
              <a:buNone/>
            </a:pPr>
            <a:r>
              <a:rPr lang="fr-FR" sz="1400" b="1" dirty="0">
                <a:solidFill>
                  <a:schemeClr val="bg2"/>
                </a:solidFill>
              </a:rPr>
              <a:t>VM</a:t>
            </a:r>
          </a:p>
        </p:txBody>
      </p:sp>
      <p:cxnSp>
        <p:nvCxnSpPr>
          <p:cNvPr id="5" name="Flèche 5"/>
          <p:cNvCxnSpPr/>
          <p:nvPr/>
        </p:nvCxnSpPr>
        <p:spPr>
          <a:xfrm>
            <a:off x="7040880" y="2660904"/>
            <a:ext cx="0" cy="228600"/>
          </a:xfrm>
          <a:prstGeom prst="straightConnector1">
            <a:avLst/>
          </a:prstGeom>
          <a:ln w="22225">
            <a:solidFill>
              <a:schemeClr val="tx2"/>
            </a:solidFill>
            <a:tailEnd type="triangle" w="med" len="med"/>
          </a:ln>
        </p:spPr>
      </p:cxnSp>
      <p:sp>
        <p:nvSpPr>
          <p:cNvPr id="6" name="Etape reseau 6"/>
          <p:cNvSpPr/>
          <p:nvPr/>
        </p:nvSpPr>
        <p:spPr>
          <a:xfrm>
            <a:off x="5943600" y="2898648"/>
            <a:ext cx="2194560" cy="502920"/>
          </a:xfrm>
          <a:prstGeom prst="roundRect">
            <a:avLst>
              <a:gd name="adj" fmla="val 18000"/>
            </a:avLst>
          </a:prstGeom>
          <a:solidFill>
            <a:srgbClr val="FFFFFF"/>
          </a:solidFill>
          <a:ln w="12700">
            <a:solidFill>
              <a:schemeClr val="accent1"/>
            </a:solidFill>
          </a:ln>
        </p:spPr>
        <p:txBody>
          <a:bodyPr wrap="square" lIns="73152" tIns="73152" rIns="73152" bIns="73152" rtlCol="0" anchor="ctr">
            <a:noAutofit/>
          </a:bodyPr>
          <a:lstStyle/>
          <a:p>
            <a:pPr marL="0" indent="0" algn="ctr">
              <a:spcBef>
                <a:spcPts val="0"/>
              </a:spcBef>
              <a:spcAft>
                <a:spcPts val="0"/>
              </a:spcAft>
              <a:buNone/>
            </a:pPr>
            <a:r>
              <a:rPr lang="fr-FR" sz="1400" b="1" dirty="0">
                <a:solidFill>
                  <a:schemeClr val="tx2"/>
                </a:solidFill>
                <a:latin typeface="Courier New"/>
                <a:cs typeface="Courier New"/>
              </a:rPr>
              <a:t>br-int</a:t>
            </a:r>
          </a:p>
        </p:txBody>
      </p:sp>
      <p:cxnSp>
        <p:nvCxnSpPr>
          <p:cNvPr id="7" name="Flèche 7"/>
          <p:cNvCxnSpPr/>
          <p:nvPr/>
        </p:nvCxnSpPr>
        <p:spPr>
          <a:xfrm>
            <a:off x="7040880" y="3410712"/>
            <a:ext cx="0" cy="228600"/>
          </a:xfrm>
          <a:prstGeom prst="straightConnector1">
            <a:avLst/>
          </a:prstGeom>
          <a:ln w="22225">
            <a:solidFill>
              <a:schemeClr val="tx2"/>
            </a:solidFill>
            <a:tailEnd type="triangle" w="med" len="med"/>
          </a:ln>
        </p:spPr>
      </p:cxnSp>
      <p:sp>
        <p:nvSpPr>
          <p:cNvPr id="8" name="Etape reseau 8"/>
          <p:cNvSpPr/>
          <p:nvPr/>
        </p:nvSpPr>
        <p:spPr>
          <a:xfrm>
            <a:off x="5943600" y="3648456"/>
            <a:ext cx="2194560" cy="502920"/>
          </a:xfrm>
          <a:prstGeom prst="roundRect">
            <a:avLst>
              <a:gd name="adj" fmla="val 18000"/>
            </a:avLst>
          </a:prstGeom>
          <a:solidFill>
            <a:srgbClr val="FFFFFF"/>
          </a:solidFill>
          <a:ln w="12700">
            <a:solidFill>
              <a:schemeClr val="accent1"/>
            </a:solidFill>
          </a:ln>
        </p:spPr>
        <p:txBody>
          <a:bodyPr wrap="square" lIns="73152" tIns="73152" rIns="73152" bIns="73152" rtlCol="0" anchor="ctr">
            <a:noAutofit/>
          </a:bodyPr>
          <a:lstStyle/>
          <a:p>
            <a:pPr marL="0" indent="0" algn="ctr">
              <a:spcBef>
                <a:spcPts val="0"/>
              </a:spcBef>
              <a:spcAft>
                <a:spcPts val="0"/>
              </a:spcAft>
              <a:buNone/>
            </a:pPr>
            <a:r>
              <a:rPr lang="fr-FR" sz="1400" b="1" dirty="0">
                <a:solidFill>
                  <a:schemeClr val="tx2"/>
                </a:solidFill>
                <a:latin typeface="Courier New"/>
                <a:cs typeface="Courier New"/>
              </a:rPr>
              <a:t>br-ex</a:t>
            </a:r>
          </a:p>
        </p:txBody>
      </p:sp>
      <p:cxnSp>
        <p:nvCxnSpPr>
          <p:cNvPr id="9" name="Flèche 9"/>
          <p:cNvCxnSpPr/>
          <p:nvPr/>
        </p:nvCxnSpPr>
        <p:spPr>
          <a:xfrm>
            <a:off x="7040880" y="4160520"/>
            <a:ext cx="0" cy="228600"/>
          </a:xfrm>
          <a:prstGeom prst="straightConnector1">
            <a:avLst/>
          </a:prstGeom>
          <a:ln w="22225">
            <a:solidFill>
              <a:schemeClr val="tx2"/>
            </a:solidFill>
            <a:tailEnd type="triangle" w="med" len="med"/>
          </a:ln>
        </p:spPr>
      </p:cxnSp>
      <p:sp>
        <p:nvSpPr>
          <p:cNvPr id="10" name="Etape reseau 10"/>
          <p:cNvSpPr/>
          <p:nvPr/>
        </p:nvSpPr>
        <p:spPr>
          <a:xfrm>
            <a:off x="5943600" y="4398264"/>
            <a:ext cx="2194560" cy="502920"/>
          </a:xfrm>
          <a:prstGeom prst="roundRect">
            <a:avLst>
              <a:gd name="adj" fmla="val 18000"/>
            </a:avLst>
          </a:prstGeom>
          <a:solidFill>
            <a:srgbClr val="FFFFFF"/>
          </a:solidFill>
          <a:ln w="12700">
            <a:solidFill>
              <a:schemeClr val="accent1"/>
            </a:solidFill>
          </a:ln>
        </p:spPr>
        <p:txBody>
          <a:bodyPr wrap="square" lIns="73152" tIns="73152" rIns="73152" bIns="73152" rtlCol="0" anchor="ctr">
            <a:noAutofit/>
          </a:bodyPr>
          <a:lstStyle/>
          <a:p>
            <a:pPr marL="0" indent="0" algn="ctr">
              <a:spcBef>
                <a:spcPts val="0"/>
              </a:spcBef>
              <a:spcAft>
                <a:spcPts val="0"/>
              </a:spcAft>
              <a:buNone/>
            </a:pPr>
            <a:r>
              <a:rPr lang="fr-FR" sz="1400" b="1" dirty="0">
                <a:solidFill>
                  <a:schemeClr val="tx2"/>
                </a:solidFill>
                <a:latin typeface="Courier New"/>
                <a:cs typeface="Courier New"/>
              </a:rPr>
              <a:t>enp1s0</a:t>
            </a:r>
          </a:p>
        </p:txBody>
      </p:sp>
      <p:cxnSp>
        <p:nvCxnSpPr>
          <p:cNvPr id="11" name="Flèche 11"/>
          <p:cNvCxnSpPr/>
          <p:nvPr/>
        </p:nvCxnSpPr>
        <p:spPr>
          <a:xfrm>
            <a:off x="7040880" y="4910328"/>
            <a:ext cx="0" cy="228600"/>
          </a:xfrm>
          <a:prstGeom prst="straightConnector1">
            <a:avLst/>
          </a:prstGeom>
          <a:ln w="22225">
            <a:solidFill>
              <a:schemeClr val="tx2"/>
            </a:solidFill>
            <a:tailEnd type="triangle" w="med" len="med"/>
          </a:ln>
        </p:spPr>
      </p:cxnSp>
      <p:sp>
        <p:nvSpPr>
          <p:cNvPr id="12" name="Etape reseau 12"/>
          <p:cNvSpPr/>
          <p:nvPr/>
        </p:nvSpPr>
        <p:spPr>
          <a:xfrm>
            <a:off x="5943600" y="5148072"/>
            <a:ext cx="2194560" cy="502920"/>
          </a:xfrm>
          <a:prstGeom prst="roundRect">
            <a:avLst>
              <a:gd name="adj" fmla="val 18000"/>
            </a:avLst>
          </a:prstGeom>
          <a:solidFill>
            <a:schemeClr val="tx2"/>
          </a:solidFill>
          <a:ln>
            <a:noFill/>
          </a:ln>
        </p:spPr>
        <p:txBody>
          <a:bodyPr wrap="square" lIns="73152" tIns="73152" rIns="73152" bIns="73152" rtlCol="0" anchor="ctr">
            <a:noAutofit/>
          </a:bodyPr>
          <a:lstStyle/>
          <a:p>
            <a:pPr marL="0" indent="0" algn="ctr">
              <a:spcBef>
                <a:spcPts val="0"/>
              </a:spcBef>
              <a:spcAft>
                <a:spcPts val="0"/>
              </a:spcAft>
              <a:buNone/>
            </a:pPr>
            <a:r>
              <a:rPr lang="fr-FR" sz="1400" b="1" dirty="0">
                <a:solidFill>
                  <a:schemeClr val="bg2"/>
                </a:solidFill>
              </a:rPr>
              <a:t>LAN du lab</a:t>
            </a:r>
          </a:p>
        </p:txBody>
      </p:sp>
      <p:sp>
        <p:nvSpPr>
          <p:cNvPr id="13" name="Texte 13"/>
          <p:cNvSpPr txBox="1"/>
          <p:nvPr/>
        </p:nvSpPr>
        <p:spPr>
          <a:xfrm>
            <a:off x="8321040" y="2258568"/>
            <a:ext cx="2926080" cy="320040"/>
          </a:xfrm>
          <a:prstGeom prst="rect">
            <a:avLst/>
          </a:prstGeom>
          <a:noFill/>
        </p:spPr>
        <p:txBody>
          <a:bodyPr wrap="square" lIns="0" tIns="0" rIns="0" bIns="0" rtlCol="0" anchor="t">
            <a:noAutofit/>
          </a:bodyPr>
          <a:lstStyle/>
          <a:p>
            <a:pPr marL="0" indent="0" algn="l">
              <a:spcBef>
                <a:spcPts val="0"/>
              </a:spcBef>
              <a:spcAft>
                <a:spcPts val="0"/>
              </a:spcAft>
              <a:buNone/>
            </a:pPr>
            <a:r>
              <a:rPr lang="fr-FR" sz="1200" i="1" dirty="0"/>
              <a:t>machine virtuelle (KVM)</a:t>
            </a:r>
          </a:p>
        </p:txBody>
      </p:sp>
      <p:sp>
        <p:nvSpPr>
          <p:cNvPr id="14" name="Texte 14"/>
          <p:cNvSpPr txBox="1"/>
          <p:nvPr/>
        </p:nvSpPr>
        <p:spPr>
          <a:xfrm>
            <a:off x="8321040" y="3008376"/>
            <a:ext cx="2926080" cy="320040"/>
          </a:xfrm>
          <a:prstGeom prst="rect">
            <a:avLst/>
          </a:prstGeom>
          <a:noFill/>
        </p:spPr>
        <p:txBody>
          <a:bodyPr wrap="square" lIns="0" tIns="0" rIns="0" bIns="0" rtlCol="0" anchor="t">
            <a:noAutofit/>
          </a:bodyPr>
          <a:lstStyle/>
          <a:p>
            <a:pPr marL="0" indent="0" algn="l">
              <a:spcBef>
                <a:spcPts val="0"/>
              </a:spcBef>
              <a:spcAft>
                <a:spcPts val="0"/>
              </a:spcAft>
              <a:buNone/>
            </a:pPr>
            <a:r>
              <a:rPr lang="fr-FR" sz="1200" i="1" dirty="0"/>
              <a:t>bridge d'intégration OVS</a:t>
            </a:r>
          </a:p>
        </p:txBody>
      </p:sp>
      <p:sp>
        <p:nvSpPr>
          <p:cNvPr id="15" name="Texte 15"/>
          <p:cNvSpPr txBox="1"/>
          <p:nvPr/>
        </p:nvSpPr>
        <p:spPr>
          <a:xfrm>
            <a:off x="8321040" y="3758184"/>
            <a:ext cx="2926080" cy="320040"/>
          </a:xfrm>
          <a:prstGeom prst="rect">
            <a:avLst/>
          </a:prstGeom>
          <a:noFill/>
        </p:spPr>
        <p:txBody>
          <a:bodyPr wrap="square" lIns="0" tIns="0" rIns="0" bIns="0" rtlCol="0" anchor="t">
            <a:noAutofit/>
          </a:bodyPr>
          <a:lstStyle/>
          <a:p>
            <a:pPr marL="0" indent="0" algn="l">
              <a:spcBef>
                <a:spcPts val="0"/>
              </a:spcBef>
              <a:spcAft>
                <a:spcPts val="0"/>
              </a:spcAft>
              <a:buNone/>
            </a:pPr>
            <a:r>
              <a:rPr lang="fr-FR" sz="1200" i="1" dirty="0"/>
              <a:t>bridge externe (auto_bridge_add)</a:t>
            </a:r>
          </a:p>
        </p:txBody>
      </p:sp>
      <p:sp>
        <p:nvSpPr>
          <p:cNvPr id="16" name="Texte 16"/>
          <p:cNvSpPr txBox="1"/>
          <p:nvPr/>
        </p:nvSpPr>
        <p:spPr>
          <a:xfrm>
            <a:off x="8321040" y="4507992"/>
            <a:ext cx="2926080" cy="320040"/>
          </a:xfrm>
          <a:prstGeom prst="rect">
            <a:avLst/>
          </a:prstGeom>
          <a:noFill/>
        </p:spPr>
        <p:txBody>
          <a:bodyPr wrap="square" lIns="0" tIns="0" rIns="0" bIns="0" rtlCol="0" anchor="t">
            <a:noAutofit/>
          </a:bodyPr>
          <a:lstStyle/>
          <a:p>
            <a:pPr marL="0" indent="0" algn="l">
              <a:spcBef>
                <a:spcPts val="0"/>
              </a:spcBef>
              <a:spcAft>
                <a:spcPts val="0"/>
              </a:spcAft>
              <a:buNone/>
            </a:pPr>
            <a:r>
              <a:rPr lang="fr-FR" sz="1200" i="1" dirty="0"/>
              <a:t>carte réseau physique du nœud</a:t>
            </a:r>
          </a:p>
        </p:txBody>
      </p:sp>
      <p:sp>
        <p:nvSpPr>
          <p:cNvPr id="17" name="Texte 17"/>
          <p:cNvSpPr txBox="1"/>
          <p:nvPr/>
        </p:nvSpPr>
        <p:spPr>
          <a:xfrm>
            <a:off x="8321040" y="5257800"/>
            <a:ext cx="2926080" cy="320040"/>
          </a:xfrm>
          <a:prstGeom prst="rect">
            <a:avLst/>
          </a:prstGeom>
          <a:noFill/>
        </p:spPr>
        <p:txBody>
          <a:bodyPr wrap="square" lIns="0" tIns="0" rIns="0" bIns="0" rtlCol="0" anchor="t">
            <a:noAutofit/>
          </a:bodyPr>
          <a:lstStyle/>
          <a:p>
            <a:pPr marL="0" indent="0" algn="l">
              <a:spcBef>
                <a:spcPts val="0"/>
              </a:spcBef>
              <a:spcAft>
                <a:spcPts val="0"/>
              </a:spcAft>
              <a:buNone/>
            </a:pPr>
            <a:r>
              <a:rPr lang="fr-FR" sz="1200" i="1" dirty="0"/>
              <a:t>box / switch</a:t>
            </a:r>
          </a:p>
        </p:txBody>
      </p:sp>
      <p:sp>
        <p:nvSpPr>
          <p:cNvPr id="18" name="Attention 18"/>
          <p:cNvSpPr/>
          <p:nvPr/>
        </p:nvSpPr>
        <p:spPr>
          <a:xfrm>
            <a:off x="1371600" y="4937760"/>
            <a:ext cx="4206240" cy="1188720"/>
          </a:xfrm>
          <a:prstGeom prst="rect">
            <a:avLst/>
          </a:prstGeom>
          <a:solidFill>
            <a:schemeClr val="accent6"/>
          </a:solidFill>
          <a:ln>
            <a:noFill/>
          </a:ln>
        </p:spPr>
        <p:txBody>
          <a:bodyPr wrap="square" lIns="137160" tIns="137160" rIns="137160" bIns="137160" rtlCol="0" anchor="t">
            <a:noAutofit/>
          </a:bodyPr>
          <a:lstStyle/>
          <a:p>
            <a:pPr marL="0" indent="0" algn="l">
              <a:spcBef>
                <a:spcPts val="0"/>
              </a:spcBef>
              <a:spcAft>
                <a:spcPts val="400"/>
              </a:spcAft>
              <a:buNone/>
            </a:pPr>
            <a:r>
              <a:rPr lang="fr-FR" sz="1500" b="1" dirty="0">
                <a:solidFill>
                  <a:schemeClr val="tx2"/>
                </a:solidFill>
              </a:rPr>
              <a:t>⚠ Attention</a:t>
            </a:r>
          </a:p>
          <a:p>
            <a:pPr marL="0" indent="0" algn="l">
              <a:spcBef>
                <a:spcPts val="0"/>
              </a:spcBef>
              <a:spcAft>
                <a:spcPts val="0"/>
              </a:spcAft>
              <a:buNone/>
            </a:pPr>
            <a:r>
              <a:rPr lang="fr-FR" sz="1300" dirty="0"/>
              <a:t>auto_bridge_add déplace l'IP de enp1s0 vers br-ex : gardez un accès console au nœud avant de déployer Neutron.</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r>
              <a:rPr lang="fr-FR" dirty="0"/>
              <a:t>Bilan</a:t>
            </a:r>
          </a:p>
        </p:txBody>
      </p:sp>
      <p:sp>
        <p:nvSpPr>
          <p:cNvPr id="3" name="Texte 3"/>
          <p:cNvSpPr txBox="1"/>
          <p:nvPr/>
        </p:nvSpPr>
        <p:spPr>
          <a:xfrm>
            <a:off x="1371600" y="2011680"/>
            <a:ext cx="4686300" cy="365760"/>
          </a:xfrm>
          <a:prstGeom prst="rect">
            <a:avLst/>
          </a:prstGeom>
          <a:noFill/>
        </p:spPr>
        <p:txBody>
          <a:bodyPr wrap="square" lIns="0" tIns="0" rIns="0" bIns="0" rtlCol="0" anchor="t">
            <a:noAutofit/>
          </a:bodyPr>
          <a:lstStyle/>
          <a:p>
            <a:pPr marL="0" indent="0" algn="l">
              <a:spcBef>
                <a:spcPts val="0"/>
              </a:spcBef>
              <a:spcAft>
                <a:spcPts val="0"/>
              </a:spcAft>
              <a:buNone/>
            </a:pPr>
            <a:r>
              <a:rPr lang="fr-FR" sz="1700" b="1" dirty="0"/>
              <a:t>Ce qui marche bien</a:t>
            </a:r>
          </a:p>
        </p:txBody>
      </p:sp>
      <p:sp>
        <p:nvSpPr>
          <p:cNvPr id="4" name="Texte 4"/>
          <p:cNvSpPr txBox="1"/>
          <p:nvPr/>
        </p:nvSpPr>
        <p:spPr>
          <a:xfrm>
            <a:off x="1371600" y="2468880"/>
            <a:ext cx="4686300" cy="2743200"/>
          </a:xfrm>
          <a:prstGeom prst="rect">
            <a:avLst/>
          </a:prstGeom>
          <a:noFill/>
        </p:spPr>
        <p:txBody>
          <a:bodyPr wrap="square" lIns="0" tIns="0" rIns="0" bIns="0" rtlCol="0" anchor="t">
            <a:noAutofit/>
          </a:bodyPr>
          <a:lstStyle/>
          <a:p>
            <a:pPr marL="228600" indent="-228600" algn="l">
              <a:spcBef>
                <a:spcPts val="0"/>
              </a:spcBef>
              <a:spcAft>
                <a:spcPts val="1000"/>
              </a:spcAft>
              <a:buFont typeface="Arial"/>
              <a:buChar char="•"/>
            </a:pPr>
            <a:r>
              <a:rPr lang="fr-FR" sz="1500" dirty="0"/>
              <a:t>Déploiement reproductible et versionné</a:t>
            </a:r>
          </a:p>
          <a:p>
            <a:pPr marL="228600" indent="-228600" algn="l">
              <a:spcBef>
                <a:spcPts val="0"/>
              </a:spcBef>
              <a:spcAft>
                <a:spcPts val="1000"/>
              </a:spcAft>
              <a:buFont typeface="Arial"/>
              <a:buChar char="•"/>
            </a:pPr>
            <a:r>
              <a:rPr lang="fr-FR" sz="1500" dirty="0"/>
              <a:t>Un service = un chart : on avance brique par brique</a:t>
            </a:r>
          </a:p>
          <a:p>
            <a:pPr marL="228600" indent="-228600" algn="l">
              <a:spcBef>
                <a:spcPts val="0"/>
              </a:spcBef>
              <a:spcAft>
                <a:spcPts val="1000"/>
              </a:spcAft>
              <a:buFont typeface="Arial"/>
              <a:buChar char="•"/>
            </a:pPr>
            <a:r>
              <a:rPr lang="fr-FR" sz="1500" dirty="0"/>
              <a:t>Kubernetes gère redémarrages et placement</a:t>
            </a:r>
          </a:p>
          <a:p>
            <a:pPr marL="228600" indent="-228600" algn="l">
              <a:spcBef>
                <a:spcPts val="0"/>
              </a:spcBef>
              <a:spcAft>
                <a:spcPts val="1000"/>
              </a:spcAft>
              <a:buFont typeface="Arial"/>
              <a:buChar char="•"/>
            </a:pPr>
            <a:r>
              <a:rPr lang="fr-FR" sz="1500" dirty="0"/>
              <a:t>Idéal pour un lab qu'on casse et qu'on refait</a:t>
            </a:r>
          </a:p>
        </p:txBody>
      </p:sp>
      <p:sp>
        <p:nvSpPr>
          <p:cNvPr id="5" name="Texte 5"/>
          <p:cNvSpPr txBox="1"/>
          <p:nvPr/>
        </p:nvSpPr>
        <p:spPr>
          <a:xfrm>
            <a:off x="6606540" y="2011680"/>
            <a:ext cx="4686300" cy="365760"/>
          </a:xfrm>
          <a:prstGeom prst="rect">
            <a:avLst/>
          </a:prstGeom>
          <a:noFill/>
        </p:spPr>
        <p:txBody>
          <a:bodyPr wrap="square" lIns="0" tIns="0" rIns="0" bIns="0" rtlCol="0" anchor="t">
            <a:noAutofit/>
          </a:bodyPr>
          <a:lstStyle/>
          <a:p>
            <a:pPr marL="0" indent="0" algn="l">
              <a:spcBef>
                <a:spcPts val="0"/>
              </a:spcBef>
              <a:spcAft>
                <a:spcPts val="0"/>
              </a:spcAft>
              <a:buNone/>
            </a:pPr>
            <a:r>
              <a:rPr lang="fr-FR" sz="1700" b="1" dirty="0"/>
              <a:t>Ce qui pique</a:t>
            </a:r>
          </a:p>
        </p:txBody>
      </p:sp>
      <p:sp>
        <p:nvSpPr>
          <p:cNvPr id="6" name="Texte 6"/>
          <p:cNvSpPr txBox="1"/>
          <p:nvPr/>
        </p:nvSpPr>
        <p:spPr>
          <a:xfrm>
            <a:off x="6606540" y="2468880"/>
            <a:ext cx="4686300" cy="2743200"/>
          </a:xfrm>
          <a:prstGeom prst="rect">
            <a:avLst/>
          </a:prstGeom>
          <a:noFill/>
        </p:spPr>
        <p:txBody>
          <a:bodyPr wrap="square" lIns="0" tIns="0" rIns="0" bIns="0" rtlCol="0" anchor="t">
            <a:noAutofit/>
          </a:bodyPr>
          <a:lstStyle/>
          <a:p>
            <a:pPr marL="228600" indent="-228600" algn="l">
              <a:spcBef>
                <a:spcPts val="0"/>
              </a:spcBef>
              <a:spcAft>
                <a:spcPts val="1000"/>
              </a:spcAft>
              <a:buFont typeface="Arial"/>
              <a:buChar char="•"/>
            </a:pPr>
            <a:r>
              <a:rPr lang="fr-FR" sz="1500" dirty="0"/>
              <a:t>Deux technos à maîtriser : OpenStack et Kubernetes</a:t>
            </a:r>
          </a:p>
          <a:p>
            <a:pPr marL="228600" indent="-228600" algn="l">
              <a:spcBef>
                <a:spcPts val="0"/>
              </a:spcBef>
              <a:spcAft>
                <a:spcPts val="1000"/>
              </a:spcAft>
              <a:buFont typeface="Arial"/>
              <a:buChar char="•"/>
            </a:pPr>
            <a:r>
              <a:rPr lang="fr-FR" sz="1500" dirty="0"/>
              <a:t>Des overrides verbeux, des endpoints à répéter</a:t>
            </a:r>
          </a:p>
          <a:p>
            <a:pPr marL="228600" indent="-228600" algn="l">
              <a:spcBef>
                <a:spcPts val="0"/>
              </a:spcBef>
              <a:spcAft>
                <a:spcPts val="1000"/>
              </a:spcAft>
              <a:buFont typeface="Arial"/>
              <a:buChar char="•"/>
            </a:pPr>
            <a:r>
              <a:rPr lang="fr-FR" sz="1500" dirty="0"/>
              <a:t>Une documentation dispersée</a:t>
            </a:r>
          </a:p>
          <a:p>
            <a:pPr marL="228600" indent="-228600" algn="l">
              <a:spcBef>
                <a:spcPts val="0"/>
              </a:spcBef>
              <a:spcAft>
                <a:spcPts val="1000"/>
              </a:spcAft>
              <a:buFont typeface="Arial"/>
              <a:buChar char="•"/>
            </a:pPr>
            <a:r>
              <a:rPr lang="fr-FR" sz="1500" dirty="0"/>
              <a:t>Le réseau (OVS, br-ex) reste le point délicat</a:t>
            </a:r>
          </a:p>
        </p:txBody>
      </p:sp>
      <p:sp>
        <p:nvSpPr>
          <p:cNvPr id="7" name="Texte 7"/>
          <p:cNvSpPr txBox="1"/>
          <p:nvPr/>
        </p:nvSpPr>
        <p:spPr>
          <a:xfrm>
            <a:off x="1371600" y="5349240"/>
            <a:ext cx="9921240" cy="365760"/>
          </a:xfrm>
          <a:prstGeom prst="rect">
            <a:avLst/>
          </a:prstGeom>
          <a:noFill/>
        </p:spPr>
        <p:txBody>
          <a:bodyPr wrap="square" lIns="0" tIns="0" rIns="0" bIns="0" rtlCol="0" anchor="t">
            <a:noAutofit/>
          </a:bodyPr>
          <a:lstStyle/>
          <a:p>
            <a:pPr marL="0" indent="0" algn="l">
              <a:spcBef>
                <a:spcPts val="0"/>
              </a:spcBef>
              <a:spcAft>
                <a:spcPts val="0"/>
              </a:spcAft>
              <a:buNone/>
            </a:pPr>
            <a:r>
              <a:rPr lang="fr-FR" sz="1200" b="1" dirty="0">
                <a:solidFill>
                  <a:srgbClr val="E28394"/>
                </a:solidFill>
              </a:rPr>
              <a:t>À compléter : </a:t>
            </a:r>
            <a:r>
              <a:rPr lang="fr-FR" sz="1200" i="1" dirty="0"/>
              <a:t>« Je le recommande si… / je l'éviterais si… » : ta conclusion en une phrase</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r>
              <a:rPr lang="fr-FR" dirty="0"/>
              <a:t>Pour aller plus loin</a:t>
            </a:r>
          </a:p>
        </p:txBody>
      </p:sp>
      <p:sp>
        <p:nvSpPr>
          <p:cNvPr id="3" name="Texte 3"/>
          <p:cNvSpPr txBox="1"/>
          <p:nvPr/>
        </p:nvSpPr>
        <p:spPr>
          <a:xfrm>
            <a:off x="1371600" y="2011680"/>
            <a:ext cx="9921240" cy="3200400"/>
          </a:xfrm>
          <a:prstGeom prst="rect">
            <a:avLst/>
          </a:prstGeom>
          <a:noFill/>
        </p:spPr>
        <p:txBody>
          <a:bodyPr wrap="square" lIns="0" tIns="0" rIns="0" bIns="0" rtlCol="0" anchor="t">
            <a:noAutofit/>
          </a:bodyPr>
          <a:lstStyle/>
          <a:p>
            <a:pPr marL="228600" indent="-228600" algn="l">
              <a:spcBef>
                <a:spcPts val="0"/>
              </a:spcBef>
              <a:spcAft>
                <a:spcPts val="1400"/>
              </a:spcAft>
              <a:buFont typeface="Arial"/>
              <a:buChar char="•"/>
            </a:pPr>
            <a:r>
              <a:rPr lang="fr-FR" sz="1600" b="1" dirty="0"/>
              <a:t>Documentation : </a:t>
            </a:r>
            <a:r>
              <a:rPr lang="fr-FR" sz="1500" dirty="0">
                <a:latin typeface="Courier New"/>
                <a:cs typeface="Courier New"/>
              </a:rPr>
              <a:t>docs.openstack.org/openstack-helm</a:t>
            </a:r>
          </a:p>
          <a:p>
            <a:pPr marL="228600" indent="-228600" algn="l">
              <a:spcBef>
                <a:spcPts val="0"/>
              </a:spcBef>
              <a:spcAft>
                <a:spcPts val="1400"/>
              </a:spcAft>
              <a:buFont typeface="Arial"/>
              <a:buChar char="•"/>
            </a:pPr>
            <a:r>
              <a:rPr lang="fr-FR" sz="1600" b="1" dirty="0"/>
              <a:t>Code source : </a:t>
            </a:r>
            <a:r>
              <a:rPr lang="fr-FR" sz="1500" dirty="0">
                <a:latin typeface="Courier New"/>
                <a:cs typeface="Courier New"/>
              </a:rPr>
              <a:t>opendev.org/openstack/openstack-helm</a:t>
            </a:r>
          </a:p>
          <a:p>
            <a:pPr marL="228600" indent="-228600" algn="l">
              <a:spcBef>
                <a:spcPts val="0"/>
              </a:spcBef>
              <a:spcAft>
                <a:spcPts val="1400"/>
              </a:spcAft>
              <a:buFont typeface="Arial"/>
              <a:buChar char="•"/>
            </a:pPr>
            <a:r>
              <a:rPr lang="fr-FR" sz="1600" b="1" dirty="0"/>
              <a:t>Images : </a:t>
            </a:r>
            <a:r>
              <a:rPr lang="fr-FR" sz="1500" dirty="0">
                <a:latin typeface="Courier New"/>
                <a:cs typeface="Courier New"/>
              </a:rPr>
              <a:t>quay.io/organization/airshipit</a:t>
            </a:r>
          </a:p>
          <a:p>
            <a:pPr marL="228600" indent="-228600" algn="l">
              <a:spcBef>
                <a:spcPts val="0"/>
              </a:spcBef>
              <a:spcAft>
                <a:spcPts val="1400"/>
              </a:spcAft>
              <a:buFont typeface="Arial"/>
              <a:buChar char="•"/>
            </a:pPr>
            <a:r>
              <a:rPr lang="fr-FR" sz="1600" b="1" dirty="0"/>
              <a:t>Mes overrides : </a:t>
            </a:r>
            <a:r>
              <a:rPr lang="fr-FR" sz="1400" i="1" dirty="0">
                <a:solidFill>
                  <a:srgbClr val="E28394"/>
                </a:solidFill>
              </a:rPr>
              <a:t>À compléter : lien vers ton dépôt Git (et un QR code)</a:t>
            </a:r>
          </a:p>
          <a:p>
            <a:pPr marL="228600" indent="-228600" algn="l">
              <a:spcBef>
                <a:spcPts val="0"/>
              </a:spcBef>
              <a:spcAft>
                <a:spcPts val="0"/>
              </a:spcAft>
              <a:buFont typeface="Arial"/>
              <a:buChar char="•"/>
            </a:pPr>
            <a:r>
              <a:rPr lang="fr-FR" sz="1600" b="1" dirty="0"/>
              <a:t>Ces slides : </a:t>
            </a:r>
            <a:r>
              <a:rPr lang="fr-FR" sz="1400" i="1" dirty="0">
                <a:solidFill>
                  <a:srgbClr val="E28394"/>
                </a:solidFill>
              </a:rPr>
              <a:t>À compléter : lien de partage</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re 5">
            <a:extLst>
              <a:ext uri="{FF2B5EF4-FFF2-40B4-BE49-F238E27FC236}">
                <a16:creationId xmlns:a16="http://schemas.microsoft.com/office/drawing/2014/main" id="{147F5558-25D4-5738-1071-7EA602E20CFA}"/>
              </a:ext>
            </a:extLst>
          </p:cNvPr>
          <p:cNvSpPr>
            <a:spLocks noGrp="1"/>
          </p:cNvSpPr>
          <p:nvPr>
            <p:ph type="title"/>
          </p:nvPr>
        </p:nvSpPr>
        <p:spPr/>
        <p:txBody>
          <a:bodyPr>
            <a:normAutofit/>
          </a:bodyPr>
          <a:lstStyle/>
          <a:p>
            <a:r>
              <a:rPr lang="fr-FR" dirty="0"/>
              <a:t>La </a:t>
            </a:r>
            <a:r>
              <a:rPr lang="fr-FR" dirty="0" err="1"/>
              <a:t>demo</a:t>
            </a:r>
            <a:endParaRPr lang="fr-FR" dirty="0"/>
          </a:p>
        </p:txBody>
      </p:sp>
      <p:sp>
        <p:nvSpPr>
          <p:cNvPr id="7" name="Espace réservé du texte 6">
            <a:extLst>
              <a:ext uri="{FF2B5EF4-FFF2-40B4-BE49-F238E27FC236}">
                <a16:creationId xmlns:a16="http://schemas.microsoft.com/office/drawing/2014/main" id="{79D95668-B1A5-7ABE-D4B4-E6ECFA460679}"/>
              </a:ext>
            </a:extLst>
          </p:cNvPr>
          <p:cNvSpPr>
            <a:spLocks noGrp="1"/>
          </p:cNvSpPr>
          <p:nvPr>
            <p:ph type="body" idx="1"/>
          </p:nvPr>
        </p:nvSpPr>
        <p:spPr/>
        <p:txBody>
          <a:bodyPr/>
          <a:lstStyle/>
          <a:p>
            <a:r>
              <a:rPr lang="fr-FR" dirty="0"/>
              <a:t>Comment gérer tout ça depuis </a:t>
            </a:r>
            <a:r>
              <a:rPr lang="fr-FR" dirty="0" err="1"/>
              <a:t>ArgoCD</a:t>
            </a:r>
            <a:r>
              <a:rPr lang="fr-FR" dirty="0"/>
              <a:t> ?</a:t>
            </a:r>
          </a:p>
        </p:txBody>
      </p:sp>
    </p:spTree>
    <p:extLst>
      <p:ext uri="{BB962C8B-B14F-4D97-AF65-F5344CB8AC3E}">
        <p14:creationId xmlns:p14="http://schemas.microsoft.com/office/powerpoint/2010/main" val="74426099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re 5">
            <a:extLst>
              <a:ext uri="{FF2B5EF4-FFF2-40B4-BE49-F238E27FC236}">
                <a16:creationId xmlns:a16="http://schemas.microsoft.com/office/drawing/2014/main" id="{147F5558-25D4-5738-1071-7EA602E20CFA}"/>
              </a:ext>
            </a:extLst>
          </p:cNvPr>
          <p:cNvSpPr>
            <a:spLocks noGrp="1"/>
          </p:cNvSpPr>
          <p:nvPr>
            <p:ph type="title"/>
          </p:nvPr>
        </p:nvSpPr>
        <p:spPr/>
        <p:txBody>
          <a:bodyPr>
            <a:normAutofit/>
          </a:bodyPr>
          <a:lstStyle/>
          <a:p>
            <a:r>
              <a:rPr lang="fr-FR" dirty="0"/>
              <a:t>Merci ! Des questions ?</a:t>
            </a:r>
          </a:p>
        </p:txBody>
      </p:sp>
      <p:sp>
        <p:nvSpPr>
          <p:cNvPr id="7" name="Espace réservé du texte 6">
            <a:extLst>
              <a:ext uri="{FF2B5EF4-FFF2-40B4-BE49-F238E27FC236}">
                <a16:creationId xmlns:a16="http://schemas.microsoft.com/office/drawing/2014/main" id="{79D95668-B1A5-7ABE-D4B4-E6ECFA460679}"/>
              </a:ext>
            </a:extLst>
          </p:cNvPr>
          <p:cNvSpPr>
            <a:spLocks noGrp="1"/>
          </p:cNvSpPr>
          <p:nvPr>
            <p:ph type="body" idx="1"/>
          </p:nvPr>
        </p:nvSpPr>
        <p:spPr/>
        <p:txBody>
          <a:bodyPr/>
          <a:lstStyle/>
          <a:p>
            <a:r>
              <a:rPr lang="fr-FR" dirty="0"/>
              <a:t>Benjamin Belaud</a:t>
            </a:r>
          </a:p>
        </p:txBody>
      </p:sp>
    </p:spTree>
    <p:extLst>
      <p:ext uri="{BB962C8B-B14F-4D97-AF65-F5344CB8AC3E}">
        <p14:creationId xmlns:p14="http://schemas.microsoft.com/office/powerpoint/2010/main" val="744260997"/>
      </p:ext>
    </p:extLst>
  </p:cSld>
  <p:clrMapOvr>
    <a:masterClrMapping/>
  </p:clrMapOvr>
</p:sld>
</file>

<file path=ppt/theme/theme1.xml><?xml version="1.0" encoding="utf-8"?>
<a:theme xmlns:a="http://schemas.openxmlformats.org/drawingml/2006/main" name="Cadrage">
  <a:themeElements>
    <a:clrScheme name="Cadrage">
      <a:dk1>
        <a:sysClr val="windowText" lastClr="000000"/>
      </a:dk1>
      <a:lt1>
        <a:sysClr val="window" lastClr="FFFFFF"/>
      </a:lt1>
      <a:dk2>
        <a:srgbClr val="191B0E"/>
      </a:dk2>
      <a:lt2>
        <a:srgbClr val="EFEDE3"/>
      </a:lt2>
      <a:accent1>
        <a:srgbClr val="8C8D86"/>
      </a:accent1>
      <a:accent2>
        <a:srgbClr val="E6C069"/>
      </a:accent2>
      <a:accent3>
        <a:srgbClr val="897B61"/>
      </a:accent3>
      <a:accent4>
        <a:srgbClr val="8DAB8E"/>
      </a:accent4>
      <a:accent5>
        <a:srgbClr val="77A2BB"/>
      </a:accent5>
      <a:accent6>
        <a:srgbClr val="E28394"/>
      </a:accent6>
      <a:hlink>
        <a:srgbClr val="77A2BB"/>
      </a:hlink>
      <a:folHlink>
        <a:srgbClr val="957A99"/>
      </a:folHlink>
    </a:clrScheme>
    <a:fontScheme name="Cadrage">
      <a:majorFont>
        <a:latin typeface="Franklin Gothic Book" panose="020B0503020102020204"/>
        <a:ea typeface=""/>
        <a:cs typeface=""/>
        <a:font script="Jpan" typeface="メイリオ"/>
        <a:font script="Hang" typeface="돋움"/>
        <a:font script="Hans" typeface="华文楷体"/>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Franklin Gothic Book" panose="020B0503020102020204"/>
        <a:ea typeface=""/>
        <a:cs typeface=""/>
        <a:font script="Jpan" typeface="メイリオ"/>
        <a:font script="Hang" typeface="돋움"/>
        <a:font script="Hans" typeface="华文楷体"/>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Cadrage">
      <a:fillStyleLst>
        <a:solidFill>
          <a:schemeClr val="phClr"/>
        </a:solidFill>
        <a:gradFill rotWithShape="1">
          <a:gsLst>
            <a:gs pos="0">
              <a:schemeClr val="phClr">
                <a:tint val="67000"/>
                <a:satMod val="105000"/>
                <a:lumMod val="110000"/>
              </a:schemeClr>
            </a:gs>
            <a:gs pos="50000">
              <a:schemeClr val="phClr">
                <a:tint val="73000"/>
                <a:satMod val="103000"/>
                <a:lumMod val="105000"/>
              </a:schemeClr>
            </a:gs>
            <a:gs pos="100000">
              <a:schemeClr val="phClr">
                <a:tint val="81000"/>
                <a:satMod val="109000"/>
                <a:lumMod val="105000"/>
              </a:schemeClr>
            </a:gs>
          </a:gsLst>
          <a:lin ang="5400000" scaled="0"/>
        </a:gradFill>
        <a:gradFill rotWithShape="1">
          <a:gsLst>
            <a:gs pos="0">
              <a:schemeClr val="phClr">
                <a:tint val="94000"/>
                <a:satMod val="103000"/>
                <a:lumMod val="102000"/>
              </a:schemeClr>
            </a:gs>
            <a:gs pos="50000">
              <a:schemeClr val="phClr">
                <a:shade val="100000"/>
                <a:satMod val="110000"/>
                <a:lumMod val="100000"/>
              </a:schemeClr>
            </a:gs>
            <a:gs pos="100000">
              <a:schemeClr val="phClr">
                <a:shade val="78000"/>
                <a:satMod val="120000"/>
                <a:lumMod val="99000"/>
              </a:schemeClr>
            </a:gs>
          </a:gsLst>
          <a:lin ang="5400000" scaled="0"/>
        </a:gradFill>
      </a:fillStyleLst>
      <a:lnStyleLst>
        <a:ln w="6350" cap="flat" cmpd="sng" algn="in">
          <a:solidFill>
            <a:schemeClr val="phClr"/>
          </a:solidFill>
          <a:prstDash val="solid"/>
        </a:ln>
        <a:ln w="34925" cap="flat" cmpd="sng" algn="in">
          <a:solidFill>
            <a:schemeClr val="phClr"/>
          </a:solidFill>
          <a:prstDash val="solid"/>
        </a:ln>
        <a:ln w="19050" cap="flat" cmpd="sng" algn="in">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35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Crop" id="{EC9488ED-E761-4D60-9AC4-764D1FE2C171}" vid="{CE19780C-D67D-4C13-9DE9-A52BC3BA51B4}"/>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TM10001105[[fn=Cadrage]]</Template>
  <TotalTime>120</TotalTime>
  <Words>3265</Words>
  <Application>Microsoft Office PowerPoint</Application>
  <PresentationFormat>Grand écran</PresentationFormat>
  <Paragraphs>419</Paragraphs>
  <Slides>32</Slides>
  <Notes>2</Notes>
  <HiddenSlides>0</HiddenSlides>
  <MMClips>0</MMClips>
  <ScaleCrop>false</ScaleCrop>
  <HeadingPairs>
    <vt:vector size="6" baseType="variant">
      <vt:variant>
        <vt:lpstr>Polices utilisées</vt:lpstr>
      </vt:variant>
      <vt:variant>
        <vt:i4>4</vt:i4>
      </vt:variant>
      <vt:variant>
        <vt:lpstr>Thème</vt:lpstr>
      </vt:variant>
      <vt:variant>
        <vt:i4>1</vt:i4>
      </vt:variant>
      <vt:variant>
        <vt:lpstr>Titres des diapositives</vt:lpstr>
      </vt:variant>
      <vt:variant>
        <vt:i4>32</vt:i4>
      </vt:variant>
    </vt:vector>
  </HeadingPairs>
  <TitlesOfParts>
    <vt:vector size="37" baseType="lpstr">
      <vt:lpstr>Aptos</vt:lpstr>
      <vt:lpstr>Arial</vt:lpstr>
      <vt:lpstr>Courier New</vt:lpstr>
      <vt:lpstr>Franklin Gothic Book</vt:lpstr>
      <vt:lpstr>Cadrage</vt:lpstr>
      <vt:lpstr>OpenStack-Helm déployez votre plateforme de cloud privé sur Kubernetes</vt:lpstr>
      <vt:lpstr>Qui je suis, pourquoi je vous parle de tout ça</vt:lpstr>
      <vt:lpstr>Pourquoi s’infliger un cluster OpenStack ? </vt:lpstr>
      <vt:lpstr>L’origine du mal</vt:lpstr>
      <vt:lpstr>La galère de l’installation</vt:lpstr>
      <vt:lpstr>Et donc pourquoi OpenStack ?</vt:lpstr>
      <vt:lpstr>OpenStack, c'est quoi ?</vt:lpstr>
      <vt:lpstr>Pourquoi l'adopter ?</vt:lpstr>
      <vt:lpstr>Pourquoi ne pas l'adopter ?</vt:lpstr>
      <vt:lpstr>Quelques acteurs qui utilisent ses outils</vt:lpstr>
      <vt:lpstr>Les briques d'un cloud IaaS</vt:lpstr>
      <vt:lpstr>Les services dans Openstack</vt:lpstr>
      <vt:lpstr>Installer OpenStack : les options</vt:lpstr>
      <vt:lpstr>Kubernetes, Helm, ArgoCD</vt:lpstr>
      <vt:lpstr>Des serveurs aux conteneurs</vt:lpstr>
      <vt:lpstr>Un cluster Kubernetes</vt:lpstr>
      <vt:lpstr>Un cloud OpenStack</vt:lpstr>
      <vt:lpstr>Helm : du templating</vt:lpstr>
      <vt:lpstr>Un chart Helm, concrètement</vt:lpstr>
      <vt:lpstr>ArgoCD : Git aux commandes</vt:lpstr>
      <vt:lpstr>OpenStack-Helm</vt:lpstr>
      <vt:lpstr>OpenStack-Helm en bref</vt:lpstr>
      <vt:lpstr>Architecture en couches</vt:lpstr>
      <vt:lpstr>OpenStack posé sur Kubernetes</vt:lpstr>
      <vt:lpstr>Le stockage d'OpenStack : Ceph</vt:lpstr>
      <vt:lpstr>Rook-Ceph</vt:lpstr>
      <vt:lpstr>Anatomie d'un override</vt:lpstr>
      <vt:lpstr>Le réseau : Neutron simple</vt:lpstr>
      <vt:lpstr>Bilan</vt:lpstr>
      <vt:lpstr>Pour aller plus loin</vt:lpstr>
      <vt:lpstr>La demo</vt:lpstr>
      <vt:lpstr>Merci ! Des questions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BELAUD Benjamin</dc:creator>
  <cp:lastModifiedBy>BELAUD Benjamin</cp:lastModifiedBy>
  <cp:revision>8</cp:revision>
  <dcterms:created xsi:type="dcterms:W3CDTF">2026-10-04T12:48:54Z</dcterms:created>
  <dcterms:modified xsi:type="dcterms:W3CDTF">2026-10-24T10:28:44Z</dcterms:modified>
</cp:coreProperties>
</file>